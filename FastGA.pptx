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68" r:id="rId3"/>
    <p:sldId id="257" r:id="rId4"/>
    <p:sldId id="261" r:id="rId5"/>
    <p:sldId id="267" r:id="rId6"/>
    <p:sldId id="264" r:id="rId7"/>
    <p:sldId id="263" r:id="rId8"/>
    <p:sldId id="265" r:id="rId9"/>
    <p:sldId id="266" r:id="rId10"/>
    <p:sldId id="262" r:id="rId11"/>
    <p:sldId id="259" r:id="rId12"/>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065"/>
    <p:restoredTop sz="80065"/>
  </p:normalViewPr>
  <p:slideViewPr>
    <p:cSldViewPr snapToGrid="0" showGuides="1">
      <p:cViewPr>
        <p:scale>
          <a:sx n="110" d="100"/>
          <a:sy n="110" d="100"/>
        </p:scale>
        <p:origin x="2904" y="158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TW" altLang="en-US"/>
          </a:p>
        </p:txBody>
      </p:sp>
      <p:sp>
        <p:nvSpPr>
          <p:cNvPr id="3" name="日期版面配置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8E0030-6949-EF40-9940-F368196AFDBB}" type="datetimeFigureOut">
              <a:rPr kumimoji="1" lang="zh-TW" altLang="en-US" smtClean="0"/>
              <a:t>2026/6/6</a:t>
            </a:fld>
            <a:endParaRPr kumimoji="1" lang="zh-TW" altLang="en-US"/>
          </a:p>
        </p:txBody>
      </p:sp>
      <p:sp>
        <p:nvSpPr>
          <p:cNvPr id="4" name="投影片影像版面配置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備忘稿版面配置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6" name="頁尾版面配置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TW" altLang="en-US"/>
          </a:p>
        </p:txBody>
      </p:sp>
      <p:sp>
        <p:nvSpPr>
          <p:cNvPr id="7" name="投影片編號版面配置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62C0EE-C242-5746-9FAB-0DCCE6A9DD1F}" type="slidenum">
              <a:rPr kumimoji="1" lang="zh-TW" altLang="en-US" smtClean="0"/>
              <a:t>‹#›</a:t>
            </a:fld>
            <a:endParaRPr kumimoji="1" lang="zh-TW" altLang="en-US"/>
          </a:p>
        </p:txBody>
      </p:sp>
    </p:spTree>
    <p:extLst>
      <p:ext uri="{BB962C8B-B14F-4D97-AF65-F5344CB8AC3E}">
        <p14:creationId xmlns:p14="http://schemas.microsoft.com/office/powerpoint/2010/main" val="788860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Hi everyone, my name is Jim, and my project name is called </a:t>
            </a:r>
            <a:r>
              <a:rPr kumimoji="1" lang="en-US" altLang="zh-TW" dirty="0" err="1"/>
              <a:t>FastGA</a:t>
            </a:r>
            <a:r>
              <a:rPr kumimoji="1" lang="en-US" altLang="zh-TW" dirty="0"/>
              <a:t>.</a:t>
            </a:r>
          </a:p>
          <a:p>
            <a:endParaRPr kumimoji="1" lang="en-US" altLang="zh-TW" dirty="0"/>
          </a:p>
          <a:p>
            <a:endParaRPr kumimoji="1" lang="zh-TW" altLang="en-US"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1</a:t>
            </a:fld>
            <a:endParaRPr kumimoji="1" lang="zh-TW" altLang="en-US"/>
          </a:p>
        </p:txBody>
      </p:sp>
    </p:spTree>
    <p:extLst>
      <p:ext uri="{BB962C8B-B14F-4D97-AF65-F5344CB8AC3E}">
        <p14:creationId xmlns:p14="http://schemas.microsoft.com/office/powerpoint/2010/main" val="21391729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654E6-3537-B2E3-7087-0DAD2B42583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6806A54-BE06-79E5-8961-11E3A44413DE}"/>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077BFF7-C2C8-5E57-C593-A344D7D55940}"/>
              </a:ext>
            </a:extLst>
          </p:cNvPr>
          <p:cNvSpPr>
            <a:spLocks noGrp="1"/>
          </p:cNvSpPr>
          <p:nvPr>
            <p:ph type="body" idx="1"/>
          </p:nvPr>
        </p:nvSpPr>
        <p:spPr/>
        <p:txBody>
          <a:bodyPr/>
          <a:lstStyle/>
          <a:p>
            <a:r>
              <a:rPr kumimoji="1" lang="en-US" altLang="zh-TW" dirty="0"/>
              <a:t>The presentation outline will be </a:t>
            </a:r>
          </a:p>
          <a:p>
            <a:r>
              <a:rPr kumimoji="1" lang="en-US" altLang="zh-TW" dirty="0"/>
              <a:t>First, I will introduce what is GA, and </a:t>
            </a:r>
            <a:r>
              <a:rPr kumimoji="1" lang="en-US" altLang="zh-TW" dirty="0" err="1"/>
              <a:t>FastGA</a:t>
            </a:r>
            <a:r>
              <a:rPr kumimoji="1" lang="en-US" altLang="zh-TW" dirty="0"/>
              <a:t>.</a:t>
            </a:r>
          </a:p>
          <a:p>
            <a:r>
              <a:rPr kumimoji="1" lang="en-US" altLang="zh-TW" dirty="0"/>
              <a:t>Second, I will go over a little bit implementation details.</a:t>
            </a:r>
          </a:p>
          <a:p>
            <a:r>
              <a:rPr kumimoji="1" lang="en-US" altLang="zh-TW" dirty="0"/>
              <a:t>Last but not least, </a:t>
            </a:r>
            <a:r>
              <a:rPr lang="en" altLang="zh-TW" b="0" i="0" u="none" strike="noStrike" dirty="0">
                <a:solidFill>
                  <a:srgbClr val="000000"/>
                </a:solidFill>
                <a:effectLst/>
                <a:latin typeface="-webkit-standard"/>
              </a:rPr>
              <a:t>I will present evaluation results.</a:t>
            </a:r>
            <a:endParaRPr kumimoji="1" lang="en-US" altLang="zh-TW" dirty="0"/>
          </a:p>
        </p:txBody>
      </p:sp>
      <p:sp>
        <p:nvSpPr>
          <p:cNvPr id="4" name="投影片編號版面配置區 3">
            <a:extLst>
              <a:ext uri="{FF2B5EF4-FFF2-40B4-BE49-F238E27FC236}">
                <a16:creationId xmlns:a16="http://schemas.microsoft.com/office/drawing/2014/main" id="{DB548412-8B85-E060-EDE4-4F4F7C161B4E}"/>
              </a:ext>
            </a:extLst>
          </p:cNvPr>
          <p:cNvSpPr>
            <a:spLocks noGrp="1"/>
          </p:cNvSpPr>
          <p:nvPr>
            <p:ph type="sldNum" sz="quarter" idx="5"/>
          </p:nvPr>
        </p:nvSpPr>
        <p:spPr/>
        <p:txBody>
          <a:bodyPr/>
          <a:lstStyle/>
          <a:p>
            <a:fld id="{EF62C0EE-C242-5746-9FAB-0DCCE6A9DD1F}" type="slidenum">
              <a:rPr kumimoji="1" lang="zh-TW" altLang="en-US" smtClean="0"/>
              <a:t>2</a:t>
            </a:fld>
            <a:endParaRPr kumimoji="1" lang="zh-TW" altLang="en-US"/>
          </a:p>
        </p:txBody>
      </p:sp>
    </p:spTree>
    <p:extLst>
      <p:ext uri="{BB962C8B-B14F-4D97-AF65-F5344CB8AC3E}">
        <p14:creationId xmlns:p14="http://schemas.microsoft.com/office/powerpoint/2010/main" val="15879404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 altLang="zh-TW" b="0" i="0" u="none" strike="noStrike" dirty="0">
                <a:solidFill>
                  <a:srgbClr val="000000"/>
                </a:solidFill>
                <a:effectLst/>
                <a:latin typeface="-webkit-standard"/>
              </a:rPr>
              <a:t>So what is GA, GA is the abbreviation of Genetic Algorithm.</a:t>
            </a:r>
          </a:p>
          <a:p>
            <a:r>
              <a:rPr lang="en" altLang="zh-TW" b="0" i="0" u="none" strike="noStrike" dirty="0">
                <a:solidFill>
                  <a:srgbClr val="000000"/>
                </a:solidFill>
                <a:effectLst/>
                <a:latin typeface="-webkit-standard"/>
              </a:rPr>
              <a:t>A Genetic Algorithm is a heuristic search algorithm inspired by Darwin's theory of natural selection. It is primarily used to solve complex optimization problems by evolving a population of potential solutions over time.</a:t>
            </a:r>
          </a:p>
          <a:p>
            <a:endParaRPr kumimoji="1" lang="en" altLang="zh-TW" b="0"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To understand how it works, let‘s look at the cycle on the left. </a:t>
            </a:r>
            <a:r>
              <a:rPr lang="en" altLang="zh-TW" b="1" i="0" dirty="0">
                <a:solidFill>
                  <a:srgbClr val="000000"/>
                </a:solidFill>
                <a:effectLst/>
              </a:rPr>
              <a:t>It simulates biological evolution.</a:t>
            </a:r>
            <a:r>
              <a:rPr lang="zh-TW" altLang="en-US" b="1" i="0" dirty="0">
                <a:solidFill>
                  <a:srgbClr val="000000"/>
                </a:solidFill>
                <a:effectLst/>
              </a:rPr>
              <a:t> </a:t>
            </a:r>
            <a:endParaRPr lang="en-US" altLang="zh-TW" b="1" i="0" dirty="0">
              <a:solidFill>
                <a:srgbClr val="000000"/>
              </a:solidFill>
              <a:effectLst/>
            </a:endParaRPr>
          </a:p>
          <a:p>
            <a:r>
              <a:rPr lang="en" altLang="zh-TW" b="0" i="0" u="none" strike="noStrike" dirty="0">
                <a:solidFill>
                  <a:srgbClr val="000000"/>
                </a:solidFill>
                <a:effectLst/>
                <a:latin typeface="-webkit-standard"/>
              </a:rPr>
              <a:t>We start with a </a:t>
            </a:r>
            <a:r>
              <a:rPr lang="en" altLang="zh-TW" b="1" i="0" dirty="0">
                <a:solidFill>
                  <a:srgbClr val="000000"/>
                </a:solidFill>
                <a:effectLst/>
              </a:rPr>
              <a:t>new generation</a:t>
            </a:r>
            <a:r>
              <a:rPr lang="en" altLang="zh-TW" b="0" i="0" u="none" strike="noStrike" dirty="0">
                <a:solidFill>
                  <a:srgbClr val="000000"/>
                </a:solidFill>
                <a:effectLst/>
                <a:latin typeface="-webkit-standard"/>
              </a:rPr>
              <a:t>, which includes dozens or even thousands of individuals, each representing a single solution. </a:t>
            </a:r>
            <a:endParaRPr lang="en-US" altLang="zh-TW" b="1"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Next, we use a </a:t>
            </a:r>
            <a:r>
              <a:rPr lang="en" altLang="zh-TW" b="1" i="0" dirty="0">
                <a:solidFill>
                  <a:srgbClr val="000000"/>
                </a:solidFill>
                <a:effectLst/>
              </a:rPr>
              <a:t>fitness function</a:t>
            </a:r>
            <a:r>
              <a:rPr lang="en" altLang="zh-TW" b="0" i="0" u="none" strike="noStrike" dirty="0">
                <a:solidFill>
                  <a:srgbClr val="000000"/>
                </a:solidFill>
                <a:effectLst/>
                <a:latin typeface="-webkit-standard"/>
              </a:rPr>
              <a:t> to evaluate and score every individual.</a:t>
            </a:r>
            <a:endParaRPr lang="en-US" altLang="zh-TW" b="1"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Based on these scores, the </a:t>
            </a:r>
            <a:r>
              <a:rPr lang="en" altLang="zh-TW" b="1" i="0" dirty="0">
                <a:solidFill>
                  <a:srgbClr val="000000"/>
                </a:solidFill>
                <a:effectLst/>
              </a:rPr>
              <a:t>selection</a:t>
            </a:r>
            <a:r>
              <a:rPr lang="en" altLang="zh-TW" b="0" i="0" u="none" strike="noStrike" dirty="0">
                <a:solidFill>
                  <a:srgbClr val="000000"/>
                </a:solidFill>
                <a:effectLst/>
                <a:latin typeface="-webkit-standard"/>
              </a:rPr>
              <a:t> phase keeps those individuals with best fitness score.</a:t>
            </a:r>
            <a:endParaRPr lang="en-US" altLang="zh-TW" b="1"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Finally, these survivors go through </a:t>
            </a:r>
            <a:r>
              <a:rPr lang="en" altLang="zh-TW" b="1" i="0" dirty="0">
                <a:solidFill>
                  <a:srgbClr val="000000"/>
                </a:solidFill>
                <a:effectLst/>
              </a:rPr>
              <a:t>reproduction and mutation</a:t>
            </a:r>
            <a:r>
              <a:rPr lang="en" altLang="zh-TW" b="0" i="0" u="none" strike="noStrike" dirty="0">
                <a:solidFill>
                  <a:srgbClr val="000000"/>
                </a:solidFill>
                <a:effectLst/>
                <a:latin typeface="-webkit-standard"/>
              </a:rPr>
              <a:t> to produce the next generation, and the cycle continues.”</a:t>
            </a:r>
            <a:endParaRPr lang="en-US" altLang="zh-TW" b="1" i="0" u="none" strike="noStrike" dirty="0">
              <a:solidFill>
                <a:srgbClr val="000000"/>
              </a:solidFill>
              <a:effectLst/>
              <a:latin typeface="-webkit-standard"/>
            </a:endParaRPr>
          </a:p>
          <a:p>
            <a:endParaRPr kumimoji="1" lang="en-US" altLang="zh-TW" b="1" i="0" u="none" strike="noStrike" dirty="0">
              <a:solidFill>
                <a:srgbClr val="000000"/>
              </a:solidFill>
              <a:effectLst/>
              <a:latin typeface="-webkit-standard"/>
            </a:endParaRPr>
          </a:p>
          <a:p>
            <a:r>
              <a:rPr kumimoji="1" lang="en-US" altLang="zh-TW" dirty="0"/>
              <a:t>So the whole process pseudo code will look like this, where we input the fitness function we want, and the outer loop for the generations, inner loop to evaluate each individual.</a:t>
            </a:r>
          </a:p>
          <a:p>
            <a:r>
              <a:rPr kumimoji="1" lang="en-US" altLang="zh-TW" dirty="0"/>
              <a:t>In the end, we output the best score of individual as the optimal solution.</a:t>
            </a:r>
            <a:endParaRPr kumimoji="1" lang="zh-TW" altLang="en-US"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3</a:t>
            </a:fld>
            <a:endParaRPr kumimoji="1" lang="zh-TW" altLang="en-US"/>
          </a:p>
        </p:txBody>
      </p:sp>
    </p:spTree>
    <p:extLst>
      <p:ext uri="{BB962C8B-B14F-4D97-AF65-F5344CB8AC3E}">
        <p14:creationId xmlns:p14="http://schemas.microsoft.com/office/powerpoint/2010/main" val="2169995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This brings us to the core of my project: </a:t>
            </a:r>
            <a:r>
              <a:rPr kumimoji="1" lang="en-US" altLang="zh-TW" dirty="0" err="1"/>
              <a:t>FastGA</a:t>
            </a:r>
            <a:r>
              <a:rPr kumimoji="1" lang="en-US" altLang="zh-TW" dirty="0"/>
              <a:t>, it is a C++ genetic algorithm library with Python bindings, specifically for global optimization problems represented by 1 dimensional double precision vectors.</a:t>
            </a:r>
          </a:p>
          <a:p>
            <a:endParaRPr kumimoji="1" lang="en-US" altLang="zh-TW" dirty="0"/>
          </a:p>
          <a:p>
            <a:r>
              <a:rPr kumimoji="1" lang="en-US" altLang="zh-TW" dirty="0"/>
              <a:t>Here is a quick example, if our goal is to minimize a simple function like X^2 + Y^2, an individual in this case will be vector [X,Y]. </a:t>
            </a:r>
          </a:p>
          <a:p>
            <a:r>
              <a:rPr lang="en" altLang="zh-TW" b="0" i="0" u="none" strike="noStrike" dirty="0">
                <a:solidFill>
                  <a:srgbClr val="000000"/>
                </a:solidFill>
                <a:effectLst/>
                <a:latin typeface="-webkit-standard"/>
              </a:rPr>
              <a:t>The fitness function calculates this value, and the ultimate goal for the algorithm is to evolve the population towards the optimal solution, which is </a:t>
            </a:r>
            <a:r>
              <a:rPr lang="en" altLang="zh-TW" b="0" i="0" dirty="0">
                <a:solidFill>
                  <a:srgbClr val="000000"/>
                </a:solidFill>
                <a:effectLst/>
              </a:rPr>
              <a:t>[0,0]</a:t>
            </a:r>
            <a:r>
              <a:rPr lang="en" altLang="zh-TW" b="0" i="0" u="none" strike="noStrike" dirty="0">
                <a:solidFill>
                  <a:srgbClr val="000000"/>
                </a:solidFill>
                <a:effectLst/>
                <a:latin typeface="-webkit-standard"/>
              </a:rPr>
              <a:t>.</a:t>
            </a:r>
          </a:p>
          <a:p>
            <a:endParaRPr lang="en" altLang="zh-TW" b="0"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The key part here is that the fitness function must be defined by user in Python.</a:t>
            </a:r>
          </a:p>
          <a:p>
            <a:endParaRPr kumimoji="1" lang="en" altLang="zh-TW" b="0" i="0" u="none" strike="noStrike" dirty="0">
              <a:solidFill>
                <a:srgbClr val="000000"/>
              </a:solidFill>
              <a:effectLst/>
              <a:latin typeface="-webkit-standard"/>
            </a:endParaRPr>
          </a:p>
          <a:p>
            <a:r>
              <a:rPr kumimoji="1" lang="en" altLang="zh-TW" b="0" i="0" u="none" strike="noStrike" dirty="0">
                <a:solidFill>
                  <a:srgbClr val="000000"/>
                </a:solidFill>
                <a:effectLst/>
                <a:latin typeface="-webkit-standard"/>
              </a:rPr>
              <a:t>Here lies a critical challenge in hybrid architecture. </a:t>
            </a:r>
            <a:r>
              <a:rPr lang="en" altLang="zh-TW" b="0" i="0" u="none" strike="noStrike" dirty="0">
                <a:solidFill>
                  <a:srgbClr val="000000"/>
                </a:solidFill>
                <a:effectLst/>
                <a:latin typeface="-webkit-standard"/>
              </a:rPr>
              <a:t>Let`s look at the pseudo-code again. When evaluate(), we need to call the Python fitness function from C++ one time.</a:t>
            </a:r>
          </a:p>
          <a:p>
            <a:r>
              <a:rPr kumimoji="1" lang="en-US" altLang="zh-TW" dirty="0"/>
              <a:t>However, here we need to call it for each generation and individual, which incurs massive overhead from C++ to Python context switching.</a:t>
            </a:r>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4</a:t>
            </a:fld>
            <a:endParaRPr kumimoji="1" lang="zh-TW" altLang="en-US"/>
          </a:p>
        </p:txBody>
      </p:sp>
    </p:spTree>
    <p:extLst>
      <p:ext uri="{BB962C8B-B14F-4D97-AF65-F5344CB8AC3E}">
        <p14:creationId xmlns:p14="http://schemas.microsoft.com/office/powerpoint/2010/main" val="38948621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Before we talk about the implementation details, I will give you an overview of the project architecture.</a:t>
            </a:r>
          </a:p>
          <a:p>
            <a:endParaRPr kumimoji="1" lang="en-US" altLang="zh-TW" dirty="0"/>
          </a:p>
          <a:p>
            <a:r>
              <a:rPr lang="en" altLang="zh-TW" b="0" i="0" u="none" strike="noStrike" dirty="0">
                <a:solidFill>
                  <a:srgbClr val="000000"/>
                </a:solidFill>
                <a:effectLst/>
                <a:latin typeface="-webkit-standard"/>
              </a:rPr>
              <a:t>As you can see, I divided the system into three main parts: the C++ Core on the left, the Pybind11 Bridge in the middle, and the Python Frontend on the right.</a:t>
            </a:r>
          </a:p>
          <a:p>
            <a:endParaRPr kumimoji="1" lang="en" altLang="zh-TW" b="0" i="0" u="none" strike="noStrike" dirty="0">
              <a:solidFill>
                <a:srgbClr val="000000"/>
              </a:solidFill>
              <a:effectLst/>
              <a:latin typeface="-webkit-standard"/>
            </a:endParaRPr>
          </a:p>
          <a:p>
            <a:r>
              <a:rPr kumimoji="1" lang="en-US" altLang="zh-TW" dirty="0" err="1"/>
              <a:t>Individual.cpp</a:t>
            </a:r>
            <a:r>
              <a:rPr kumimoji="1" lang="en-US" altLang="zh-TW" dirty="0"/>
              <a:t> is the class responsible for storing genes and fitness scores.</a:t>
            </a:r>
          </a:p>
          <a:p>
            <a:endParaRPr kumimoji="1" lang="en-US" altLang="zh-TW" dirty="0"/>
          </a:p>
          <a:p>
            <a:r>
              <a:rPr kumimoji="1" lang="en-US" altLang="zh-TW" dirty="0" err="1"/>
              <a:t>Ga_solver.cpp</a:t>
            </a:r>
            <a:r>
              <a:rPr kumimoji="1" lang="en-US" altLang="zh-TW" dirty="0"/>
              <a:t>, which is the core engine of </a:t>
            </a:r>
            <a:r>
              <a:rPr kumimoji="1" lang="en-US" altLang="zh-TW" dirty="0" err="1"/>
              <a:t>fastga</a:t>
            </a:r>
            <a:r>
              <a:rPr kumimoji="1" lang="en-US" altLang="zh-TW" dirty="0"/>
              <a:t>, this is where the heavy lifting happens, the entire evolution loop, including evaluation, selection, reproduction, mutation, runs entirely in C++.</a:t>
            </a:r>
          </a:p>
          <a:p>
            <a:endParaRPr kumimoji="1" lang="en-US" altLang="zh-TW" dirty="0"/>
          </a:p>
          <a:p>
            <a:r>
              <a:rPr kumimoji="1" lang="en-US" altLang="zh-TW" dirty="0"/>
              <a:t>Now look at </a:t>
            </a:r>
            <a:r>
              <a:rPr kumimoji="1" lang="en-US" altLang="zh-TW" dirty="0" err="1"/>
              <a:t>main.py</a:t>
            </a:r>
            <a:r>
              <a:rPr kumimoji="1" lang="en-US" altLang="zh-TW" dirty="0"/>
              <a:t>, the interface our users interact with, it feels just like any standard Python library, simply import </a:t>
            </a:r>
            <a:r>
              <a:rPr kumimoji="1" lang="en-US" altLang="zh-TW" dirty="0" err="1"/>
              <a:t>fastga</a:t>
            </a:r>
            <a:r>
              <a:rPr kumimoji="1" lang="en-US" altLang="zh-TW" dirty="0"/>
              <a:t>, initialize the solver and their custom fitness function, and hit solve().</a:t>
            </a:r>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5</a:t>
            </a:fld>
            <a:endParaRPr kumimoji="1" lang="zh-TW" altLang="en-US"/>
          </a:p>
        </p:txBody>
      </p:sp>
    </p:spTree>
    <p:extLst>
      <p:ext uri="{BB962C8B-B14F-4D97-AF65-F5344CB8AC3E}">
        <p14:creationId xmlns:p14="http://schemas.microsoft.com/office/powerpoint/2010/main" val="13957130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75BE-5B9A-D9BF-5047-157ECE10345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08CF278C-BC2E-116E-FB9E-B500E5C486BD}"/>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2249979-073B-202D-43C0-6DC2864D3E0D}"/>
              </a:ext>
            </a:extLst>
          </p:cNvPr>
          <p:cNvSpPr>
            <a:spLocks noGrp="1"/>
          </p:cNvSpPr>
          <p:nvPr>
            <p:ph type="body" idx="1"/>
          </p:nvPr>
        </p:nvSpPr>
        <p:spPr/>
        <p:txBody>
          <a:bodyPr/>
          <a:lstStyle/>
          <a:p>
            <a:r>
              <a:rPr lang="en" altLang="zh-TW" b="0" i="0" u="none" strike="noStrike" dirty="0">
                <a:solidFill>
                  <a:srgbClr val="000000"/>
                </a:solidFill>
                <a:effectLst/>
                <a:latin typeface="-webkit-standard"/>
              </a:rPr>
              <a:t>Here, we dive deep into the implementation of how Python and C++ actually communicate, focusing on the fitness function.</a:t>
            </a:r>
          </a:p>
          <a:p>
            <a:endParaRPr kumimoji="1" lang="en" altLang="zh-TW" b="0"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Let‘s start on the left. In </a:t>
            </a:r>
            <a:r>
              <a:rPr lang="en" altLang="zh-TW" dirty="0" err="1"/>
              <a:t>main.py</a:t>
            </a:r>
            <a:r>
              <a:rPr lang="en" altLang="zh-TW" b="0" i="0" u="none" strike="noStrike" dirty="0">
                <a:solidFill>
                  <a:srgbClr val="000000"/>
                </a:solidFill>
                <a:effectLst/>
                <a:latin typeface="-webkit-standard"/>
              </a:rPr>
              <a:t>, the user passes their custom Python fitness function into the solver.</a:t>
            </a:r>
            <a:r>
              <a:rPr kumimoji="1" lang="en" altLang="zh-TW" b="0" i="0" u="none" strike="noStrike" dirty="0">
                <a:solidFill>
                  <a:srgbClr val="000000"/>
                </a:solidFill>
                <a:effectLst/>
                <a:latin typeface="-webkit-standard"/>
              </a:rPr>
              <a:t> In </a:t>
            </a:r>
            <a:r>
              <a:rPr kumimoji="1" lang="en" altLang="zh-TW" b="0" i="0" u="none" strike="noStrike" dirty="0" err="1">
                <a:solidFill>
                  <a:srgbClr val="000000"/>
                </a:solidFill>
                <a:effectLst/>
                <a:latin typeface="-webkit-standard"/>
              </a:rPr>
              <a:t>ga_solver.cpp</a:t>
            </a:r>
            <a:r>
              <a:rPr kumimoji="1" lang="en" altLang="zh-TW" b="0" i="0" u="none" strike="noStrike" dirty="0">
                <a:solidFill>
                  <a:srgbClr val="000000"/>
                </a:solidFill>
                <a:effectLst/>
                <a:latin typeface="-webkit-standard"/>
              </a:rPr>
              <a:t>, we store it as a function reference.</a:t>
            </a:r>
          </a:p>
          <a:p>
            <a:endParaRPr kumimoji="1" lang="en" altLang="zh-TW" b="0" i="0" u="none" strike="noStrike" dirty="0">
              <a:solidFill>
                <a:srgbClr val="000000"/>
              </a:solidFill>
              <a:effectLst/>
              <a:latin typeface="-webkit-standard"/>
            </a:endParaRPr>
          </a:p>
          <a:p>
            <a:r>
              <a:rPr kumimoji="1" lang="en" altLang="zh-TW" b="0" i="0" u="none" strike="noStrike" dirty="0">
                <a:solidFill>
                  <a:srgbClr val="000000"/>
                </a:solidFill>
                <a:effectLst/>
                <a:latin typeface="-webkit-standard"/>
              </a:rPr>
              <a:t>Next, lets talk about evaluate() function on the right, when C++ need to score an individual, it must send the gene data over to Python. To maximize performance, we avoid deep-copying the data. We use zero-copy mechanism, warp the native C++ memory into a </a:t>
            </a:r>
            <a:r>
              <a:rPr kumimoji="1" lang="en" altLang="zh-TW" b="0" i="0" u="none" strike="noStrike" dirty="0" err="1">
                <a:solidFill>
                  <a:srgbClr val="000000"/>
                </a:solidFill>
                <a:effectLst/>
                <a:latin typeface="-webkit-standard"/>
              </a:rPr>
              <a:t>numpy</a:t>
            </a:r>
            <a:r>
              <a:rPr kumimoji="1" lang="en" altLang="zh-TW" b="0" i="0" u="none" strike="noStrike" dirty="0">
                <a:solidFill>
                  <a:srgbClr val="000000"/>
                </a:solidFill>
                <a:effectLst/>
                <a:latin typeface="-webkit-standard"/>
              </a:rPr>
              <a:t> array.</a:t>
            </a:r>
          </a:p>
          <a:p>
            <a:r>
              <a:rPr kumimoji="1" lang="en" altLang="zh-TW" b="0" i="0" u="none" strike="noStrike" dirty="0">
                <a:solidFill>
                  <a:srgbClr val="000000"/>
                </a:solidFill>
                <a:effectLst/>
                <a:latin typeface="-webkit-standard"/>
              </a:rPr>
              <a:t>So when the Python fitness function is running, it thinks its operating on a </a:t>
            </a:r>
            <a:r>
              <a:rPr kumimoji="1" lang="en" altLang="zh-TW" b="0" i="0" u="none" strike="noStrike" dirty="0" err="1">
                <a:solidFill>
                  <a:srgbClr val="000000"/>
                </a:solidFill>
                <a:effectLst/>
                <a:latin typeface="-webkit-standard"/>
              </a:rPr>
              <a:t>numpy</a:t>
            </a:r>
            <a:r>
              <a:rPr kumimoji="1" lang="en" altLang="zh-TW" b="0" i="0" u="none" strike="noStrike" dirty="0">
                <a:solidFill>
                  <a:srgbClr val="000000"/>
                </a:solidFill>
                <a:effectLst/>
                <a:latin typeface="-webkit-standard"/>
              </a:rPr>
              <a:t> array, but it is actually reading directly from C++ memory.</a:t>
            </a:r>
          </a:p>
          <a:p>
            <a:endParaRPr kumimoji="1" lang="en" altLang="zh-TW" b="0" i="0" u="none" strike="noStrike" dirty="0">
              <a:solidFill>
                <a:srgbClr val="000000"/>
              </a:solidFill>
              <a:effectLst/>
              <a:latin typeface="-webkit-standard"/>
            </a:endParaRPr>
          </a:p>
          <a:p>
            <a:r>
              <a:rPr kumimoji="1" lang="en" altLang="zh-TW" b="0" i="0" u="none" strike="noStrike" dirty="0">
                <a:solidFill>
                  <a:srgbClr val="000000"/>
                </a:solidFill>
                <a:effectLst/>
                <a:latin typeface="-webkit-standard"/>
              </a:rPr>
              <a:t>Here, we achieved zero-copy data transfer, which is great. But the </a:t>
            </a:r>
            <a:r>
              <a:rPr kumimoji="1" lang="en" altLang="zh-TW" b="0" i="0" u="none" strike="noStrike" dirty="0" err="1">
                <a:solidFill>
                  <a:srgbClr val="000000"/>
                </a:solidFill>
                <a:effectLst/>
                <a:latin typeface="-webkit-standard"/>
              </a:rPr>
              <a:t>fitness_func</a:t>
            </a:r>
            <a:r>
              <a:rPr kumimoji="1" lang="en" altLang="zh-TW" b="0" i="0" u="none" strike="noStrike" dirty="0">
                <a:solidFill>
                  <a:srgbClr val="000000"/>
                </a:solidFill>
                <a:effectLst/>
                <a:latin typeface="-webkit-standard"/>
              </a:rPr>
              <a:t> is begin called inside a for loop for each individual, if we have a population of 100, we need to call fitness function for 100 times, which is a massive bottleneck.</a:t>
            </a:r>
          </a:p>
          <a:p>
            <a:endParaRPr kumimoji="1" lang="en" altLang="zh-TW" b="0" i="0" u="none" strike="noStrike" dirty="0">
              <a:solidFill>
                <a:srgbClr val="000000"/>
              </a:solidFill>
              <a:effectLst/>
              <a:latin typeface="-webkit-standard"/>
            </a:endParaRPr>
          </a:p>
          <a:p>
            <a:r>
              <a:rPr kumimoji="1" lang="en" altLang="zh-TW" b="0" i="0" u="none" strike="noStrike" dirty="0">
                <a:solidFill>
                  <a:srgbClr val="000000"/>
                </a:solidFill>
                <a:effectLst/>
                <a:latin typeface="-webkit-standard"/>
              </a:rPr>
              <a:t>Leads to the question in the bottom right, Can we make it faster? </a:t>
            </a:r>
          </a:p>
        </p:txBody>
      </p:sp>
      <p:sp>
        <p:nvSpPr>
          <p:cNvPr id="4" name="投影片編號版面配置區 3">
            <a:extLst>
              <a:ext uri="{FF2B5EF4-FFF2-40B4-BE49-F238E27FC236}">
                <a16:creationId xmlns:a16="http://schemas.microsoft.com/office/drawing/2014/main" id="{1B429F19-53F2-1650-5CF9-C0AD355570D8}"/>
              </a:ext>
            </a:extLst>
          </p:cNvPr>
          <p:cNvSpPr>
            <a:spLocks noGrp="1"/>
          </p:cNvSpPr>
          <p:nvPr>
            <p:ph type="sldNum" sz="quarter" idx="5"/>
          </p:nvPr>
        </p:nvSpPr>
        <p:spPr/>
        <p:txBody>
          <a:bodyPr/>
          <a:lstStyle/>
          <a:p>
            <a:fld id="{EF62C0EE-C242-5746-9FAB-0DCCE6A9DD1F}" type="slidenum">
              <a:rPr kumimoji="1" lang="zh-TW" altLang="en-US" smtClean="0"/>
              <a:t>6</a:t>
            </a:fld>
            <a:endParaRPr kumimoji="1" lang="zh-TW" altLang="en-US"/>
          </a:p>
        </p:txBody>
      </p:sp>
    </p:spTree>
    <p:extLst>
      <p:ext uri="{BB962C8B-B14F-4D97-AF65-F5344CB8AC3E}">
        <p14:creationId xmlns:p14="http://schemas.microsoft.com/office/powerpoint/2010/main" val="26840520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To answer that question, yes, we can do it by batch evaluation.</a:t>
            </a:r>
          </a:p>
          <a:p>
            <a:endParaRPr kumimoji="1" lang="en-US" altLang="zh-TW" dirty="0"/>
          </a:p>
          <a:p>
            <a:r>
              <a:rPr kumimoji="1" lang="en-US" altLang="zh-TW" dirty="0"/>
              <a:t>Lets look at the comparison, on the left the original evaluate() method, the python function call is trapped inside to for loop.</a:t>
            </a:r>
          </a:p>
          <a:p>
            <a:r>
              <a:rPr lang="en" altLang="zh-TW" b="0" i="0" u="none" strike="noStrike" dirty="0">
                <a:solidFill>
                  <a:srgbClr val="000000"/>
                </a:solidFill>
                <a:effectLst/>
                <a:latin typeface="-webkit-standard"/>
              </a:rPr>
              <a:t>If we have 100 individuals, we are forcing the system to switch between C++ and Python 100 times.</a:t>
            </a:r>
          </a:p>
          <a:p>
            <a:endParaRPr kumimoji="1" lang="en" altLang="zh-TW" b="0"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Now, look at </a:t>
            </a:r>
            <a:r>
              <a:rPr lang="en" altLang="zh-TW" dirty="0" err="1"/>
              <a:t>batch_evaluate</a:t>
            </a:r>
            <a:r>
              <a:rPr lang="en" altLang="zh-TW" dirty="0"/>
              <a:t>()</a:t>
            </a:r>
            <a:r>
              <a:rPr lang="en" altLang="zh-TW" b="0" i="0" u="none" strike="noStrike" dirty="0">
                <a:solidFill>
                  <a:srgbClr val="000000"/>
                </a:solidFill>
                <a:effectLst/>
                <a:latin typeface="-webkit-standard"/>
              </a:rPr>
              <a:t> on the right. Here, we changed the strategy.</a:t>
            </a:r>
          </a:p>
          <a:p>
            <a:r>
              <a:rPr lang="en" altLang="zh-TW" b="0" i="0" u="none" strike="noStrike" dirty="0">
                <a:solidFill>
                  <a:srgbClr val="000000"/>
                </a:solidFill>
                <a:effectLst/>
                <a:latin typeface="-webkit-standard"/>
              </a:rPr>
              <a:t>We allocate a 2D NumPy array matrix in C++, and pack all individuals genes into this matrix.</a:t>
            </a:r>
          </a:p>
          <a:p>
            <a:r>
              <a:rPr kumimoji="1" lang="en" altLang="zh-TW" b="0" i="0" u="none" strike="noStrike" dirty="0">
                <a:solidFill>
                  <a:srgbClr val="000000"/>
                </a:solidFill>
                <a:effectLst/>
                <a:latin typeface="-webkit-standard"/>
              </a:rPr>
              <a:t>Here, we send the entire population matrix to Python in one single shot. </a:t>
            </a:r>
            <a:r>
              <a:rPr lang="en" altLang="zh-TW" b="0" i="0" u="none" strike="noStrike" dirty="0">
                <a:solidFill>
                  <a:srgbClr val="000000"/>
                </a:solidFill>
                <a:effectLst/>
                <a:latin typeface="-webkit-standard"/>
              </a:rPr>
              <a:t>By doing this, we compress thousands of cross-language context switches into exactly </a:t>
            </a:r>
            <a:r>
              <a:rPr lang="en" altLang="zh-TW" b="1" i="0" dirty="0">
                <a:solidFill>
                  <a:srgbClr val="000000"/>
                </a:solidFill>
                <a:effectLst/>
              </a:rPr>
              <a:t>one single call</a:t>
            </a:r>
            <a:r>
              <a:rPr lang="en" altLang="zh-TW" b="0" i="0" u="none" strike="noStrike" dirty="0">
                <a:solidFill>
                  <a:srgbClr val="000000"/>
                </a:solidFill>
                <a:effectLst/>
                <a:latin typeface="-webkit-standard"/>
              </a:rPr>
              <a:t> per generation.</a:t>
            </a:r>
          </a:p>
          <a:p>
            <a:endParaRPr kumimoji="1" lang="en" altLang="zh-TW" b="0" i="0" u="none" strike="noStrike" dirty="0">
              <a:solidFill>
                <a:srgbClr val="000000"/>
              </a:solidFill>
              <a:effectLst/>
              <a:latin typeface="-webkit-standard"/>
            </a:endParaRPr>
          </a:p>
          <a:p>
            <a:r>
              <a:rPr kumimoji="1" lang="en" altLang="zh-TW" b="0" i="0" u="none" strike="noStrike" dirty="0">
                <a:solidFill>
                  <a:srgbClr val="000000"/>
                </a:solidFill>
                <a:effectLst/>
                <a:latin typeface="-webkit-standard"/>
              </a:rPr>
              <a:t>However, doing this has trade-off. </a:t>
            </a:r>
          </a:p>
          <a:p>
            <a:r>
              <a:rPr kumimoji="1" lang="en" altLang="zh-TW" b="0" i="0" u="none" strike="noStrike" dirty="0">
                <a:solidFill>
                  <a:srgbClr val="000000"/>
                </a:solidFill>
                <a:effectLst/>
                <a:latin typeface="-webkit-standard"/>
              </a:rPr>
              <a:t>The pro is obvious, the performance becomes incredibly fast. </a:t>
            </a:r>
          </a:p>
          <a:p>
            <a:r>
              <a:rPr kumimoji="1" lang="en" altLang="zh-TW" b="0" i="0" u="none" strike="noStrike" dirty="0">
                <a:solidFill>
                  <a:srgbClr val="000000"/>
                </a:solidFill>
                <a:effectLst/>
                <a:latin typeface="-webkit-standard"/>
              </a:rPr>
              <a:t>However, the cons is that it requires users to write batch-compatible fitness functions to handle 2D matrix.</a:t>
            </a:r>
            <a:endParaRPr kumimoji="1" lang="en-US" altLang="zh-TW"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7</a:t>
            </a:fld>
            <a:endParaRPr kumimoji="1" lang="zh-TW" altLang="en-US"/>
          </a:p>
        </p:txBody>
      </p:sp>
    </p:spTree>
    <p:extLst>
      <p:ext uri="{BB962C8B-B14F-4D97-AF65-F5344CB8AC3E}">
        <p14:creationId xmlns:p14="http://schemas.microsoft.com/office/powerpoint/2010/main" val="579540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4F1008-88D2-FF2E-7E43-0ABED4CEE04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47F888B-C0E7-D276-4E8C-DF8FAAC56B93}"/>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A353F99-87EE-C21C-80BA-7D0F9E681C9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TW" dirty="0"/>
              <a:t>And here I do a little bit experiment </a:t>
            </a:r>
            <a:r>
              <a:rPr lang="en" altLang="zh-TW" b="0" i="0" u="none" strike="noStrike" dirty="0">
                <a:solidFill>
                  <a:srgbClr val="000000"/>
                </a:solidFill>
                <a:effectLst/>
                <a:latin typeface="-webkit-standard"/>
              </a:rPr>
              <a:t>evaluating the scalability of </a:t>
            </a:r>
            <a:r>
              <a:rPr kumimoji="1" lang="en-US" altLang="zh-TW" dirty="0"/>
              <a:t>batch and without batch evaluation </a:t>
            </a:r>
            <a:r>
              <a:rPr lang="en" altLang="zh-TW" b="0" i="0" u="none" strike="noStrike" dirty="0">
                <a:solidFill>
                  <a:srgbClr val="000000"/>
                </a:solidFill>
                <a:effectLst/>
                <a:latin typeface="-webkit-standard"/>
              </a:rPr>
              <a:t>as we increase the number of generations from 1,000 to 10,000.</a:t>
            </a:r>
            <a:endParaRPr kumimoji="1" lang="en-US" altLang="zh-TW" dirty="0"/>
          </a:p>
          <a:p>
            <a:endParaRPr kumimoji="1" lang="en-US" altLang="zh-TW" dirty="0"/>
          </a:p>
          <a:p>
            <a:pPr algn="l"/>
            <a:r>
              <a:rPr lang="en" altLang="zh-TW" b="0" i="0" dirty="0">
                <a:solidFill>
                  <a:srgbClr val="000000"/>
                </a:solidFill>
                <a:effectLst/>
              </a:rPr>
              <a:t>On the left, we have the </a:t>
            </a:r>
            <a:r>
              <a:rPr lang="en" altLang="zh-TW" b="1" i="0" dirty="0">
                <a:solidFill>
                  <a:srgbClr val="000000"/>
                </a:solidFill>
                <a:effectLst/>
              </a:rPr>
              <a:t>Total Execution Time</a:t>
            </a:r>
            <a:r>
              <a:rPr lang="en" altLang="zh-TW" b="0" i="0" dirty="0">
                <a:solidFill>
                  <a:srgbClr val="000000"/>
                </a:solidFill>
                <a:effectLst/>
              </a:rPr>
              <a:t> plotted against the number of generations. The blue line represents the standard evaluate() method. As you can see, the time skyrockets linearly as iterations increase, reaching about 1.5 seconds at 10,000 generations.</a:t>
            </a:r>
          </a:p>
          <a:p>
            <a:pPr algn="l"/>
            <a:r>
              <a:rPr lang="en" altLang="zh-TW" b="0" i="0" dirty="0">
                <a:solidFill>
                  <a:srgbClr val="000000"/>
                </a:solidFill>
                <a:effectLst/>
              </a:rPr>
              <a:t>In contrast, look at the orange line representing </a:t>
            </a:r>
            <a:r>
              <a:rPr lang="en" altLang="zh-TW" b="0" i="0" dirty="0" err="1">
                <a:solidFill>
                  <a:srgbClr val="000000"/>
                </a:solidFill>
                <a:effectLst/>
              </a:rPr>
              <a:t>batch_evaluate</a:t>
            </a:r>
            <a:r>
              <a:rPr lang="en" altLang="zh-TW" b="0" i="0" dirty="0">
                <a:solidFill>
                  <a:srgbClr val="000000"/>
                </a:solidFill>
                <a:effectLst/>
              </a:rPr>
              <a:t>(). It remains incredibly flat, taking almost zero time even at 10,000 generations. The gap between these two lines is purely the accumulated cost of context switching."</a:t>
            </a:r>
          </a:p>
          <a:p>
            <a:endParaRPr kumimoji="1" lang="en-US" altLang="zh-TW" dirty="0"/>
          </a:p>
          <a:p>
            <a:r>
              <a:rPr lang="en" altLang="zh-TW" b="0" i="0" u="none" strike="noStrike" dirty="0">
                <a:solidFill>
                  <a:srgbClr val="000000"/>
                </a:solidFill>
                <a:effectLst/>
                <a:latin typeface="-webkit-standard"/>
              </a:rPr>
              <a:t>the chart on the right is the </a:t>
            </a:r>
            <a:r>
              <a:rPr lang="en" altLang="zh-TW" b="1" i="0" dirty="0">
                <a:solidFill>
                  <a:srgbClr val="000000"/>
                </a:solidFill>
                <a:effectLst/>
              </a:rPr>
              <a:t>Average Time per Call</a:t>
            </a:r>
            <a:r>
              <a:rPr lang="en" altLang="zh-TW" b="0" i="0" u="none" strike="noStrike" dirty="0">
                <a:solidFill>
                  <a:srgbClr val="000000"/>
                </a:solidFill>
                <a:effectLst/>
                <a:latin typeface="-webkit-standard"/>
              </a:rPr>
              <a:t>.</a:t>
            </a:r>
          </a:p>
          <a:p>
            <a:r>
              <a:rPr kumimoji="1" lang="en" altLang="zh-TW" b="0" i="0" u="none" strike="noStrike" dirty="0">
                <a:solidFill>
                  <a:srgbClr val="000000"/>
                </a:solidFill>
                <a:effectLst/>
                <a:latin typeface="-webkit-standard"/>
              </a:rPr>
              <a:t>As you can see, the average time per call on batch evaluate() is way faster than original evaluate().</a:t>
            </a:r>
            <a:endParaRPr kumimoji="1" lang="zh-TW" altLang="en-US" dirty="0"/>
          </a:p>
        </p:txBody>
      </p:sp>
      <p:sp>
        <p:nvSpPr>
          <p:cNvPr id="4" name="投影片編號版面配置區 3">
            <a:extLst>
              <a:ext uri="{FF2B5EF4-FFF2-40B4-BE49-F238E27FC236}">
                <a16:creationId xmlns:a16="http://schemas.microsoft.com/office/drawing/2014/main" id="{D3D806DA-94B1-7FC1-4186-BFD0B5ED6E09}"/>
              </a:ext>
            </a:extLst>
          </p:cNvPr>
          <p:cNvSpPr>
            <a:spLocks noGrp="1"/>
          </p:cNvSpPr>
          <p:nvPr>
            <p:ph type="sldNum" sz="quarter" idx="5"/>
          </p:nvPr>
        </p:nvSpPr>
        <p:spPr/>
        <p:txBody>
          <a:bodyPr/>
          <a:lstStyle/>
          <a:p>
            <a:fld id="{EF62C0EE-C242-5746-9FAB-0DCCE6A9DD1F}" type="slidenum">
              <a:rPr kumimoji="1" lang="zh-TW" altLang="en-US" smtClean="0"/>
              <a:t>8</a:t>
            </a:fld>
            <a:endParaRPr kumimoji="1" lang="zh-TW" altLang="en-US"/>
          </a:p>
        </p:txBody>
      </p:sp>
    </p:spTree>
    <p:extLst>
      <p:ext uri="{BB962C8B-B14F-4D97-AF65-F5344CB8AC3E}">
        <p14:creationId xmlns:p14="http://schemas.microsoft.com/office/powerpoint/2010/main" val="1367437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kumimoji="1" lang="en-US" altLang="zh-TW" dirty="0"/>
              <a:t>Here, I demonstrate a real-world use case example </a:t>
            </a:r>
          </a:p>
          <a:p>
            <a:endParaRPr kumimoji="1" lang="en-US" altLang="zh-TW" dirty="0"/>
          </a:p>
          <a:p>
            <a:r>
              <a:rPr kumimoji="1" lang="en-US" altLang="zh-TW" dirty="0"/>
              <a:t>I used Shubert function as the case, which visualization looks something like below.</a:t>
            </a:r>
          </a:p>
          <a:p>
            <a:r>
              <a:rPr kumimoji="1" lang="en-US" altLang="zh-TW" dirty="0"/>
              <a:t>For this test, an individual is represented by a 2D vector, constrained within the bounds of -2 to 2. The theoretical global minimum for this function in this domain is -186.7309</a:t>
            </a:r>
          </a:p>
          <a:p>
            <a:endParaRPr kumimoji="1" lang="en-US" altLang="zh-TW" dirty="0"/>
          </a:p>
          <a:p>
            <a:r>
              <a:rPr kumimoji="1" lang="en-US" altLang="zh-TW" dirty="0"/>
              <a:t>On the right, you can see the actual terminal output from </a:t>
            </a:r>
            <a:r>
              <a:rPr kumimoji="1" lang="en-US" altLang="zh-TW" dirty="0" err="1"/>
              <a:t>FastGA</a:t>
            </a:r>
            <a:r>
              <a:rPr kumimoji="1" lang="en-US" altLang="zh-TW" dirty="0"/>
              <a:t> running this problem. </a:t>
            </a:r>
          </a:p>
          <a:p>
            <a:r>
              <a:rPr kumimoji="1" lang="en-US" altLang="zh-TW" dirty="0"/>
              <a:t>Within 1000 generation, </a:t>
            </a:r>
            <a:r>
              <a:rPr kumimoji="1" lang="en-US" altLang="zh-TW" dirty="0" err="1"/>
              <a:t>FastGA</a:t>
            </a:r>
            <a:r>
              <a:rPr kumimoji="1" lang="en-US" altLang="zh-TW" dirty="0"/>
              <a:t> successfully converged and found the best fitness value, which is nearly identical to the optimum.</a:t>
            </a:r>
            <a:endParaRPr kumimoji="1" lang="zh-TW" altLang="en-US"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9</a:t>
            </a:fld>
            <a:endParaRPr kumimoji="1" lang="zh-TW" altLang="en-US"/>
          </a:p>
        </p:txBody>
      </p:sp>
    </p:spTree>
    <p:extLst>
      <p:ext uri="{BB962C8B-B14F-4D97-AF65-F5344CB8AC3E}">
        <p14:creationId xmlns:p14="http://schemas.microsoft.com/office/powerpoint/2010/main" val="19073723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 altLang="zh-TW" b="0" i="0" u="none" strike="noStrike" dirty="0">
                <a:solidFill>
                  <a:srgbClr val="000000"/>
                </a:solidFill>
                <a:effectLst/>
                <a:latin typeface="-webkit-standard"/>
              </a:rPr>
              <a:t>And here is the final performance comparison, evaluating the scalability of different genetic algorithm implementations as we increase the number of generations from 1,000 to 10,000.</a:t>
            </a:r>
          </a:p>
          <a:p>
            <a:endParaRPr kumimoji="1" lang="en" altLang="zh-TW" b="0" i="0" u="none" strike="noStrike" dirty="0">
              <a:solidFill>
                <a:srgbClr val="000000"/>
              </a:solidFill>
              <a:effectLst/>
              <a:latin typeface="-webkit-standard"/>
            </a:endParaRPr>
          </a:p>
          <a:p>
            <a:r>
              <a:rPr kumimoji="1" lang="en-US" altLang="zh-TW" dirty="0"/>
              <a:t>The blue one is my proposal which is </a:t>
            </a:r>
            <a:r>
              <a:rPr kumimoji="1" lang="en-US" altLang="zh-TW" dirty="0" err="1"/>
              <a:t>fastGA</a:t>
            </a:r>
            <a:r>
              <a:rPr kumimoji="1" lang="en-US" altLang="zh-TW" dirty="0"/>
              <a:t>.</a:t>
            </a:r>
          </a:p>
          <a:p>
            <a:r>
              <a:rPr kumimoji="1" lang="en-US" altLang="zh-TW" dirty="0"/>
              <a:t>The orange one is </a:t>
            </a:r>
            <a:r>
              <a:rPr kumimoji="1" lang="en-US" altLang="zh-TW" dirty="0" err="1"/>
              <a:t>PyGAD</a:t>
            </a:r>
            <a:r>
              <a:rPr kumimoji="1" lang="en-US" altLang="zh-TW" dirty="0"/>
              <a:t> which is an open source Python library dedicated for building the genetic algorithm</a:t>
            </a:r>
          </a:p>
          <a:p>
            <a:r>
              <a:rPr kumimoji="1" lang="en-US" altLang="zh-TW" dirty="0"/>
              <a:t>And the green one use pure python to implement the algorithm.</a:t>
            </a:r>
          </a:p>
          <a:p>
            <a:endParaRPr kumimoji="1" lang="en-US" altLang="zh-TW" dirty="0"/>
          </a:p>
          <a:p>
            <a:r>
              <a:rPr kumimoji="1" lang="en-US" altLang="zh-TW" dirty="0"/>
              <a:t>As you can see, left hand side is </a:t>
            </a:r>
            <a:r>
              <a:rPr lang="en" altLang="zh-TW" b="0" i="0" u="none" strike="noStrike" dirty="0">
                <a:solidFill>
                  <a:srgbClr val="000000"/>
                </a:solidFill>
                <a:effectLst/>
                <a:latin typeface="-webkit-standard"/>
              </a:rPr>
              <a:t>the </a:t>
            </a:r>
            <a:r>
              <a:rPr lang="en" altLang="zh-TW" b="1" i="0" dirty="0">
                <a:solidFill>
                  <a:srgbClr val="000000"/>
                </a:solidFill>
                <a:effectLst/>
              </a:rPr>
              <a:t>Total Solve Time</a:t>
            </a:r>
            <a:r>
              <a:rPr lang="en" altLang="zh-TW" b="0" i="0" u="none" strike="noStrike" dirty="0">
                <a:solidFill>
                  <a:srgbClr val="000000"/>
                </a:solidFill>
                <a:effectLst/>
                <a:latin typeface="-webkit-standard"/>
              </a:rPr>
              <a:t>. </a:t>
            </a:r>
            <a:r>
              <a:rPr lang="en" altLang="zh-TW" b="0" i="0" u="none" strike="noStrike" dirty="0" err="1">
                <a:solidFill>
                  <a:srgbClr val="000000"/>
                </a:solidFill>
                <a:effectLst/>
                <a:latin typeface="-webkit-standard"/>
              </a:rPr>
              <a:t>PyGAD</a:t>
            </a:r>
            <a:r>
              <a:rPr lang="en" altLang="zh-TW" b="0" i="0" u="none" strike="noStrike" dirty="0">
                <a:solidFill>
                  <a:srgbClr val="000000"/>
                </a:solidFill>
                <a:effectLst/>
                <a:latin typeface="-webkit-standard"/>
              </a:rPr>
              <a:t> actually use the longest time to finish the work. While </a:t>
            </a:r>
            <a:r>
              <a:rPr lang="en" altLang="zh-TW" b="0" i="0" u="none" strike="noStrike" dirty="0" err="1">
                <a:solidFill>
                  <a:srgbClr val="000000"/>
                </a:solidFill>
                <a:effectLst/>
                <a:latin typeface="-webkit-standard"/>
              </a:rPr>
              <a:t>FastGA</a:t>
            </a:r>
            <a:r>
              <a:rPr lang="en" altLang="zh-TW" b="0" i="0" u="none" strike="noStrike" dirty="0">
                <a:solidFill>
                  <a:srgbClr val="000000"/>
                </a:solidFill>
                <a:effectLst/>
                <a:latin typeface="-webkit-standard"/>
              </a:rPr>
              <a:t> is the fastest one due to its lightweight framework.</a:t>
            </a:r>
          </a:p>
          <a:p>
            <a:endParaRPr kumimoji="1" lang="en" altLang="zh-TW" b="0" i="0" u="none" strike="noStrike" dirty="0">
              <a:solidFill>
                <a:srgbClr val="000000"/>
              </a:solidFill>
              <a:effectLst/>
              <a:latin typeface="-webkit-standard"/>
            </a:endParaRPr>
          </a:p>
          <a:p>
            <a:r>
              <a:rPr lang="en" altLang="zh-TW" b="0" i="0" u="none" strike="noStrike" dirty="0">
                <a:solidFill>
                  <a:srgbClr val="000000"/>
                </a:solidFill>
                <a:effectLst/>
                <a:latin typeface="-webkit-standard"/>
              </a:rPr>
              <a:t>the right hand side is </a:t>
            </a:r>
            <a:r>
              <a:rPr lang="en" altLang="zh-TW" b="1" i="0" dirty="0">
                <a:solidFill>
                  <a:srgbClr val="000000"/>
                </a:solidFill>
                <a:effectLst/>
              </a:rPr>
              <a:t>Average Time per Generation</a:t>
            </a:r>
            <a:r>
              <a:rPr lang="en" altLang="zh-TW" b="0" i="0" u="none" strike="noStrike" dirty="0">
                <a:solidFill>
                  <a:srgbClr val="000000"/>
                </a:solidFill>
                <a:effectLst/>
                <a:latin typeface="-webkit-standard"/>
              </a:rPr>
              <a:t>. The lines are horizontal, meaning the cost per generation is constant. But the gap between them is staggering. </a:t>
            </a:r>
            <a:r>
              <a:rPr lang="en" altLang="zh-TW" b="0" i="0" u="none" strike="noStrike" dirty="0" err="1">
                <a:solidFill>
                  <a:srgbClr val="000000"/>
                </a:solidFill>
                <a:effectLst/>
                <a:latin typeface="-webkit-standard"/>
              </a:rPr>
              <a:t>FastGA</a:t>
            </a:r>
            <a:r>
              <a:rPr lang="en" altLang="zh-TW" b="0" i="0" u="none" strike="noStrike" dirty="0">
                <a:solidFill>
                  <a:srgbClr val="000000"/>
                </a:solidFill>
                <a:effectLst/>
                <a:latin typeface="-webkit-standard"/>
              </a:rPr>
              <a:t> takes significantly less time per generation than both </a:t>
            </a:r>
            <a:r>
              <a:rPr lang="en" altLang="zh-TW" b="0" i="0" u="none" strike="noStrike" dirty="0" err="1">
                <a:solidFill>
                  <a:srgbClr val="000000"/>
                </a:solidFill>
                <a:effectLst/>
                <a:latin typeface="-webkit-standard"/>
              </a:rPr>
              <a:t>PyGAD</a:t>
            </a:r>
            <a:r>
              <a:rPr lang="en" altLang="zh-TW" b="0" i="0" u="none" strike="noStrike" dirty="0">
                <a:solidFill>
                  <a:srgbClr val="000000"/>
                </a:solidFill>
                <a:effectLst/>
                <a:latin typeface="-webkit-standard"/>
              </a:rPr>
              <a:t> and pure Python.</a:t>
            </a:r>
            <a:endParaRPr kumimoji="1" lang="en-US" altLang="zh-TW"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10</a:t>
            </a:fld>
            <a:endParaRPr kumimoji="1" lang="zh-TW" altLang="en-US"/>
          </a:p>
        </p:txBody>
      </p:sp>
    </p:spTree>
    <p:extLst>
      <p:ext uri="{BB962C8B-B14F-4D97-AF65-F5344CB8AC3E}">
        <p14:creationId xmlns:p14="http://schemas.microsoft.com/office/powerpoint/2010/main" val="1976179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kumimoji="1" lang="zh-TW" altLang="en-US" dirty="0"/>
          </a:p>
        </p:txBody>
      </p:sp>
      <p:sp>
        <p:nvSpPr>
          <p:cNvPr id="4" name="投影片編號版面配置區 3"/>
          <p:cNvSpPr>
            <a:spLocks noGrp="1"/>
          </p:cNvSpPr>
          <p:nvPr>
            <p:ph type="sldNum" sz="quarter" idx="5"/>
          </p:nvPr>
        </p:nvSpPr>
        <p:spPr/>
        <p:txBody>
          <a:bodyPr/>
          <a:lstStyle/>
          <a:p>
            <a:fld id="{EF62C0EE-C242-5746-9FAB-0DCCE6A9DD1F}" type="slidenum">
              <a:rPr kumimoji="1" lang="zh-TW" altLang="en-US" smtClean="0"/>
              <a:t>11</a:t>
            </a:fld>
            <a:endParaRPr kumimoji="1" lang="zh-TW" altLang="en-US"/>
          </a:p>
        </p:txBody>
      </p:sp>
    </p:spTree>
    <p:extLst>
      <p:ext uri="{BB962C8B-B14F-4D97-AF65-F5344CB8AC3E}">
        <p14:creationId xmlns:p14="http://schemas.microsoft.com/office/powerpoint/2010/main" val="18790408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CDAAC09-5C78-FD35-1672-2C1DC09637BE}"/>
              </a:ext>
            </a:extLst>
          </p:cNvPr>
          <p:cNvSpPr>
            <a:spLocks noGrp="1"/>
          </p:cNvSpPr>
          <p:nvPr>
            <p:ph type="ctrTitle"/>
          </p:nvPr>
        </p:nvSpPr>
        <p:spPr>
          <a:xfrm>
            <a:off x="1524000" y="1122363"/>
            <a:ext cx="9144000" cy="2387600"/>
          </a:xfrm>
        </p:spPr>
        <p:txBody>
          <a:bodyPr anchor="b"/>
          <a:lstStyle>
            <a:lvl1pPr algn="ctr">
              <a:defRPr sz="6000"/>
            </a:lvl1pPr>
          </a:lstStyle>
          <a:p>
            <a:r>
              <a:rPr kumimoji="1" lang="zh-TW" altLang="en-US"/>
              <a:t>按一下以編輯母片標題樣式</a:t>
            </a:r>
          </a:p>
        </p:txBody>
      </p:sp>
      <p:sp>
        <p:nvSpPr>
          <p:cNvPr id="3" name="副標題 2">
            <a:extLst>
              <a:ext uri="{FF2B5EF4-FFF2-40B4-BE49-F238E27FC236}">
                <a16:creationId xmlns:a16="http://schemas.microsoft.com/office/drawing/2014/main" id="{891D0FCA-299C-E224-43F7-44C36A7346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TW" altLang="en-US"/>
              <a:t>按一下以編輯母片子標題樣式</a:t>
            </a:r>
          </a:p>
        </p:txBody>
      </p:sp>
      <p:sp>
        <p:nvSpPr>
          <p:cNvPr id="4" name="日期版面配置區 3">
            <a:extLst>
              <a:ext uri="{FF2B5EF4-FFF2-40B4-BE49-F238E27FC236}">
                <a16:creationId xmlns:a16="http://schemas.microsoft.com/office/drawing/2014/main" id="{F1598604-055A-9D30-4FA6-97F2F1F9E79E}"/>
              </a:ext>
            </a:extLst>
          </p:cNvPr>
          <p:cNvSpPr>
            <a:spLocks noGrp="1"/>
          </p:cNvSpPr>
          <p:nvPr>
            <p:ph type="dt" sz="half" idx="10"/>
          </p:nvPr>
        </p:nvSpPr>
        <p:spPr/>
        <p:txBody>
          <a:bodyPr/>
          <a:lstStyle/>
          <a:p>
            <a:fld id="{A80B1318-478A-D843-BADE-BC581B96B767}"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03AC4670-28F2-212D-717D-B9CF6E60AE69}"/>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87A6D097-0D08-98B1-43AB-A5DABFFBB70D}"/>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2585145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826D137-9B21-32D9-CE23-9915D2F38D41}"/>
              </a:ext>
            </a:extLst>
          </p:cNvPr>
          <p:cNvSpPr>
            <a:spLocks noGrp="1"/>
          </p:cNvSpPr>
          <p:nvPr>
            <p:ph type="title"/>
          </p:nvPr>
        </p:nvSpPr>
        <p:spPr/>
        <p:txBody>
          <a:bodyPr/>
          <a:lstStyle/>
          <a:p>
            <a:r>
              <a:rPr kumimoji="1" lang="zh-TW" altLang="en-US"/>
              <a:t>按一下以編輯母片標題樣式</a:t>
            </a:r>
          </a:p>
        </p:txBody>
      </p:sp>
      <p:sp>
        <p:nvSpPr>
          <p:cNvPr id="3" name="內容版面配置區 2">
            <a:extLst>
              <a:ext uri="{FF2B5EF4-FFF2-40B4-BE49-F238E27FC236}">
                <a16:creationId xmlns:a16="http://schemas.microsoft.com/office/drawing/2014/main" id="{96BD6CD8-58DD-916F-9782-D4FDAA57342F}"/>
              </a:ext>
            </a:extLst>
          </p:cNvPr>
          <p:cNvSpPr>
            <a:spLocks noGrp="1"/>
          </p:cNvSpPr>
          <p:nvPr>
            <p:ph idx="1"/>
          </p:nvPr>
        </p:nvSpPr>
        <p:spPr/>
        <p:txBody>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日期版面配置區 3">
            <a:extLst>
              <a:ext uri="{FF2B5EF4-FFF2-40B4-BE49-F238E27FC236}">
                <a16:creationId xmlns:a16="http://schemas.microsoft.com/office/drawing/2014/main" id="{E9A0DCDE-975A-B9B6-A369-33F5EB7D4D7D}"/>
              </a:ext>
            </a:extLst>
          </p:cNvPr>
          <p:cNvSpPr>
            <a:spLocks noGrp="1"/>
          </p:cNvSpPr>
          <p:nvPr>
            <p:ph type="dt" sz="half" idx="10"/>
          </p:nvPr>
        </p:nvSpPr>
        <p:spPr/>
        <p:txBody>
          <a:bodyPr/>
          <a:lstStyle/>
          <a:p>
            <a:fld id="{FA4E1ED5-6A9A-7945-A2F3-1DBB0100D908}"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BFA3F78F-5C3C-9680-2628-E82B8B74A912}"/>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366EBB41-DAE7-9ED2-DA84-58764F10BAC7}"/>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427255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68B3C855-9615-D018-F863-4044E31F9562}"/>
              </a:ext>
            </a:extLst>
          </p:cNvPr>
          <p:cNvSpPr>
            <a:spLocks noGrp="1"/>
          </p:cNvSpPr>
          <p:nvPr>
            <p:ph type="title"/>
          </p:nvPr>
        </p:nvSpPr>
        <p:spPr>
          <a:xfrm>
            <a:off x="831850" y="1709738"/>
            <a:ext cx="10515600" cy="2852737"/>
          </a:xfrm>
        </p:spPr>
        <p:txBody>
          <a:bodyPr anchor="b"/>
          <a:lstStyle>
            <a:lvl1pPr>
              <a:defRPr sz="6000"/>
            </a:lvl1pPr>
          </a:lstStyle>
          <a:p>
            <a:r>
              <a:rPr kumimoji="1" lang="zh-TW" altLang="en-US"/>
              <a:t>按一下以編輯母片標題樣式</a:t>
            </a:r>
          </a:p>
        </p:txBody>
      </p:sp>
      <p:sp>
        <p:nvSpPr>
          <p:cNvPr id="3" name="文字版面配置區 2">
            <a:extLst>
              <a:ext uri="{FF2B5EF4-FFF2-40B4-BE49-F238E27FC236}">
                <a16:creationId xmlns:a16="http://schemas.microsoft.com/office/drawing/2014/main" id="{0EA3FCE4-5C2F-A708-745D-8C64114DE4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TW" altLang="en-US"/>
              <a:t>按一下以編輯母片文字樣式</a:t>
            </a:r>
          </a:p>
        </p:txBody>
      </p:sp>
      <p:sp>
        <p:nvSpPr>
          <p:cNvPr id="4" name="日期版面配置區 3">
            <a:extLst>
              <a:ext uri="{FF2B5EF4-FFF2-40B4-BE49-F238E27FC236}">
                <a16:creationId xmlns:a16="http://schemas.microsoft.com/office/drawing/2014/main" id="{0D07C97F-9E4B-B505-B4F0-C89272F179DB}"/>
              </a:ext>
            </a:extLst>
          </p:cNvPr>
          <p:cNvSpPr>
            <a:spLocks noGrp="1"/>
          </p:cNvSpPr>
          <p:nvPr>
            <p:ph type="dt" sz="half" idx="10"/>
          </p:nvPr>
        </p:nvSpPr>
        <p:spPr/>
        <p:txBody>
          <a:bodyPr/>
          <a:lstStyle/>
          <a:p>
            <a:fld id="{AF1E2C56-4405-BE4A-A889-C020227D5339}"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02045927-CF9E-D9CB-42DE-DF79D7A8D79A}"/>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7EA1F416-4A57-1B5D-821D-FBADD6C88936}"/>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34038634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42F3D6FC-DFD1-54BB-0F30-792560771F54}"/>
              </a:ext>
            </a:extLst>
          </p:cNvPr>
          <p:cNvSpPr>
            <a:spLocks noGrp="1"/>
          </p:cNvSpPr>
          <p:nvPr>
            <p:ph type="title"/>
          </p:nvPr>
        </p:nvSpPr>
        <p:spPr/>
        <p:txBody>
          <a:bodyPr/>
          <a:lstStyle/>
          <a:p>
            <a:r>
              <a:rPr kumimoji="1" lang="zh-TW" altLang="en-US"/>
              <a:t>按一下以編輯母片標題樣式</a:t>
            </a:r>
          </a:p>
        </p:txBody>
      </p:sp>
      <p:sp>
        <p:nvSpPr>
          <p:cNvPr id="3" name="內容版面配置區 2">
            <a:extLst>
              <a:ext uri="{FF2B5EF4-FFF2-40B4-BE49-F238E27FC236}">
                <a16:creationId xmlns:a16="http://schemas.microsoft.com/office/drawing/2014/main" id="{E87CDF87-B4D3-482B-A4CF-9FD8AE0739AE}"/>
              </a:ext>
            </a:extLst>
          </p:cNvPr>
          <p:cNvSpPr>
            <a:spLocks noGrp="1"/>
          </p:cNvSpPr>
          <p:nvPr>
            <p:ph sz="half" idx="1"/>
          </p:nvPr>
        </p:nvSpPr>
        <p:spPr>
          <a:xfrm>
            <a:off x="838200" y="1825625"/>
            <a:ext cx="5181600" cy="4351338"/>
          </a:xfrm>
        </p:spPr>
        <p:txBody>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內容版面配置區 3">
            <a:extLst>
              <a:ext uri="{FF2B5EF4-FFF2-40B4-BE49-F238E27FC236}">
                <a16:creationId xmlns:a16="http://schemas.microsoft.com/office/drawing/2014/main" id="{2564C0E0-8400-20A1-7381-04BA3A344ED1}"/>
              </a:ext>
            </a:extLst>
          </p:cNvPr>
          <p:cNvSpPr>
            <a:spLocks noGrp="1"/>
          </p:cNvSpPr>
          <p:nvPr>
            <p:ph sz="half" idx="2"/>
          </p:nvPr>
        </p:nvSpPr>
        <p:spPr>
          <a:xfrm>
            <a:off x="6172200" y="1825625"/>
            <a:ext cx="5181600" cy="4351338"/>
          </a:xfrm>
        </p:spPr>
        <p:txBody>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5" name="日期版面配置區 4">
            <a:extLst>
              <a:ext uri="{FF2B5EF4-FFF2-40B4-BE49-F238E27FC236}">
                <a16:creationId xmlns:a16="http://schemas.microsoft.com/office/drawing/2014/main" id="{5FF8EA9C-936F-57AE-1E67-994DCB33869C}"/>
              </a:ext>
            </a:extLst>
          </p:cNvPr>
          <p:cNvSpPr>
            <a:spLocks noGrp="1"/>
          </p:cNvSpPr>
          <p:nvPr>
            <p:ph type="dt" sz="half" idx="10"/>
          </p:nvPr>
        </p:nvSpPr>
        <p:spPr/>
        <p:txBody>
          <a:bodyPr/>
          <a:lstStyle/>
          <a:p>
            <a:fld id="{E3A28710-53C3-DB4E-858C-604641D5CBFB}" type="datetime1">
              <a:rPr kumimoji="1" lang="zh-TW" altLang="en-US" smtClean="0"/>
              <a:t>2026/6/7</a:t>
            </a:fld>
            <a:endParaRPr kumimoji="1" lang="zh-TW" altLang="en-US"/>
          </a:p>
        </p:txBody>
      </p:sp>
      <p:sp>
        <p:nvSpPr>
          <p:cNvPr id="6" name="頁尾版面配置區 5">
            <a:extLst>
              <a:ext uri="{FF2B5EF4-FFF2-40B4-BE49-F238E27FC236}">
                <a16:creationId xmlns:a16="http://schemas.microsoft.com/office/drawing/2014/main" id="{C773ACC4-91C0-04FE-BA85-D7AFDF816483}"/>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7" name="投影片編號版面配置區 6">
            <a:extLst>
              <a:ext uri="{FF2B5EF4-FFF2-40B4-BE49-F238E27FC236}">
                <a16:creationId xmlns:a16="http://schemas.microsoft.com/office/drawing/2014/main" id="{5FD14F98-165B-46E9-1977-61A587D68035}"/>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1952646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D0F4BF6-3B1D-47BF-417E-B6D3B080E5CC}"/>
              </a:ext>
            </a:extLst>
          </p:cNvPr>
          <p:cNvSpPr>
            <a:spLocks noGrp="1"/>
          </p:cNvSpPr>
          <p:nvPr>
            <p:ph type="title"/>
          </p:nvPr>
        </p:nvSpPr>
        <p:spPr>
          <a:xfrm>
            <a:off x="839788" y="365125"/>
            <a:ext cx="10515600" cy="1325563"/>
          </a:xfrm>
        </p:spPr>
        <p:txBody>
          <a:bodyPr/>
          <a:lstStyle/>
          <a:p>
            <a:r>
              <a:rPr kumimoji="1" lang="zh-TW" altLang="en-US"/>
              <a:t>按一下以編輯母片標題樣式</a:t>
            </a:r>
          </a:p>
        </p:txBody>
      </p:sp>
      <p:sp>
        <p:nvSpPr>
          <p:cNvPr id="3" name="文字版面配置區 2">
            <a:extLst>
              <a:ext uri="{FF2B5EF4-FFF2-40B4-BE49-F238E27FC236}">
                <a16:creationId xmlns:a16="http://schemas.microsoft.com/office/drawing/2014/main" id="{CB76EB4B-2363-B524-7C83-8D3020A7AB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TW" altLang="en-US"/>
              <a:t>按一下以編輯母片文字樣式</a:t>
            </a:r>
          </a:p>
        </p:txBody>
      </p:sp>
      <p:sp>
        <p:nvSpPr>
          <p:cNvPr id="4" name="內容版面配置區 3">
            <a:extLst>
              <a:ext uri="{FF2B5EF4-FFF2-40B4-BE49-F238E27FC236}">
                <a16:creationId xmlns:a16="http://schemas.microsoft.com/office/drawing/2014/main" id="{7314837A-CDB0-0F04-A6B5-F9F818C00A8C}"/>
              </a:ext>
            </a:extLst>
          </p:cNvPr>
          <p:cNvSpPr>
            <a:spLocks noGrp="1"/>
          </p:cNvSpPr>
          <p:nvPr>
            <p:ph sz="half" idx="2"/>
          </p:nvPr>
        </p:nvSpPr>
        <p:spPr>
          <a:xfrm>
            <a:off x="839788" y="2505075"/>
            <a:ext cx="5157787" cy="3684588"/>
          </a:xfrm>
        </p:spPr>
        <p:txBody>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5" name="文字版面配置區 4">
            <a:extLst>
              <a:ext uri="{FF2B5EF4-FFF2-40B4-BE49-F238E27FC236}">
                <a16:creationId xmlns:a16="http://schemas.microsoft.com/office/drawing/2014/main" id="{52484775-A37B-7557-FBF9-286418881EB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TW" altLang="en-US"/>
              <a:t>按一下以編輯母片文字樣式</a:t>
            </a:r>
          </a:p>
        </p:txBody>
      </p:sp>
      <p:sp>
        <p:nvSpPr>
          <p:cNvPr id="6" name="內容版面配置區 5">
            <a:extLst>
              <a:ext uri="{FF2B5EF4-FFF2-40B4-BE49-F238E27FC236}">
                <a16:creationId xmlns:a16="http://schemas.microsoft.com/office/drawing/2014/main" id="{CE6CA20F-79C7-6A29-6C5F-1B39BFF519B1}"/>
              </a:ext>
            </a:extLst>
          </p:cNvPr>
          <p:cNvSpPr>
            <a:spLocks noGrp="1"/>
          </p:cNvSpPr>
          <p:nvPr>
            <p:ph sz="quarter" idx="4"/>
          </p:nvPr>
        </p:nvSpPr>
        <p:spPr>
          <a:xfrm>
            <a:off x="6172200" y="2505075"/>
            <a:ext cx="5183188" cy="3684588"/>
          </a:xfrm>
        </p:spPr>
        <p:txBody>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7" name="日期版面配置區 6">
            <a:extLst>
              <a:ext uri="{FF2B5EF4-FFF2-40B4-BE49-F238E27FC236}">
                <a16:creationId xmlns:a16="http://schemas.microsoft.com/office/drawing/2014/main" id="{E7E45A56-61CB-D6DE-D016-775CF5FCF760}"/>
              </a:ext>
            </a:extLst>
          </p:cNvPr>
          <p:cNvSpPr>
            <a:spLocks noGrp="1"/>
          </p:cNvSpPr>
          <p:nvPr>
            <p:ph type="dt" sz="half" idx="10"/>
          </p:nvPr>
        </p:nvSpPr>
        <p:spPr/>
        <p:txBody>
          <a:bodyPr/>
          <a:lstStyle/>
          <a:p>
            <a:fld id="{FE16CBCC-7E4E-BD42-BD43-1BF6C9005F67}" type="datetime1">
              <a:rPr kumimoji="1" lang="zh-TW" altLang="en-US" smtClean="0"/>
              <a:t>2026/6/7</a:t>
            </a:fld>
            <a:endParaRPr kumimoji="1" lang="zh-TW" altLang="en-US"/>
          </a:p>
        </p:txBody>
      </p:sp>
      <p:sp>
        <p:nvSpPr>
          <p:cNvPr id="8" name="頁尾版面配置區 7">
            <a:extLst>
              <a:ext uri="{FF2B5EF4-FFF2-40B4-BE49-F238E27FC236}">
                <a16:creationId xmlns:a16="http://schemas.microsoft.com/office/drawing/2014/main" id="{EFC6DF98-7CDA-FEB5-5E80-3DEC43496BB5}"/>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9" name="投影片編號版面配置區 8">
            <a:extLst>
              <a:ext uri="{FF2B5EF4-FFF2-40B4-BE49-F238E27FC236}">
                <a16:creationId xmlns:a16="http://schemas.microsoft.com/office/drawing/2014/main" id="{67943B9D-7268-5686-37D1-BB0EB1D06DAD}"/>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25538825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B88DA0E-FD7D-B0C4-4922-D99970CF7C78}"/>
              </a:ext>
            </a:extLst>
          </p:cNvPr>
          <p:cNvSpPr>
            <a:spLocks noGrp="1"/>
          </p:cNvSpPr>
          <p:nvPr>
            <p:ph type="title"/>
          </p:nvPr>
        </p:nvSpPr>
        <p:spPr/>
        <p:txBody>
          <a:bodyPr/>
          <a:lstStyle/>
          <a:p>
            <a:r>
              <a:rPr kumimoji="1" lang="zh-TW" altLang="en-US"/>
              <a:t>按一下以編輯母片標題樣式</a:t>
            </a:r>
          </a:p>
        </p:txBody>
      </p:sp>
      <p:sp>
        <p:nvSpPr>
          <p:cNvPr id="3" name="日期版面配置區 2">
            <a:extLst>
              <a:ext uri="{FF2B5EF4-FFF2-40B4-BE49-F238E27FC236}">
                <a16:creationId xmlns:a16="http://schemas.microsoft.com/office/drawing/2014/main" id="{087AD248-A778-10FA-6C8C-8FFC299F9094}"/>
              </a:ext>
            </a:extLst>
          </p:cNvPr>
          <p:cNvSpPr>
            <a:spLocks noGrp="1"/>
          </p:cNvSpPr>
          <p:nvPr>
            <p:ph type="dt" sz="half" idx="10"/>
          </p:nvPr>
        </p:nvSpPr>
        <p:spPr/>
        <p:txBody>
          <a:bodyPr/>
          <a:lstStyle/>
          <a:p>
            <a:fld id="{756D16A6-F9E3-8A4A-826D-0363DCFFCFE1}" type="datetime1">
              <a:rPr kumimoji="1" lang="zh-TW" altLang="en-US" smtClean="0"/>
              <a:t>2026/6/7</a:t>
            </a:fld>
            <a:endParaRPr kumimoji="1" lang="zh-TW" altLang="en-US"/>
          </a:p>
        </p:txBody>
      </p:sp>
      <p:sp>
        <p:nvSpPr>
          <p:cNvPr id="4" name="頁尾版面配置區 3">
            <a:extLst>
              <a:ext uri="{FF2B5EF4-FFF2-40B4-BE49-F238E27FC236}">
                <a16:creationId xmlns:a16="http://schemas.microsoft.com/office/drawing/2014/main" id="{1DB3A1F8-BD29-0BC5-F273-E1656AB43B64}"/>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5" name="投影片編號版面配置區 4">
            <a:extLst>
              <a:ext uri="{FF2B5EF4-FFF2-40B4-BE49-F238E27FC236}">
                <a16:creationId xmlns:a16="http://schemas.microsoft.com/office/drawing/2014/main" id="{090C9ACA-3705-7371-3BB2-F03C9E1BE099}"/>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16323579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BB53CF8A-7B5D-D748-F773-5E07C0854877}"/>
              </a:ext>
            </a:extLst>
          </p:cNvPr>
          <p:cNvSpPr>
            <a:spLocks noGrp="1"/>
          </p:cNvSpPr>
          <p:nvPr>
            <p:ph type="dt" sz="half" idx="10"/>
          </p:nvPr>
        </p:nvSpPr>
        <p:spPr/>
        <p:txBody>
          <a:bodyPr/>
          <a:lstStyle/>
          <a:p>
            <a:fld id="{B8C76A40-DA66-2747-B277-76D3CE384470}" type="datetime1">
              <a:rPr kumimoji="1" lang="zh-TW" altLang="en-US" smtClean="0"/>
              <a:t>2026/6/7</a:t>
            </a:fld>
            <a:endParaRPr kumimoji="1" lang="zh-TW" altLang="en-US"/>
          </a:p>
        </p:txBody>
      </p:sp>
      <p:sp>
        <p:nvSpPr>
          <p:cNvPr id="3" name="頁尾版面配置區 2">
            <a:extLst>
              <a:ext uri="{FF2B5EF4-FFF2-40B4-BE49-F238E27FC236}">
                <a16:creationId xmlns:a16="http://schemas.microsoft.com/office/drawing/2014/main" id="{5BEA30ED-0897-E32D-18DF-D198D53D1B02}"/>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4" name="投影片編號版面配置區 3">
            <a:extLst>
              <a:ext uri="{FF2B5EF4-FFF2-40B4-BE49-F238E27FC236}">
                <a16:creationId xmlns:a16="http://schemas.microsoft.com/office/drawing/2014/main" id="{EB783953-7CCF-2E47-5564-3159D9E319AA}"/>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997275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509563F-AA64-192C-F18B-CCB4E128EFBD}"/>
              </a:ext>
            </a:extLst>
          </p:cNvPr>
          <p:cNvSpPr>
            <a:spLocks noGrp="1"/>
          </p:cNvSpPr>
          <p:nvPr>
            <p:ph type="title"/>
          </p:nvPr>
        </p:nvSpPr>
        <p:spPr>
          <a:xfrm>
            <a:off x="839788" y="457200"/>
            <a:ext cx="3932237" cy="1600200"/>
          </a:xfrm>
        </p:spPr>
        <p:txBody>
          <a:bodyPr anchor="b"/>
          <a:lstStyle>
            <a:lvl1pPr>
              <a:defRPr sz="3200"/>
            </a:lvl1pPr>
          </a:lstStyle>
          <a:p>
            <a:r>
              <a:rPr kumimoji="1" lang="zh-TW" altLang="en-US"/>
              <a:t>按一下以編輯母片標題樣式</a:t>
            </a:r>
          </a:p>
        </p:txBody>
      </p:sp>
      <p:sp>
        <p:nvSpPr>
          <p:cNvPr id="3" name="內容版面配置區 2">
            <a:extLst>
              <a:ext uri="{FF2B5EF4-FFF2-40B4-BE49-F238E27FC236}">
                <a16:creationId xmlns:a16="http://schemas.microsoft.com/office/drawing/2014/main" id="{24477898-2144-A12A-6A5E-005C6A5A698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文字版面配置區 3">
            <a:extLst>
              <a:ext uri="{FF2B5EF4-FFF2-40B4-BE49-F238E27FC236}">
                <a16:creationId xmlns:a16="http://schemas.microsoft.com/office/drawing/2014/main" id="{51C3C12F-471E-3C98-D8FE-C484051562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TW" altLang="en-US"/>
              <a:t>按一下以編輯母片文字樣式</a:t>
            </a:r>
          </a:p>
        </p:txBody>
      </p:sp>
      <p:sp>
        <p:nvSpPr>
          <p:cNvPr id="5" name="日期版面配置區 4">
            <a:extLst>
              <a:ext uri="{FF2B5EF4-FFF2-40B4-BE49-F238E27FC236}">
                <a16:creationId xmlns:a16="http://schemas.microsoft.com/office/drawing/2014/main" id="{F4996717-8017-E198-9CDD-A7733C026B73}"/>
              </a:ext>
            </a:extLst>
          </p:cNvPr>
          <p:cNvSpPr>
            <a:spLocks noGrp="1"/>
          </p:cNvSpPr>
          <p:nvPr>
            <p:ph type="dt" sz="half" idx="10"/>
          </p:nvPr>
        </p:nvSpPr>
        <p:spPr/>
        <p:txBody>
          <a:bodyPr/>
          <a:lstStyle/>
          <a:p>
            <a:fld id="{79907793-72D8-D24C-90CE-E51B706AD8D3}" type="datetime1">
              <a:rPr kumimoji="1" lang="zh-TW" altLang="en-US" smtClean="0"/>
              <a:t>2026/6/7</a:t>
            </a:fld>
            <a:endParaRPr kumimoji="1" lang="zh-TW" altLang="en-US"/>
          </a:p>
        </p:txBody>
      </p:sp>
      <p:sp>
        <p:nvSpPr>
          <p:cNvPr id="6" name="頁尾版面配置區 5">
            <a:extLst>
              <a:ext uri="{FF2B5EF4-FFF2-40B4-BE49-F238E27FC236}">
                <a16:creationId xmlns:a16="http://schemas.microsoft.com/office/drawing/2014/main" id="{155B2FE8-C75C-F302-8C61-F9BAD73C2A54}"/>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7" name="投影片編號版面配置區 6">
            <a:extLst>
              <a:ext uri="{FF2B5EF4-FFF2-40B4-BE49-F238E27FC236}">
                <a16:creationId xmlns:a16="http://schemas.microsoft.com/office/drawing/2014/main" id="{C3F82BF2-E924-17B4-F870-A9EB254420E8}"/>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1779502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520EC78-AFCA-A9F5-14B8-966A2C587344}"/>
              </a:ext>
            </a:extLst>
          </p:cNvPr>
          <p:cNvSpPr>
            <a:spLocks noGrp="1"/>
          </p:cNvSpPr>
          <p:nvPr>
            <p:ph type="title"/>
          </p:nvPr>
        </p:nvSpPr>
        <p:spPr>
          <a:xfrm>
            <a:off x="839788" y="457200"/>
            <a:ext cx="3932237" cy="1600200"/>
          </a:xfrm>
        </p:spPr>
        <p:txBody>
          <a:bodyPr anchor="b"/>
          <a:lstStyle>
            <a:lvl1pPr>
              <a:defRPr sz="3200"/>
            </a:lvl1pPr>
          </a:lstStyle>
          <a:p>
            <a:r>
              <a:rPr kumimoji="1" lang="zh-TW" altLang="en-US"/>
              <a:t>按一下以編輯母片標題樣式</a:t>
            </a:r>
          </a:p>
        </p:txBody>
      </p:sp>
      <p:sp>
        <p:nvSpPr>
          <p:cNvPr id="3" name="圖片版面配置區 2">
            <a:extLst>
              <a:ext uri="{FF2B5EF4-FFF2-40B4-BE49-F238E27FC236}">
                <a16:creationId xmlns:a16="http://schemas.microsoft.com/office/drawing/2014/main" id="{38ECF935-6F6C-ADAD-C0FC-F6AF1B7EE9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TW" altLang="en-US"/>
          </a:p>
        </p:txBody>
      </p:sp>
      <p:sp>
        <p:nvSpPr>
          <p:cNvPr id="4" name="文字版面配置區 3">
            <a:extLst>
              <a:ext uri="{FF2B5EF4-FFF2-40B4-BE49-F238E27FC236}">
                <a16:creationId xmlns:a16="http://schemas.microsoft.com/office/drawing/2014/main" id="{A13F7314-D5CC-2DE0-19C6-F1A970D0BB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TW" altLang="en-US"/>
              <a:t>按一下以編輯母片文字樣式</a:t>
            </a:r>
          </a:p>
        </p:txBody>
      </p:sp>
      <p:sp>
        <p:nvSpPr>
          <p:cNvPr id="5" name="日期版面配置區 4">
            <a:extLst>
              <a:ext uri="{FF2B5EF4-FFF2-40B4-BE49-F238E27FC236}">
                <a16:creationId xmlns:a16="http://schemas.microsoft.com/office/drawing/2014/main" id="{9D392E74-9BDE-58E2-D7D2-80039DFED6CE}"/>
              </a:ext>
            </a:extLst>
          </p:cNvPr>
          <p:cNvSpPr>
            <a:spLocks noGrp="1"/>
          </p:cNvSpPr>
          <p:nvPr>
            <p:ph type="dt" sz="half" idx="10"/>
          </p:nvPr>
        </p:nvSpPr>
        <p:spPr/>
        <p:txBody>
          <a:bodyPr/>
          <a:lstStyle/>
          <a:p>
            <a:fld id="{EBEF28F5-A652-D544-AC11-A82A64077DCC}" type="datetime1">
              <a:rPr kumimoji="1" lang="zh-TW" altLang="en-US" smtClean="0"/>
              <a:t>2026/6/7</a:t>
            </a:fld>
            <a:endParaRPr kumimoji="1" lang="zh-TW" altLang="en-US"/>
          </a:p>
        </p:txBody>
      </p:sp>
      <p:sp>
        <p:nvSpPr>
          <p:cNvPr id="6" name="頁尾版面配置區 5">
            <a:extLst>
              <a:ext uri="{FF2B5EF4-FFF2-40B4-BE49-F238E27FC236}">
                <a16:creationId xmlns:a16="http://schemas.microsoft.com/office/drawing/2014/main" id="{E35BC019-0F9A-11EF-3BFB-71102E638489}"/>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7" name="投影片編號版面配置區 6">
            <a:extLst>
              <a:ext uri="{FF2B5EF4-FFF2-40B4-BE49-F238E27FC236}">
                <a16:creationId xmlns:a16="http://schemas.microsoft.com/office/drawing/2014/main" id="{01B6A834-1ED3-577F-88B1-05D3C3BC6AE5}"/>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22470414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C589B25-6799-1F16-4A85-B9CFF1B999BD}"/>
              </a:ext>
            </a:extLst>
          </p:cNvPr>
          <p:cNvSpPr>
            <a:spLocks noGrp="1"/>
          </p:cNvSpPr>
          <p:nvPr>
            <p:ph type="title"/>
          </p:nvPr>
        </p:nvSpPr>
        <p:spPr/>
        <p:txBody>
          <a:bodyPr/>
          <a:lstStyle/>
          <a:p>
            <a:r>
              <a:rPr kumimoji="1" lang="zh-TW" altLang="en-US"/>
              <a:t>按一下以編輯母片標題樣式</a:t>
            </a:r>
          </a:p>
        </p:txBody>
      </p:sp>
      <p:sp>
        <p:nvSpPr>
          <p:cNvPr id="3" name="直排文字版面配置區 2">
            <a:extLst>
              <a:ext uri="{FF2B5EF4-FFF2-40B4-BE49-F238E27FC236}">
                <a16:creationId xmlns:a16="http://schemas.microsoft.com/office/drawing/2014/main" id="{E300FC06-EABA-3793-3907-8DC61360AF41}"/>
              </a:ext>
            </a:extLst>
          </p:cNvPr>
          <p:cNvSpPr>
            <a:spLocks noGrp="1"/>
          </p:cNvSpPr>
          <p:nvPr>
            <p:ph type="body" orient="vert" idx="1"/>
          </p:nvPr>
        </p:nvSpPr>
        <p:spPr/>
        <p:txBody>
          <a:bodyPr vert="eaVert"/>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日期版面配置區 3">
            <a:extLst>
              <a:ext uri="{FF2B5EF4-FFF2-40B4-BE49-F238E27FC236}">
                <a16:creationId xmlns:a16="http://schemas.microsoft.com/office/drawing/2014/main" id="{92057820-AB6C-0447-91B3-3C625B79DE9A}"/>
              </a:ext>
            </a:extLst>
          </p:cNvPr>
          <p:cNvSpPr>
            <a:spLocks noGrp="1"/>
          </p:cNvSpPr>
          <p:nvPr>
            <p:ph type="dt" sz="half" idx="10"/>
          </p:nvPr>
        </p:nvSpPr>
        <p:spPr/>
        <p:txBody>
          <a:bodyPr/>
          <a:lstStyle/>
          <a:p>
            <a:fld id="{D6287317-153A-3746-A485-4300F2B66D6E}"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3D37BB98-1243-4F6C-BD5A-9AE65FD6FEA5}"/>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E28651B4-B507-60E2-0799-611325E552F4}"/>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42329690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FCD010F4-224C-73F5-07FF-FA74A6F35BF1}"/>
              </a:ext>
            </a:extLst>
          </p:cNvPr>
          <p:cNvSpPr>
            <a:spLocks noGrp="1"/>
          </p:cNvSpPr>
          <p:nvPr>
            <p:ph type="title" orient="vert"/>
          </p:nvPr>
        </p:nvSpPr>
        <p:spPr>
          <a:xfrm>
            <a:off x="8724900" y="365125"/>
            <a:ext cx="2628900" cy="5811838"/>
          </a:xfrm>
        </p:spPr>
        <p:txBody>
          <a:bodyPr vert="eaVert"/>
          <a:lstStyle/>
          <a:p>
            <a:r>
              <a:rPr kumimoji="1" lang="zh-TW" altLang="en-US"/>
              <a:t>按一下以編輯母片標題樣式</a:t>
            </a:r>
          </a:p>
        </p:txBody>
      </p:sp>
      <p:sp>
        <p:nvSpPr>
          <p:cNvPr id="3" name="直排文字版面配置區 2">
            <a:extLst>
              <a:ext uri="{FF2B5EF4-FFF2-40B4-BE49-F238E27FC236}">
                <a16:creationId xmlns:a16="http://schemas.microsoft.com/office/drawing/2014/main" id="{1398AD5A-23C1-FE35-26F1-84E9131529B0}"/>
              </a:ext>
            </a:extLst>
          </p:cNvPr>
          <p:cNvSpPr>
            <a:spLocks noGrp="1"/>
          </p:cNvSpPr>
          <p:nvPr>
            <p:ph type="body" orient="vert" idx="1"/>
          </p:nvPr>
        </p:nvSpPr>
        <p:spPr>
          <a:xfrm>
            <a:off x="838200" y="365125"/>
            <a:ext cx="7734300" cy="5811838"/>
          </a:xfrm>
        </p:spPr>
        <p:txBody>
          <a:bodyPr vert="eaVert"/>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日期版面配置區 3">
            <a:extLst>
              <a:ext uri="{FF2B5EF4-FFF2-40B4-BE49-F238E27FC236}">
                <a16:creationId xmlns:a16="http://schemas.microsoft.com/office/drawing/2014/main" id="{74CFCD9F-1F76-4E11-4099-DC10A54EA54B}"/>
              </a:ext>
            </a:extLst>
          </p:cNvPr>
          <p:cNvSpPr>
            <a:spLocks noGrp="1"/>
          </p:cNvSpPr>
          <p:nvPr>
            <p:ph type="dt" sz="half" idx="10"/>
          </p:nvPr>
        </p:nvSpPr>
        <p:spPr/>
        <p:txBody>
          <a:bodyPr/>
          <a:lstStyle/>
          <a:p>
            <a:fld id="{C5F13516-C54C-8140-904F-74E9A7297881}"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F020E525-7305-CB37-A046-098903B80E0C}"/>
              </a:ext>
            </a:extLst>
          </p:cNvPr>
          <p:cNvSpPr>
            <a:spLocks noGrp="1"/>
          </p:cNvSpPr>
          <p:nvPr>
            <p:ph type="ftr" sz="quarter" idx="11"/>
          </p:nvPr>
        </p:nvSpPr>
        <p:spPr/>
        <p:txBody>
          <a:body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EECC33A2-E28E-89C2-08AC-D6EC98F2FD5F}"/>
              </a:ext>
            </a:extLst>
          </p:cNvPr>
          <p:cNvSpPr>
            <a:spLocks noGrp="1"/>
          </p:cNvSpPr>
          <p:nvPr>
            <p:ph type="sldNum" sz="quarter" idx="12"/>
          </p:nvPr>
        </p:nvSpPr>
        <p:spPr/>
        <p:txBody>
          <a:body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23215643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5D4FA156-B9BA-0ED8-33D5-C8ADAEC43E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TW" altLang="en-US"/>
              <a:t>按一下以編輯母片標題樣式</a:t>
            </a:r>
          </a:p>
        </p:txBody>
      </p:sp>
      <p:sp>
        <p:nvSpPr>
          <p:cNvPr id="3" name="文字版面配置區 2">
            <a:extLst>
              <a:ext uri="{FF2B5EF4-FFF2-40B4-BE49-F238E27FC236}">
                <a16:creationId xmlns:a16="http://schemas.microsoft.com/office/drawing/2014/main" id="{43DEF46E-C3F6-3B39-162E-21C247A570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TW" altLang="en-US"/>
              <a:t>按一下以編輯母片文字樣式</a:t>
            </a:r>
          </a:p>
          <a:p>
            <a:pPr lvl="1"/>
            <a:r>
              <a:rPr kumimoji="1" lang="zh-TW" altLang="en-US"/>
              <a:t>第二層</a:t>
            </a:r>
          </a:p>
          <a:p>
            <a:pPr lvl="2"/>
            <a:r>
              <a:rPr kumimoji="1" lang="zh-TW" altLang="en-US"/>
              <a:t>第三層</a:t>
            </a:r>
          </a:p>
          <a:p>
            <a:pPr lvl="3"/>
            <a:r>
              <a:rPr kumimoji="1" lang="zh-TW" altLang="en-US"/>
              <a:t>第四層</a:t>
            </a:r>
          </a:p>
          <a:p>
            <a:pPr lvl="4"/>
            <a:r>
              <a:rPr kumimoji="1" lang="zh-TW" altLang="en-US"/>
              <a:t>第五層</a:t>
            </a:r>
          </a:p>
        </p:txBody>
      </p:sp>
      <p:sp>
        <p:nvSpPr>
          <p:cNvPr id="4" name="日期版面配置區 3">
            <a:extLst>
              <a:ext uri="{FF2B5EF4-FFF2-40B4-BE49-F238E27FC236}">
                <a16:creationId xmlns:a16="http://schemas.microsoft.com/office/drawing/2014/main" id="{3C3A747D-AF34-D9AC-35B8-5C93447E22A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CAA98E7-913F-6D4A-B6C5-E181F49E414D}" type="datetime1">
              <a:rPr kumimoji="1" lang="zh-TW" altLang="en-US" smtClean="0"/>
              <a:t>2026/6/7</a:t>
            </a:fld>
            <a:endParaRPr kumimoji="1" lang="zh-TW" altLang="en-US"/>
          </a:p>
        </p:txBody>
      </p:sp>
      <p:sp>
        <p:nvSpPr>
          <p:cNvPr id="5" name="頁尾版面配置區 4">
            <a:extLst>
              <a:ext uri="{FF2B5EF4-FFF2-40B4-BE49-F238E27FC236}">
                <a16:creationId xmlns:a16="http://schemas.microsoft.com/office/drawing/2014/main" id="{4431631D-36B3-CD2C-EBBB-76F40790507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kumimoji="1" lang="en" altLang="zh-TW"/>
              <a:t>NSD Final Presentation | FastGA | Jim Lin (@jylin34)</a:t>
            </a:r>
            <a:endParaRPr kumimoji="1" lang="zh-TW" altLang="en-US"/>
          </a:p>
        </p:txBody>
      </p:sp>
      <p:sp>
        <p:nvSpPr>
          <p:cNvPr id="6" name="投影片編號版面配置區 5">
            <a:extLst>
              <a:ext uri="{FF2B5EF4-FFF2-40B4-BE49-F238E27FC236}">
                <a16:creationId xmlns:a16="http://schemas.microsoft.com/office/drawing/2014/main" id="{7E0D246C-3F96-6205-B970-18A4C9A2AD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AFF4EFA-4C8F-9641-85B7-1744568BBCAB}" type="slidenum">
              <a:rPr kumimoji="1" lang="zh-TW" altLang="en-US" smtClean="0"/>
              <a:t>‹#›</a:t>
            </a:fld>
            <a:endParaRPr kumimoji="1" lang="zh-TW" altLang="en-US"/>
          </a:p>
        </p:txBody>
      </p:sp>
    </p:spTree>
    <p:extLst>
      <p:ext uri="{BB962C8B-B14F-4D97-AF65-F5344CB8AC3E}">
        <p14:creationId xmlns:p14="http://schemas.microsoft.com/office/powerpoint/2010/main" val="29910996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generativedesign.org/02-deeper-dive/02-04_genetic-algorithms/02-04-01_what-is-a-genetic-algorith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hyperlink" Target="https://github.com/ahmedfgad/GeneticAlgorithmPython" TargetMode="External"/><Relationship Id="rId5" Type="http://schemas.openxmlformats.org/officeDocument/2006/relationships/hyperlink" Target="https://www.sfu.ca/~ssurjano/shubert.html" TargetMode="External"/><Relationship Id="rId4" Type="http://schemas.openxmlformats.org/officeDocument/2006/relationships/hyperlink" Target="https://en.wikipedia.org/wiki/Genetic_algorith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52ABD4D-C635-1AC2-9A4A-0FA22F02D96E}"/>
              </a:ext>
            </a:extLst>
          </p:cNvPr>
          <p:cNvSpPr>
            <a:spLocks noGrp="1"/>
          </p:cNvSpPr>
          <p:nvPr>
            <p:ph type="ctrTitle"/>
          </p:nvPr>
        </p:nvSpPr>
        <p:spPr/>
        <p:txBody>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FastGA</a:t>
            </a:r>
            <a:endParaRPr kumimoji="1" lang="zh-TW" altLang="en-US" b="1" dirty="0">
              <a:latin typeface="Helvetica Neue" panose="02000503000000020004" pitchFamily="2" charset="0"/>
              <a:cs typeface="Helvetica Neue" panose="02000503000000020004" pitchFamily="2" charset="0"/>
            </a:endParaRPr>
          </a:p>
        </p:txBody>
      </p:sp>
      <p:sp>
        <p:nvSpPr>
          <p:cNvPr id="3" name="副標題 2">
            <a:extLst>
              <a:ext uri="{FF2B5EF4-FFF2-40B4-BE49-F238E27FC236}">
                <a16:creationId xmlns:a16="http://schemas.microsoft.com/office/drawing/2014/main" id="{1900283C-3A82-0A1D-796D-8F5ADE12A78F}"/>
              </a:ext>
            </a:extLst>
          </p:cNvPr>
          <p:cNvSpPr>
            <a:spLocks noGrp="1"/>
          </p:cNvSpPr>
          <p:nvPr>
            <p:ph type="subTitle" idx="1"/>
          </p:nvPr>
        </p:nvSpPr>
        <p:spPr/>
        <p:txBody>
          <a:bodyPr/>
          <a:lstStyle/>
          <a:p>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Numerical Software Development Final Presentation</a:t>
            </a:r>
          </a:p>
          <a:p>
            <a:r>
              <a:rPr kumimoji="1" lang="en-US" altLang="zh-TW" dirty="0">
                <a:latin typeface="Helvetica Neue" panose="02000503000000020004" pitchFamily="2" charset="0"/>
                <a:cs typeface="Helvetica Neue" panose="02000503000000020004" pitchFamily="2" charset="0"/>
              </a:rPr>
              <a:t>Jim Lin (@jylin34)</a:t>
            </a:r>
          </a:p>
          <a:p>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June 8, 2026 | 08:15 – 08:30</a:t>
            </a:r>
          </a:p>
        </p:txBody>
      </p:sp>
      <p:sp>
        <p:nvSpPr>
          <p:cNvPr id="4" name="投影片編號版面配置區 3">
            <a:extLst>
              <a:ext uri="{FF2B5EF4-FFF2-40B4-BE49-F238E27FC236}">
                <a16:creationId xmlns:a16="http://schemas.microsoft.com/office/drawing/2014/main" id="{0C44C4FA-3E3F-483A-A842-84F1D2EA2DE4}"/>
              </a:ext>
            </a:extLst>
          </p:cNvPr>
          <p:cNvSpPr>
            <a:spLocks noGrp="1"/>
          </p:cNvSpPr>
          <p:nvPr>
            <p:ph type="sldNum" sz="quarter" idx="12"/>
          </p:nvPr>
        </p:nvSpPr>
        <p:spPr/>
        <p:txBody>
          <a:bodyPr/>
          <a:lstStyle/>
          <a:p>
            <a:fld id="{CAFF4EFA-4C8F-9641-85B7-1744568BBCAB}" type="slidenum">
              <a:rPr kumimoji="1" lang="zh-TW" altLang="en-US" smtClean="0"/>
              <a:t>1</a:t>
            </a:fld>
            <a:endParaRPr kumimoji="1" lang="zh-TW" altLang="en-US"/>
          </a:p>
        </p:txBody>
      </p:sp>
    </p:spTree>
    <p:extLst>
      <p:ext uri="{BB962C8B-B14F-4D97-AF65-F5344CB8AC3E}">
        <p14:creationId xmlns:p14="http://schemas.microsoft.com/office/powerpoint/2010/main" val="3196291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DB9BB-72E6-D30A-E94D-42BF56BC3FED}"/>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CC6A4E39-B19B-F25A-D3BF-282FB9DD0D39}"/>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Outline</a:t>
            </a:r>
            <a:endParaRPr kumimoji="1" lang="zh-TW" altLang="en-US" b="1" dirty="0">
              <a:latin typeface="Helvetica Neue" panose="02000503000000020004" pitchFamily="2" charset="0"/>
              <a:cs typeface="Helvetica Neue" panose="02000503000000020004" pitchFamily="2" charset="0"/>
            </a:endParaRPr>
          </a:p>
        </p:txBody>
      </p:sp>
      <p:sp>
        <p:nvSpPr>
          <p:cNvPr id="3" name="內容版面配置區 2">
            <a:extLst>
              <a:ext uri="{FF2B5EF4-FFF2-40B4-BE49-F238E27FC236}">
                <a16:creationId xmlns:a16="http://schemas.microsoft.com/office/drawing/2014/main" id="{388B9E83-41CD-F12E-8DD8-F58702C97797}"/>
              </a:ext>
            </a:extLst>
          </p:cNvPr>
          <p:cNvSpPr>
            <a:spLocks noGrp="1"/>
          </p:cNvSpPr>
          <p:nvPr>
            <p:ph idx="1"/>
          </p:nvPr>
        </p:nvSpPr>
        <p:spPr>
          <a:xfrm>
            <a:off x="574384" y="1443789"/>
            <a:ext cx="11043232" cy="5049086"/>
          </a:xfrm>
        </p:spPr>
        <p:txBody>
          <a:bodyPr>
            <a:normAutofit/>
          </a:bodyPr>
          <a:lstStyle/>
          <a:p>
            <a:r>
              <a:rPr kumimoji="1" lang="en-US" altLang="zh-TW" sz="2400" dirty="0">
                <a:latin typeface="Helvetica Neue" panose="02000503000000020004" pitchFamily="2" charset="0"/>
                <a:cs typeface="Helvetica Neue" panose="02000503000000020004" pitchFamily="2" charset="0"/>
              </a:rPr>
              <a:t>GA and </a:t>
            </a:r>
            <a:r>
              <a:rPr kumimoji="1" lang="en-US" altLang="zh-TW" sz="2400" dirty="0" err="1">
                <a:latin typeface="Helvetica Neue" panose="02000503000000020004" pitchFamily="2" charset="0"/>
                <a:cs typeface="Helvetica Neue" panose="02000503000000020004" pitchFamily="2" charset="0"/>
              </a:rPr>
              <a:t>FastGA</a:t>
            </a:r>
            <a:r>
              <a:rPr kumimoji="1" lang="en-US" altLang="zh-TW" sz="2400" dirty="0">
                <a:latin typeface="Helvetica Neue" panose="02000503000000020004" pitchFamily="2" charset="0"/>
                <a:cs typeface="Helvetica Neue" panose="02000503000000020004" pitchFamily="2" charset="0"/>
              </a:rPr>
              <a:t> introduction</a:t>
            </a:r>
          </a:p>
          <a:p>
            <a:r>
              <a:rPr kumimoji="1" lang="en-US" altLang="zh-TW" sz="2400" dirty="0">
                <a:latin typeface="Helvetica Neue" panose="02000503000000020004" pitchFamily="2" charset="0"/>
                <a:cs typeface="Helvetica Neue" panose="02000503000000020004" pitchFamily="2" charset="0"/>
              </a:rPr>
              <a:t>A little bit implementation details</a:t>
            </a:r>
          </a:p>
          <a:p>
            <a:r>
              <a:rPr kumimoji="1" lang="en-US" altLang="zh-TW" sz="2400" dirty="0">
                <a:latin typeface="Helvetica Neue" panose="02000503000000020004" pitchFamily="2" charset="0"/>
                <a:cs typeface="Helvetica Neue" panose="02000503000000020004" pitchFamily="2" charset="0"/>
              </a:rPr>
              <a:t>Benchmark</a:t>
            </a:r>
          </a:p>
        </p:txBody>
      </p:sp>
      <p:sp>
        <p:nvSpPr>
          <p:cNvPr id="41" name="投影片編號版面配置區 40">
            <a:extLst>
              <a:ext uri="{FF2B5EF4-FFF2-40B4-BE49-F238E27FC236}">
                <a16:creationId xmlns:a16="http://schemas.microsoft.com/office/drawing/2014/main" id="{E0FE0BCC-71E5-5C96-922D-2EB8D103BFBE}"/>
              </a:ext>
            </a:extLst>
          </p:cNvPr>
          <p:cNvSpPr>
            <a:spLocks noGrp="1"/>
          </p:cNvSpPr>
          <p:nvPr>
            <p:ph type="sldNum" sz="quarter" idx="12"/>
          </p:nvPr>
        </p:nvSpPr>
        <p:spPr/>
        <p:txBody>
          <a:bodyPr/>
          <a:lstStyle/>
          <a:p>
            <a:fld id="{CAFF4EFA-4C8F-9641-85B7-1744568BBCAB}" type="slidenum">
              <a:rPr kumimoji="1" lang="zh-TW" altLang="en-US" smtClean="0"/>
              <a:t>2</a:t>
            </a:fld>
            <a:endParaRPr kumimoji="1" lang="zh-TW" altLang="en-US"/>
          </a:p>
        </p:txBody>
      </p:sp>
    </p:spTree>
    <p:extLst>
      <p:ext uri="{BB962C8B-B14F-4D97-AF65-F5344CB8AC3E}">
        <p14:creationId xmlns:p14="http://schemas.microsoft.com/office/powerpoint/2010/main" val="36728731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1D8877C-6D82-30BE-7DA1-EAEB17ACB7AC}"/>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Genetic Algorithm (GA)</a:t>
            </a:r>
            <a:endParaRPr kumimoji="1" lang="zh-TW" altLang="en-US" b="1" dirty="0">
              <a:latin typeface="Helvetica Neue" panose="02000503000000020004" pitchFamily="2" charset="0"/>
              <a:cs typeface="Helvetica Neue" panose="02000503000000020004" pitchFamily="2" charset="0"/>
            </a:endParaRPr>
          </a:p>
        </p:txBody>
      </p:sp>
      <p:sp>
        <p:nvSpPr>
          <p:cNvPr id="3" name="內容版面配置區 2">
            <a:extLst>
              <a:ext uri="{FF2B5EF4-FFF2-40B4-BE49-F238E27FC236}">
                <a16:creationId xmlns:a16="http://schemas.microsoft.com/office/drawing/2014/main" id="{A54425DD-E115-96A3-EE7D-DDA80070649A}"/>
              </a:ext>
            </a:extLst>
          </p:cNvPr>
          <p:cNvSpPr>
            <a:spLocks noGrp="1"/>
          </p:cNvSpPr>
          <p:nvPr>
            <p:ph idx="1"/>
          </p:nvPr>
        </p:nvSpPr>
        <p:spPr>
          <a:xfrm>
            <a:off x="574384" y="1443789"/>
            <a:ext cx="11043232" cy="5049086"/>
          </a:xfrm>
        </p:spPr>
        <p:txBody>
          <a:bodyPr>
            <a:normAutofit/>
          </a:bodyPr>
          <a:lstStyle/>
          <a:p>
            <a:r>
              <a:rPr kumimoji="1" lang="en-US" altLang="zh-TW" sz="2400" dirty="0">
                <a:latin typeface="Helvetica Neue" panose="02000503000000020004" pitchFamily="2" charset="0"/>
                <a:cs typeface="Helvetica Neue" panose="02000503000000020004" pitchFamily="2" charset="0"/>
              </a:rPr>
              <a:t>Genetic Algorithm is a heuristic algorithm inspired by </a:t>
            </a:r>
            <a:r>
              <a:rPr kumimoji="1" lang="en-US" altLang="zh-TW" sz="2400" dirty="0">
                <a:solidFill>
                  <a:srgbClr val="FF0000"/>
                </a:solidFill>
                <a:latin typeface="Helvetica Neue" panose="02000503000000020004" pitchFamily="2" charset="0"/>
                <a:cs typeface="Helvetica Neue" panose="02000503000000020004" pitchFamily="2" charset="0"/>
              </a:rPr>
              <a:t>Darwin natural selection</a:t>
            </a:r>
          </a:p>
          <a:p>
            <a:r>
              <a:rPr kumimoji="1" lang="en-US" altLang="zh-TW" sz="2400" dirty="0">
                <a:latin typeface="Helvetica Neue" panose="02000503000000020004" pitchFamily="2" charset="0"/>
                <a:cs typeface="Helvetica Neue" panose="02000503000000020004" pitchFamily="2" charset="0"/>
              </a:rPr>
              <a:t>Solve complex optimization problems by involving a population of solutions</a:t>
            </a:r>
          </a:p>
          <a:p>
            <a:endParaRPr kumimoji="1" lang="zh-TW" altLang="en-US" sz="2400" dirty="0">
              <a:latin typeface="Helvetica Neue" panose="02000503000000020004" pitchFamily="2" charset="0"/>
              <a:cs typeface="Helvetica Neue" panose="02000503000000020004" pitchFamily="2" charset="0"/>
            </a:endParaRPr>
          </a:p>
        </p:txBody>
      </p:sp>
      <p:grpSp>
        <p:nvGrpSpPr>
          <p:cNvPr id="37" name="群組 36">
            <a:extLst>
              <a:ext uri="{FF2B5EF4-FFF2-40B4-BE49-F238E27FC236}">
                <a16:creationId xmlns:a16="http://schemas.microsoft.com/office/drawing/2014/main" id="{0FF59EA4-C0EC-6789-16A5-C834221C32FB}"/>
              </a:ext>
            </a:extLst>
          </p:cNvPr>
          <p:cNvGrpSpPr/>
          <p:nvPr/>
        </p:nvGrpSpPr>
        <p:grpSpPr>
          <a:xfrm>
            <a:off x="0" y="2493503"/>
            <a:ext cx="7917084" cy="4213656"/>
            <a:chOff x="3254752" y="2417803"/>
            <a:chExt cx="8362864" cy="4350181"/>
          </a:xfrm>
        </p:grpSpPr>
        <p:pic>
          <p:nvPicPr>
            <p:cNvPr id="6" name="圖片 5">
              <a:extLst>
                <a:ext uri="{FF2B5EF4-FFF2-40B4-BE49-F238E27FC236}">
                  <a16:creationId xmlns:a16="http://schemas.microsoft.com/office/drawing/2014/main" id="{C4E69654-E08A-DCFE-EFB9-6DD35544B13B}"/>
                </a:ext>
              </a:extLst>
            </p:cNvPr>
            <p:cNvPicPr>
              <a:picLocks noChangeAspect="1"/>
            </p:cNvPicPr>
            <p:nvPr/>
          </p:nvPicPr>
          <p:blipFill>
            <a:blip r:embed="rId3"/>
            <a:srcRect l="4662"/>
            <a:stretch/>
          </p:blipFill>
          <p:spPr>
            <a:xfrm>
              <a:off x="3254752" y="2417803"/>
              <a:ext cx="5974596" cy="4350181"/>
            </a:xfrm>
            <a:prstGeom prst="rect">
              <a:avLst/>
            </a:prstGeom>
          </p:spPr>
        </p:pic>
        <p:cxnSp>
          <p:nvCxnSpPr>
            <p:cNvPr id="8" name="直線箭頭接點 7">
              <a:extLst>
                <a:ext uri="{FF2B5EF4-FFF2-40B4-BE49-F238E27FC236}">
                  <a16:creationId xmlns:a16="http://schemas.microsoft.com/office/drawing/2014/main" id="{DECF6236-8F2B-0832-4CE4-339CF38FA774}"/>
                </a:ext>
              </a:extLst>
            </p:cNvPr>
            <p:cNvCxnSpPr>
              <a:cxnSpLocks/>
            </p:cNvCxnSpPr>
            <p:nvPr/>
          </p:nvCxnSpPr>
          <p:spPr>
            <a:xfrm>
              <a:off x="8708858" y="4824663"/>
              <a:ext cx="298994"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0" name="直線接點 9">
              <a:extLst>
                <a:ext uri="{FF2B5EF4-FFF2-40B4-BE49-F238E27FC236}">
                  <a16:creationId xmlns:a16="http://schemas.microsoft.com/office/drawing/2014/main" id="{624ED42A-B388-B800-9451-C161F00F2BB3}"/>
                </a:ext>
              </a:extLst>
            </p:cNvPr>
            <p:cNvCxnSpPr>
              <a:cxnSpLocks/>
            </p:cNvCxnSpPr>
            <p:nvPr/>
          </p:nvCxnSpPr>
          <p:spPr>
            <a:xfrm>
              <a:off x="7476219" y="4944980"/>
              <a:ext cx="1251284"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238B204E-DCD0-F6DA-2353-0779BAEBC11F}"/>
                </a:ext>
              </a:extLst>
            </p:cNvPr>
            <p:cNvSpPr txBox="1"/>
            <p:nvPr/>
          </p:nvSpPr>
          <p:spPr>
            <a:xfrm>
              <a:off x="8955696" y="4639997"/>
              <a:ext cx="2654300" cy="369332"/>
            </a:xfrm>
            <a:prstGeom prst="rect">
              <a:avLst/>
            </a:prstGeom>
            <a:noFill/>
          </p:spPr>
          <p:txBody>
            <a:bodyPr wrap="square" rtlCol="0">
              <a:spAutoFit/>
            </a:bodyPr>
            <a:lstStyle/>
            <a:p>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1 individual = 1 solution</a:t>
              </a:r>
              <a:endParaRPr kumimoji="1" lang="zh-TW" altLang="en-US" dirty="0">
                <a:latin typeface="Helvetica Neue" panose="02000503000000020004" pitchFamily="2" charset="0"/>
                <a:cs typeface="Helvetica Neue" panose="02000503000000020004" pitchFamily="2" charset="0"/>
              </a:endParaRPr>
            </a:p>
          </p:txBody>
        </p:sp>
        <p:sp>
          <p:nvSpPr>
            <p:cNvPr id="22" name="文字方塊 21">
              <a:extLst>
                <a:ext uri="{FF2B5EF4-FFF2-40B4-BE49-F238E27FC236}">
                  <a16:creationId xmlns:a16="http://schemas.microsoft.com/office/drawing/2014/main" id="{A98FF2A8-88A8-9727-0DB6-112C72947150}"/>
                </a:ext>
              </a:extLst>
            </p:cNvPr>
            <p:cNvSpPr txBox="1"/>
            <p:nvPr/>
          </p:nvSpPr>
          <p:spPr>
            <a:xfrm>
              <a:off x="8858354" y="3609982"/>
              <a:ext cx="2654300" cy="646331"/>
            </a:xfrm>
            <a:prstGeom prst="rect">
              <a:avLst/>
            </a:prstGeom>
            <a:noFill/>
          </p:spPr>
          <p:txBody>
            <a:bodyPr wrap="square" rtlCol="0">
              <a:spAutoFit/>
            </a:bodyPr>
            <a:lstStyle/>
            <a:p>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Use </a:t>
              </a:r>
              <a:r>
                <a:rPr kumimoji="1" lang="en-US" altLang="zh-TW"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fitness function</a:t>
              </a:r>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 to score each individual</a:t>
              </a:r>
              <a:endParaRPr kumimoji="1" lang="zh-TW" altLang="en-US" dirty="0">
                <a:latin typeface="Helvetica Neue" panose="02000503000000020004" pitchFamily="2" charset="0"/>
                <a:cs typeface="Helvetica Neue" panose="02000503000000020004" pitchFamily="2" charset="0"/>
              </a:endParaRPr>
            </a:p>
          </p:txBody>
        </p:sp>
        <p:cxnSp>
          <p:nvCxnSpPr>
            <p:cNvPr id="24" name="直線箭頭接點 23">
              <a:extLst>
                <a:ext uri="{FF2B5EF4-FFF2-40B4-BE49-F238E27FC236}">
                  <a16:creationId xmlns:a16="http://schemas.microsoft.com/office/drawing/2014/main" id="{4FD083C9-6411-1479-0801-43E0245F445E}"/>
                </a:ext>
              </a:extLst>
            </p:cNvPr>
            <p:cNvCxnSpPr>
              <a:cxnSpLocks/>
            </p:cNvCxnSpPr>
            <p:nvPr/>
          </p:nvCxnSpPr>
          <p:spPr>
            <a:xfrm>
              <a:off x="7747000" y="6159500"/>
              <a:ext cx="838200" cy="0"/>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6" name="文字方塊 25">
              <a:extLst>
                <a:ext uri="{FF2B5EF4-FFF2-40B4-BE49-F238E27FC236}">
                  <a16:creationId xmlns:a16="http://schemas.microsoft.com/office/drawing/2014/main" id="{68D51F19-F711-5046-7F11-AB0E592A8032}"/>
                </a:ext>
              </a:extLst>
            </p:cNvPr>
            <p:cNvSpPr txBox="1"/>
            <p:nvPr/>
          </p:nvSpPr>
          <p:spPr>
            <a:xfrm>
              <a:off x="8585200" y="5957932"/>
              <a:ext cx="3032416" cy="369332"/>
            </a:xfrm>
            <a:prstGeom prst="rect">
              <a:avLst/>
            </a:prstGeom>
            <a:noFill/>
          </p:spPr>
          <p:txBody>
            <a:bodyPr wrap="square" rtlCol="0">
              <a:spAutoFit/>
            </a:bodyPr>
            <a:lstStyle/>
            <a:p>
              <a:r>
                <a:rPr kumimoji="1" lang="en-US" altLang="zh-TW" dirty="0">
                  <a:latin typeface="Helvetica Neue" panose="02000503000000020004" pitchFamily="2" charset="0"/>
                  <a:ea typeface="Helvetica Neue" panose="02000503000000020004" pitchFamily="2" charset="0"/>
                  <a:cs typeface="Helvetica Neue" panose="02000503000000020004" pitchFamily="2" charset="0"/>
                </a:rPr>
                <a:t>Keeps the fittest individuals</a:t>
              </a:r>
              <a:endParaRPr kumimoji="1" lang="zh-TW" altLang="en-US" dirty="0">
                <a:latin typeface="Helvetica Neue" panose="02000503000000020004" pitchFamily="2" charset="0"/>
                <a:cs typeface="Helvetica Neue" panose="02000503000000020004" pitchFamily="2" charset="0"/>
              </a:endParaRPr>
            </a:p>
          </p:txBody>
        </p:sp>
        <p:sp>
          <p:nvSpPr>
            <p:cNvPr id="27" name="文字方塊 26">
              <a:extLst>
                <a:ext uri="{FF2B5EF4-FFF2-40B4-BE49-F238E27FC236}">
                  <a16:creationId xmlns:a16="http://schemas.microsoft.com/office/drawing/2014/main" id="{8F14BF9E-678E-CB8F-515D-AADA72828823}"/>
                </a:ext>
              </a:extLst>
            </p:cNvPr>
            <p:cNvSpPr txBox="1"/>
            <p:nvPr/>
          </p:nvSpPr>
          <p:spPr>
            <a:xfrm>
              <a:off x="6724650" y="2474404"/>
              <a:ext cx="3478358" cy="369332"/>
            </a:xfrm>
            <a:prstGeom prst="rect">
              <a:avLst/>
            </a:prstGeom>
            <a:noFill/>
          </p:spPr>
          <p:txBody>
            <a:bodyPr wrap="square" rtlCol="0">
              <a:spAutoFit/>
            </a:bodyPr>
            <a:lstStyle/>
            <a:p>
              <a:r>
                <a:rPr kumimoji="1" lang="en-US" altLang="zh-TW" dirty="0">
                  <a:latin typeface="Helvetica Neue" panose="02000503000000020004" pitchFamily="2" charset="0"/>
                  <a:cs typeface="Helvetica Neue" panose="02000503000000020004" pitchFamily="2" charset="0"/>
                </a:rPr>
                <a:t>Includes dozens of individuals</a:t>
              </a:r>
              <a:endParaRPr kumimoji="1" lang="zh-TW" altLang="en-US" dirty="0">
                <a:latin typeface="Helvetica Neue" panose="02000503000000020004" pitchFamily="2" charset="0"/>
                <a:cs typeface="Helvetica Neue" panose="02000503000000020004" pitchFamily="2" charset="0"/>
              </a:endParaRPr>
            </a:p>
          </p:txBody>
        </p:sp>
        <p:cxnSp>
          <p:nvCxnSpPr>
            <p:cNvPr id="32" name="直線接點 31">
              <a:extLst>
                <a:ext uri="{FF2B5EF4-FFF2-40B4-BE49-F238E27FC236}">
                  <a16:creationId xmlns:a16="http://schemas.microsoft.com/office/drawing/2014/main" id="{575534CC-18B0-7718-9783-043A902FB4A7}"/>
                </a:ext>
              </a:extLst>
            </p:cNvPr>
            <p:cNvCxnSpPr>
              <a:cxnSpLocks/>
            </p:cNvCxnSpPr>
            <p:nvPr/>
          </p:nvCxnSpPr>
          <p:spPr>
            <a:xfrm>
              <a:off x="5702300" y="3180900"/>
              <a:ext cx="1333500"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直線箭頭接點 35">
              <a:extLst>
                <a:ext uri="{FF2B5EF4-FFF2-40B4-BE49-F238E27FC236}">
                  <a16:creationId xmlns:a16="http://schemas.microsoft.com/office/drawing/2014/main" id="{C76A4BAB-A287-16B7-F175-ADA301C08A22}"/>
                </a:ext>
              </a:extLst>
            </p:cNvPr>
            <p:cNvCxnSpPr/>
            <p:nvPr/>
          </p:nvCxnSpPr>
          <p:spPr>
            <a:xfrm flipV="1">
              <a:off x="7048500" y="2818336"/>
              <a:ext cx="279400" cy="19156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grpSp>
      <p:sp>
        <p:nvSpPr>
          <p:cNvPr id="40" name="文字方塊 39">
            <a:extLst>
              <a:ext uri="{FF2B5EF4-FFF2-40B4-BE49-F238E27FC236}">
                <a16:creationId xmlns:a16="http://schemas.microsoft.com/office/drawing/2014/main" id="{5E16BB9C-F3CA-D020-8EE7-87410DC3B0E6}"/>
              </a:ext>
            </a:extLst>
          </p:cNvPr>
          <p:cNvSpPr txBox="1"/>
          <p:nvPr/>
        </p:nvSpPr>
        <p:spPr>
          <a:xfrm>
            <a:off x="7796994" y="3276624"/>
            <a:ext cx="4370411" cy="2554545"/>
          </a:xfrm>
          <a:prstGeom prst="rect">
            <a:avLst/>
          </a:prstGeom>
          <a:solidFill>
            <a:schemeClr val="bg1">
              <a:lumMod val="95000"/>
            </a:schemeClr>
          </a:solidFill>
        </p:spPr>
        <p:txBody>
          <a:bodyPr wrap="square">
            <a:spAutoFit/>
          </a:bodyPr>
          <a:lstStyle/>
          <a:p>
            <a:r>
              <a:rPr lang="en" altLang="zh-TW" sz="2000" dirty="0">
                <a:latin typeface="Menlo" panose="020B0609030804020204" pitchFamily="49" charset="0"/>
              </a:rPr>
              <a:t>Input:</a:t>
            </a:r>
            <a:r>
              <a:rPr lang="en" altLang="zh-TW" sz="2000" dirty="0">
                <a:solidFill>
                  <a:schemeClr val="accent5">
                    <a:lumMod val="60000"/>
                    <a:lumOff val="40000"/>
                  </a:schemeClr>
                </a:solidFill>
                <a:latin typeface="Menlo" panose="020B0609030804020204" pitchFamily="49" charset="0"/>
              </a:rPr>
              <a:t> </a:t>
            </a:r>
            <a:r>
              <a:rPr lang="en" altLang="zh-TW" sz="2000" dirty="0" err="1">
                <a:solidFill>
                  <a:srgbClr val="7030A0"/>
                </a:solidFill>
                <a:latin typeface="Menlo" panose="020B0609030804020204" pitchFamily="49" charset="0"/>
              </a:rPr>
              <a:t>fitness_function</a:t>
            </a:r>
            <a:r>
              <a:rPr lang="en" altLang="zh-TW" sz="2000" dirty="0">
                <a:solidFill>
                  <a:srgbClr val="7030A0"/>
                </a:solidFill>
                <a:latin typeface="Menlo" panose="020B0609030804020204" pitchFamily="49" charset="0"/>
              </a:rPr>
              <a:t>()</a:t>
            </a:r>
            <a:endParaRPr lang="en" altLang="zh-TW" sz="2000" b="0" dirty="0">
              <a:solidFill>
                <a:srgbClr val="7030A0"/>
              </a:solidFill>
              <a:effectLst/>
              <a:latin typeface="Menlo" panose="020B0609030804020204" pitchFamily="49" charset="0"/>
            </a:endParaRPr>
          </a:p>
          <a:p>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generation:</a:t>
            </a:r>
          </a:p>
          <a:p>
            <a:r>
              <a:rPr lang="en" altLang="zh-TW" sz="2000" dirty="0">
                <a:solidFill>
                  <a:srgbClr val="C586C0"/>
                </a:solidFill>
                <a:latin typeface="Menlo" panose="020B0609030804020204" pitchFamily="49" charset="0"/>
              </a:rPr>
              <a:t>    </a:t>
            </a:r>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individual:</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evaluate</a:t>
            </a:r>
            <a:r>
              <a:rPr lang="en" altLang="zh-TW" sz="2000" b="0" dirty="0">
                <a:effectLst/>
                <a:latin typeface="Menlo" panose="020B0609030804020204" pitchFamily="49" charset="0"/>
              </a:rPr>
              <a:t>(individual)</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selection</a:t>
            </a:r>
            <a:r>
              <a:rPr lang="en" altLang="zh-TW" sz="2000" b="0" dirty="0">
                <a:effectLst/>
                <a:latin typeface="Menlo" panose="020B0609030804020204" pitchFamily="49" charset="0"/>
              </a:rPr>
              <a:t>()</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reproduction</a:t>
            </a:r>
            <a:r>
              <a:rPr lang="en" altLang="zh-TW" sz="2000" b="0" dirty="0">
                <a:effectLst/>
                <a:latin typeface="Menlo" panose="020B0609030804020204" pitchFamily="49" charset="0"/>
              </a:rPr>
              <a:t>()</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mutation</a:t>
            </a:r>
            <a:r>
              <a:rPr lang="en" altLang="zh-TW" sz="2000" b="0" dirty="0">
                <a:effectLst/>
                <a:latin typeface="Menlo" panose="020B0609030804020204" pitchFamily="49" charset="0"/>
              </a:rPr>
              <a:t>()</a:t>
            </a:r>
            <a:endParaRPr lang="en" altLang="zh-TW" sz="2000" dirty="0">
              <a:latin typeface="Menlo" panose="020B0609030804020204" pitchFamily="49" charset="0"/>
            </a:endParaRPr>
          </a:p>
          <a:p>
            <a:r>
              <a:rPr lang="en" altLang="zh-TW" sz="2000" b="0" dirty="0">
                <a:effectLst/>
                <a:latin typeface="Menlo" panose="020B0609030804020204" pitchFamily="49" charset="0"/>
              </a:rPr>
              <a:t>Output: Fittest individual</a:t>
            </a:r>
          </a:p>
        </p:txBody>
      </p:sp>
      <p:sp>
        <p:nvSpPr>
          <p:cNvPr id="41" name="投影片編號版面配置區 40">
            <a:extLst>
              <a:ext uri="{FF2B5EF4-FFF2-40B4-BE49-F238E27FC236}">
                <a16:creationId xmlns:a16="http://schemas.microsoft.com/office/drawing/2014/main" id="{12091537-91F1-B6BB-A583-B8AEEDC17699}"/>
              </a:ext>
            </a:extLst>
          </p:cNvPr>
          <p:cNvSpPr>
            <a:spLocks noGrp="1"/>
          </p:cNvSpPr>
          <p:nvPr>
            <p:ph type="sldNum" sz="quarter" idx="12"/>
          </p:nvPr>
        </p:nvSpPr>
        <p:spPr/>
        <p:txBody>
          <a:bodyPr/>
          <a:lstStyle/>
          <a:p>
            <a:fld id="{CAFF4EFA-4C8F-9641-85B7-1744568BBCAB}" type="slidenum">
              <a:rPr kumimoji="1" lang="zh-TW" altLang="en-US" smtClean="0"/>
              <a:t>3</a:t>
            </a:fld>
            <a:endParaRPr kumimoji="1" lang="zh-TW" altLang="en-US"/>
          </a:p>
        </p:txBody>
      </p:sp>
    </p:spTree>
    <p:extLst>
      <p:ext uri="{BB962C8B-B14F-4D97-AF65-F5344CB8AC3E}">
        <p14:creationId xmlns:p14="http://schemas.microsoft.com/office/powerpoint/2010/main" val="3906754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0834A-22C7-2E17-66AE-782BDD4F31D5}"/>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0856D79-4E09-ADB1-6929-956AF626F416}"/>
              </a:ext>
            </a:extLst>
          </p:cNvPr>
          <p:cNvSpPr>
            <a:spLocks noGrp="1"/>
          </p:cNvSpPr>
          <p:nvPr>
            <p:ph type="title"/>
          </p:nvPr>
        </p:nvSpPr>
        <p:spPr/>
        <p:txBody>
          <a:bodyPr/>
          <a:lstStyle/>
          <a:p>
            <a:pPr algn="ct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FastGA</a:t>
            </a:r>
            <a:endParaRPr kumimoji="1" lang="zh-TW" altLang="en-US" b="1" dirty="0">
              <a:latin typeface="Helvetica Neue" panose="02000503000000020004" pitchFamily="2" charset="0"/>
              <a:cs typeface="Helvetica Neue" panose="02000503000000020004" pitchFamily="2" charset="0"/>
            </a:endParaRPr>
          </a:p>
        </p:txBody>
      </p:sp>
      <p:grpSp>
        <p:nvGrpSpPr>
          <p:cNvPr id="45" name="群組 44">
            <a:extLst>
              <a:ext uri="{FF2B5EF4-FFF2-40B4-BE49-F238E27FC236}">
                <a16:creationId xmlns:a16="http://schemas.microsoft.com/office/drawing/2014/main" id="{61AF1C7A-6C47-FE4D-80D4-FA4C6A0C760E}"/>
              </a:ext>
            </a:extLst>
          </p:cNvPr>
          <p:cNvGrpSpPr/>
          <p:nvPr/>
        </p:nvGrpSpPr>
        <p:grpSpPr>
          <a:xfrm>
            <a:off x="342286" y="3938330"/>
            <a:ext cx="11391156" cy="2554545"/>
            <a:chOff x="515535" y="3992901"/>
            <a:chExt cx="11391156" cy="2554545"/>
          </a:xfrm>
        </p:grpSpPr>
        <p:grpSp>
          <p:nvGrpSpPr>
            <p:cNvPr id="18" name="群組 17">
              <a:extLst>
                <a:ext uri="{FF2B5EF4-FFF2-40B4-BE49-F238E27FC236}">
                  <a16:creationId xmlns:a16="http://schemas.microsoft.com/office/drawing/2014/main" id="{F45F9AA1-799B-2FAF-FCF7-130C22679A9E}"/>
                </a:ext>
              </a:extLst>
            </p:cNvPr>
            <p:cNvGrpSpPr/>
            <p:nvPr/>
          </p:nvGrpSpPr>
          <p:grpSpPr>
            <a:xfrm>
              <a:off x="7520159" y="3992901"/>
              <a:ext cx="4386532" cy="2554545"/>
              <a:chOff x="3517098" y="2397948"/>
              <a:chExt cx="4386532" cy="2554545"/>
            </a:xfrm>
          </p:grpSpPr>
          <p:sp>
            <p:nvSpPr>
              <p:cNvPr id="8" name="文字方塊 7">
                <a:extLst>
                  <a:ext uri="{FF2B5EF4-FFF2-40B4-BE49-F238E27FC236}">
                    <a16:creationId xmlns:a16="http://schemas.microsoft.com/office/drawing/2014/main" id="{5973417F-49E9-4456-1CC4-39678ABC9F5C}"/>
                  </a:ext>
                </a:extLst>
              </p:cNvPr>
              <p:cNvSpPr txBox="1"/>
              <p:nvPr/>
            </p:nvSpPr>
            <p:spPr>
              <a:xfrm>
                <a:off x="3517098" y="2397948"/>
                <a:ext cx="4386532" cy="2554545"/>
              </a:xfrm>
              <a:prstGeom prst="rect">
                <a:avLst/>
              </a:prstGeom>
              <a:solidFill>
                <a:schemeClr val="bg1">
                  <a:lumMod val="95000"/>
                </a:schemeClr>
              </a:solidFill>
            </p:spPr>
            <p:txBody>
              <a:bodyPr wrap="square">
                <a:spAutoFit/>
              </a:bodyPr>
              <a:lstStyle/>
              <a:p>
                <a:r>
                  <a:rPr lang="en" altLang="zh-TW" sz="2000" dirty="0">
                    <a:latin typeface="Menlo" panose="020B0609030804020204" pitchFamily="49" charset="0"/>
                  </a:rPr>
                  <a:t>Input:</a:t>
                </a:r>
                <a:r>
                  <a:rPr lang="en" altLang="zh-TW" sz="2000" dirty="0">
                    <a:solidFill>
                      <a:schemeClr val="accent5">
                        <a:lumMod val="60000"/>
                        <a:lumOff val="40000"/>
                      </a:schemeClr>
                    </a:solidFill>
                    <a:latin typeface="Menlo" panose="020B0609030804020204" pitchFamily="49" charset="0"/>
                  </a:rPr>
                  <a:t> </a:t>
                </a:r>
                <a:r>
                  <a:rPr lang="en" altLang="zh-TW" sz="2000" dirty="0" err="1">
                    <a:solidFill>
                      <a:srgbClr val="7030A0"/>
                    </a:solidFill>
                    <a:latin typeface="Menlo" panose="020B0609030804020204" pitchFamily="49" charset="0"/>
                  </a:rPr>
                  <a:t>fitness_function</a:t>
                </a:r>
                <a:r>
                  <a:rPr lang="en" altLang="zh-TW" sz="2000" dirty="0">
                    <a:solidFill>
                      <a:srgbClr val="7030A0"/>
                    </a:solidFill>
                    <a:latin typeface="Menlo" panose="020B0609030804020204" pitchFamily="49" charset="0"/>
                  </a:rPr>
                  <a:t>()</a:t>
                </a:r>
                <a:endParaRPr lang="en" altLang="zh-TW" sz="2000" b="0" dirty="0">
                  <a:solidFill>
                    <a:srgbClr val="7030A0"/>
                  </a:solidFill>
                  <a:effectLst/>
                  <a:latin typeface="Menlo" panose="020B0609030804020204" pitchFamily="49" charset="0"/>
                </a:endParaRPr>
              </a:p>
              <a:p>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generation:</a:t>
                </a:r>
              </a:p>
              <a:p>
                <a:r>
                  <a:rPr lang="en" altLang="zh-TW" sz="2000" dirty="0">
                    <a:solidFill>
                      <a:srgbClr val="C586C0"/>
                    </a:solidFill>
                    <a:latin typeface="Menlo" panose="020B0609030804020204" pitchFamily="49" charset="0"/>
                  </a:rPr>
                  <a:t>    </a:t>
                </a:r>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individual:</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evaluate</a:t>
                </a:r>
                <a:r>
                  <a:rPr lang="en" altLang="zh-TW" sz="2000" b="0" dirty="0">
                    <a:effectLst/>
                    <a:latin typeface="Menlo" panose="020B0609030804020204" pitchFamily="49" charset="0"/>
                  </a:rPr>
                  <a:t>(individual)</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selection</a:t>
                </a:r>
                <a:r>
                  <a:rPr lang="en" altLang="zh-TW" sz="2000" b="0" dirty="0">
                    <a:effectLst/>
                    <a:latin typeface="Menlo" panose="020B0609030804020204" pitchFamily="49" charset="0"/>
                  </a:rPr>
                  <a:t>()</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reproduction</a:t>
                </a:r>
                <a:r>
                  <a:rPr lang="en" altLang="zh-TW" sz="2000" b="0" dirty="0">
                    <a:effectLst/>
                    <a:latin typeface="Menlo" panose="020B0609030804020204" pitchFamily="49" charset="0"/>
                  </a:rPr>
                  <a:t>()</a:t>
                </a:r>
              </a:p>
              <a:p>
                <a:r>
                  <a:rPr lang="en" altLang="zh-TW" sz="2000" b="0" dirty="0">
                    <a:solidFill>
                      <a:srgbClr val="D2A8FF"/>
                    </a:solidFill>
                    <a:effectLst/>
                    <a:latin typeface="Menlo" panose="020B0609030804020204" pitchFamily="49" charset="0"/>
                  </a:rPr>
                  <a:t>    </a:t>
                </a:r>
                <a:r>
                  <a:rPr lang="en" altLang="zh-TW" sz="2000" b="0" dirty="0">
                    <a:solidFill>
                      <a:srgbClr val="7030A0"/>
                    </a:solidFill>
                    <a:effectLst/>
                    <a:latin typeface="Menlo" panose="020B0609030804020204" pitchFamily="49" charset="0"/>
                  </a:rPr>
                  <a:t>mutation</a:t>
                </a:r>
                <a:r>
                  <a:rPr lang="en" altLang="zh-TW" sz="2000" b="0" dirty="0">
                    <a:effectLst/>
                    <a:latin typeface="Menlo" panose="020B0609030804020204" pitchFamily="49" charset="0"/>
                  </a:rPr>
                  <a:t>()</a:t>
                </a:r>
                <a:endParaRPr lang="en" altLang="zh-TW" sz="2000" dirty="0">
                  <a:latin typeface="Menlo" panose="020B0609030804020204" pitchFamily="49" charset="0"/>
                </a:endParaRPr>
              </a:p>
              <a:p>
                <a:r>
                  <a:rPr lang="en" altLang="zh-TW" sz="2000" b="0" dirty="0">
                    <a:effectLst/>
                    <a:latin typeface="Menlo" panose="020B0609030804020204" pitchFamily="49" charset="0"/>
                  </a:rPr>
                  <a:t>Output: Fittest individual</a:t>
                </a:r>
              </a:p>
            </p:txBody>
          </p:sp>
          <p:cxnSp>
            <p:nvCxnSpPr>
              <p:cNvPr id="10" name="直線接點 9">
                <a:extLst>
                  <a:ext uri="{FF2B5EF4-FFF2-40B4-BE49-F238E27FC236}">
                    <a16:creationId xmlns:a16="http://schemas.microsoft.com/office/drawing/2014/main" id="{CFE95179-63AE-1398-6F0B-DC4879F04CC6}"/>
                  </a:ext>
                </a:extLst>
              </p:cNvPr>
              <p:cNvCxnSpPr>
                <a:cxnSpLocks/>
              </p:cNvCxnSpPr>
              <p:nvPr/>
            </p:nvCxnSpPr>
            <p:spPr>
              <a:xfrm>
                <a:off x="3517098" y="2737709"/>
                <a:ext cx="0" cy="914362"/>
              </a:xfrm>
              <a:prstGeom prst="line">
                <a:avLst/>
              </a:prstGeom>
              <a:ln w="38100">
                <a:solidFill>
                  <a:srgbClr val="C00000"/>
                </a:solidFill>
              </a:ln>
            </p:spPr>
            <p:style>
              <a:lnRef idx="2">
                <a:schemeClr val="accent1"/>
              </a:lnRef>
              <a:fillRef idx="0">
                <a:schemeClr val="accent1"/>
              </a:fillRef>
              <a:effectRef idx="1">
                <a:schemeClr val="accent1"/>
              </a:effectRef>
              <a:fontRef idx="minor">
                <a:schemeClr val="tx1"/>
              </a:fontRef>
            </p:style>
          </p:cxnSp>
        </p:grpSp>
        <p:cxnSp>
          <p:nvCxnSpPr>
            <p:cNvPr id="30" name="直線箭頭接點 29">
              <a:extLst>
                <a:ext uri="{FF2B5EF4-FFF2-40B4-BE49-F238E27FC236}">
                  <a16:creationId xmlns:a16="http://schemas.microsoft.com/office/drawing/2014/main" id="{586B45D4-E3E3-68FA-E640-9D04D11AF6F5}"/>
                </a:ext>
              </a:extLst>
            </p:cNvPr>
            <p:cNvCxnSpPr>
              <a:cxnSpLocks/>
            </p:cNvCxnSpPr>
            <p:nvPr/>
          </p:nvCxnSpPr>
          <p:spPr>
            <a:xfrm flipH="1">
              <a:off x="5751721" y="4641448"/>
              <a:ext cx="1664266" cy="319890"/>
            </a:xfrm>
            <a:prstGeom prst="straightConnector1">
              <a:avLst/>
            </a:prstGeom>
            <a:ln w="28575">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34" name="文字方塊 33">
              <a:extLst>
                <a:ext uri="{FF2B5EF4-FFF2-40B4-BE49-F238E27FC236}">
                  <a16:creationId xmlns:a16="http://schemas.microsoft.com/office/drawing/2014/main" id="{D8E57E69-2C48-6339-259D-85EFB43B9757}"/>
                </a:ext>
              </a:extLst>
            </p:cNvPr>
            <p:cNvSpPr txBox="1"/>
            <p:nvPr/>
          </p:nvSpPr>
          <p:spPr>
            <a:xfrm>
              <a:off x="515535" y="4332662"/>
              <a:ext cx="5548703" cy="707886"/>
            </a:xfrm>
            <a:prstGeom prst="rect">
              <a:avLst/>
            </a:prstGeom>
            <a:noFill/>
          </p:spPr>
          <p:txBody>
            <a:bodyPr wrap="square" rtlCol="0">
              <a:spAutoFit/>
            </a:bodyPr>
            <a:lstStyle/>
            <a:p>
              <a:r>
                <a:rPr kumimoji="1" lang="en-US" altLang="zh-TW" sz="2000" dirty="0">
                  <a:latin typeface="Helvetica Neue" panose="02000503000000020004" pitchFamily="2" charset="0"/>
                  <a:ea typeface="Helvetica Neue" panose="02000503000000020004" pitchFamily="2" charset="0"/>
                  <a:cs typeface="Helvetica Neue" panose="02000503000000020004" pitchFamily="2" charset="0"/>
                </a:rPr>
                <a:t>Thousands of generations amplify the minor interpreter overhead into significand delays</a:t>
              </a:r>
              <a:endParaRPr kumimoji="1" lang="zh-TW" altLang="en-US" sz="2000" dirty="0">
                <a:latin typeface="Helvetica Neue" panose="02000503000000020004" pitchFamily="2" charset="0"/>
                <a:cs typeface="Helvetica Neue" panose="02000503000000020004" pitchFamily="2" charset="0"/>
              </a:endParaRPr>
            </a:p>
          </p:txBody>
        </p:sp>
        <p:sp>
          <p:nvSpPr>
            <p:cNvPr id="38" name="文字方塊 37">
              <a:extLst>
                <a:ext uri="{FF2B5EF4-FFF2-40B4-BE49-F238E27FC236}">
                  <a16:creationId xmlns:a16="http://schemas.microsoft.com/office/drawing/2014/main" id="{8F304E46-F83D-3EAF-0B94-13618D7EE4E0}"/>
                </a:ext>
              </a:extLst>
            </p:cNvPr>
            <p:cNvSpPr txBox="1"/>
            <p:nvPr/>
          </p:nvSpPr>
          <p:spPr>
            <a:xfrm>
              <a:off x="515535" y="5107626"/>
              <a:ext cx="5236186" cy="1015663"/>
            </a:xfrm>
            <a:prstGeom prst="rect">
              <a:avLst/>
            </a:prstGeom>
            <a:noFill/>
          </p:spPr>
          <p:txBody>
            <a:bodyPr wrap="square" rtlCol="0">
              <a:spAutoFit/>
            </a:bodyPr>
            <a:lstStyle/>
            <a:p>
              <a:r>
                <a:rPr kumimoji="1" lang="en-US" altLang="zh-TW" sz="2000" dirty="0">
                  <a:latin typeface="Helvetica Neue" panose="02000503000000020004" pitchFamily="2" charset="0"/>
                  <a:ea typeface="Helvetica Neue" panose="02000503000000020004" pitchFamily="2" charset="0"/>
                  <a:cs typeface="Helvetica Neue" panose="02000503000000020004" pitchFamily="2" charset="0"/>
                </a:rPr>
                <a:t>Calling the Python fitness function for every single individual incurs massive overhead from </a:t>
              </a:r>
              <a:r>
                <a:rPr kumimoji="1" lang="en-US" altLang="zh-TW" sz="2000" dirty="0">
                  <a:solidFill>
                    <a:srgbClr val="FF0000"/>
                  </a:solidFill>
                  <a:latin typeface="Helvetica Neue" panose="02000503000000020004" pitchFamily="2" charset="0"/>
                  <a:ea typeface="Helvetica Neue" panose="02000503000000020004" pitchFamily="2" charset="0"/>
                  <a:cs typeface="Helvetica Neue" panose="02000503000000020004" pitchFamily="2" charset="0"/>
                </a:rPr>
                <a:t>C++-to-Python context switching</a:t>
              </a:r>
              <a:endParaRPr kumimoji="1" lang="zh-TW" altLang="en-US" sz="2000" dirty="0">
                <a:solidFill>
                  <a:srgbClr val="FF0000"/>
                </a:solidFill>
                <a:latin typeface="Helvetica Neue" panose="02000503000000020004" pitchFamily="2" charset="0"/>
                <a:cs typeface="Helvetica Neue" panose="02000503000000020004" pitchFamily="2" charset="0"/>
              </a:endParaRPr>
            </a:p>
          </p:txBody>
        </p:sp>
      </p:grpSp>
      <mc:AlternateContent xmlns:mc="http://schemas.openxmlformats.org/markup-compatibility/2006">
        <mc:Choice xmlns:a14="http://schemas.microsoft.com/office/drawing/2010/main" Requires="a14">
          <p:sp>
            <p:nvSpPr>
              <p:cNvPr id="46" name="內容版面配置區 2">
                <a:extLst>
                  <a:ext uri="{FF2B5EF4-FFF2-40B4-BE49-F238E27FC236}">
                    <a16:creationId xmlns:a16="http://schemas.microsoft.com/office/drawing/2014/main" id="{64A7C6B6-5E8D-13EF-D74B-7BA2188679CE}"/>
                  </a:ext>
                </a:extLst>
              </p:cNvPr>
              <p:cNvSpPr>
                <a:spLocks noGrp="1"/>
              </p:cNvSpPr>
              <p:nvPr>
                <p:ph idx="1"/>
              </p:nvPr>
            </p:nvSpPr>
            <p:spPr>
              <a:xfrm>
                <a:off x="574384" y="1503289"/>
                <a:ext cx="11043232" cy="2525256"/>
              </a:xfrm>
            </p:spPr>
            <p:txBody>
              <a:bodyPr>
                <a:normAutofit lnSpcReduction="10000"/>
              </a:bodyPr>
              <a:lstStyle/>
              <a:p>
                <a:r>
                  <a:rPr kumimoji="1" lang="en-US" altLang="zh-TW" sz="2400" dirty="0">
                    <a:latin typeface="Helvetica Neue" panose="02000503000000020004" pitchFamily="2" charset="0"/>
                    <a:cs typeface="Helvetica Neue" panose="02000503000000020004" pitchFamily="2" charset="0"/>
                  </a:rPr>
                  <a:t>FastGA is a C++ genetic algorithm library with Python bindings, specifically  for global optimization problems represented by </a:t>
                </a:r>
                <a:r>
                  <a:rPr kumimoji="1" lang="en-US" altLang="zh-TW" sz="2400" dirty="0">
                    <a:solidFill>
                      <a:srgbClr val="FF0000"/>
                    </a:solidFill>
                    <a:latin typeface="Helvetica Neue" panose="02000503000000020004" pitchFamily="2" charset="0"/>
                    <a:cs typeface="Helvetica Neue" panose="02000503000000020004" pitchFamily="2" charset="0"/>
                  </a:rPr>
                  <a:t>1D double-precision vectors</a:t>
                </a:r>
              </a:p>
              <a:p>
                <a:r>
                  <a:rPr kumimoji="1" lang="en-US" altLang="zh-TW" sz="2400" dirty="0">
                    <a:latin typeface="Helvetica Neue" panose="02000503000000020004" pitchFamily="2" charset="0"/>
                    <a:cs typeface="Helvetica Neue" panose="02000503000000020004" pitchFamily="2" charset="0"/>
                  </a:rPr>
                  <a:t>eg. </a:t>
                </a:r>
              </a:p>
              <a:p>
                <a:pPr lvl="1"/>
                <a:r>
                  <a:rPr kumimoji="1" lang="en-US" altLang="zh-TW" dirty="0">
                    <a:latin typeface="Helvetica Neue" panose="02000503000000020004" pitchFamily="2" charset="0"/>
                    <a:cs typeface="Helvetica Neue" panose="02000503000000020004" pitchFamily="2" charset="0"/>
                  </a:rPr>
                  <a:t>fitness function: </a:t>
                </a:r>
                <a14:m>
                  <m:oMath xmlns:m="http://schemas.openxmlformats.org/officeDocument/2006/math">
                    <m:limLow>
                      <m:limLowPr>
                        <m:ctrlPr>
                          <a:rPr kumimoji="1" lang="en-US" altLang="zh-TW" b="0" i="0" smtClean="0">
                            <a:latin typeface="Cambria Math" panose="02040503050406030204" pitchFamily="18" charset="0"/>
                            <a:cs typeface="Helvetica Neue" panose="02000503000000020004" pitchFamily="2" charset="0"/>
                          </a:rPr>
                        </m:ctrlPr>
                      </m:limLowPr>
                      <m:e>
                        <m:r>
                          <m:rPr>
                            <m:sty m:val="p"/>
                          </m:rPr>
                          <a:rPr kumimoji="1" lang="en-US" altLang="zh-TW" b="0" i="0" smtClean="0">
                            <a:latin typeface="Cambria Math" panose="02040503050406030204" pitchFamily="18" charset="0"/>
                            <a:cs typeface="Helvetica Neue" panose="02000503000000020004" pitchFamily="2" charset="0"/>
                          </a:rPr>
                          <m:t>min</m:t>
                        </m:r>
                      </m:e>
                      <m:lim>
                        <m:r>
                          <a:rPr kumimoji="1" lang="en-US" altLang="zh-TW" b="0" i="1" smtClean="0">
                            <a:latin typeface="Cambria Math" panose="02040503050406030204" pitchFamily="18" charset="0"/>
                            <a:cs typeface="Helvetica Neue" panose="02000503000000020004" pitchFamily="2" charset="0"/>
                          </a:rPr>
                          <m:t>(</m:t>
                        </m:r>
                        <m:r>
                          <a:rPr kumimoji="1" lang="en-US" altLang="zh-TW" b="0" i="1" smtClean="0">
                            <a:latin typeface="Cambria Math" panose="02040503050406030204" pitchFamily="18" charset="0"/>
                            <a:cs typeface="Helvetica Neue" panose="02000503000000020004" pitchFamily="2" charset="0"/>
                          </a:rPr>
                          <m:t>𝑋</m:t>
                        </m:r>
                        <m:r>
                          <a:rPr kumimoji="1" lang="en-US" altLang="zh-TW" b="0" i="1" smtClean="0">
                            <a:latin typeface="Cambria Math" panose="02040503050406030204" pitchFamily="18" charset="0"/>
                            <a:cs typeface="Helvetica Neue" panose="02000503000000020004" pitchFamily="2" charset="0"/>
                          </a:rPr>
                          <m:t>, </m:t>
                        </m:r>
                        <m:r>
                          <a:rPr kumimoji="1" lang="en-US" altLang="zh-TW" b="0" i="1" smtClean="0">
                            <a:latin typeface="Cambria Math" panose="02040503050406030204" pitchFamily="18" charset="0"/>
                            <a:cs typeface="Helvetica Neue" panose="02000503000000020004" pitchFamily="2" charset="0"/>
                          </a:rPr>
                          <m:t>𝑌</m:t>
                        </m:r>
                        <m:r>
                          <a:rPr kumimoji="1" lang="en-US" altLang="zh-TW" b="0" i="1" smtClean="0">
                            <a:latin typeface="Cambria Math" panose="02040503050406030204" pitchFamily="18" charset="0"/>
                            <a:cs typeface="Helvetica Neue" panose="02000503000000020004" pitchFamily="2" charset="0"/>
                          </a:rPr>
                          <m:t>)</m:t>
                        </m:r>
                      </m:lim>
                    </m:limLow>
                    <m:r>
                      <a:rPr kumimoji="1" lang="en-US" altLang="zh-TW" b="0" i="0" smtClean="0">
                        <a:latin typeface="Cambria Math" panose="02040503050406030204" pitchFamily="18" charset="0"/>
                        <a:cs typeface="Helvetica Neue" panose="02000503000000020004" pitchFamily="2" charset="0"/>
                      </a:rPr>
                      <m:t> </m:t>
                    </m:r>
                    <m:sSup>
                      <m:sSupPr>
                        <m:ctrlPr>
                          <a:rPr kumimoji="1" lang="en-US" altLang="zh-TW" b="0" i="1" smtClean="0">
                            <a:latin typeface="Cambria Math" panose="02040503050406030204" pitchFamily="18" charset="0"/>
                            <a:cs typeface="Helvetica Neue" panose="02000503000000020004" pitchFamily="2" charset="0"/>
                          </a:rPr>
                        </m:ctrlPr>
                      </m:sSupPr>
                      <m:e>
                        <m:r>
                          <a:rPr kumimoji="1" lang="en-US" altLang="zh-TW" b="0" i="1" smtClean="0">
                            <a:latin typeface="Cambria Math" panose="02040503050406030204" pitchFamily="18" charset="0"/>
                            <a:cs typeface="Helvetica Neue" panose="02000503000000020004" pitchFamily="2" charset="0"/>
                          </a:rPr>
                          <m:t>𝑋</m:t>
                        </m:r>
                      </m:e>
                      <m:sup>
                        <m:r>
                          <a:rPr kumimoji="1" lang="en-US" altLang="zh-TW" b="0" i="1" smtClean="0">
                            <a:latin typeface="Cambria Math" panose="02040503050406030204" pitchFamily="18" charset="0"/>
                            <a:cs typeface="Helvetica Neue" panose="02000503000000020004" pitchFamily="2" charset="0"/>
                          </a:rPr>
                          <m:t>2</m:t>
                        </m:r>
                      </m:sup>
                    </m:sSup>
                    <m:r>
                      <a:rPr kumimoji="1" lang="en-US" altLang="zh-TW" b="0" i="1" smtClean="0">
                        <a:latin typeface="Cambria Math" panose="02040503050406030204" pitchFamily="18" charset="0"/>
                        <a:cs typeface="Helvetica Neue" panose="02000503000000020004" pitchFamily="2" charset="0"/>
                      </a:rPr>
                      <m:t>+</m:t>
                    </m:r>
                    <m:sSup>
                      <m:sSupPr>
                        <m:ctrlPr>
                          <a:rPr kumimoji="1" lang="en-US" altLang="zh-TW" b="0" i="1" smtClean="0">
                            <a:latin typeface="Cambria Math" panose="02040503050406030204" pitchFamily="18" charset="0"/>
                            <a:cs typeface="Helvetica Neue" panose="02000503000000020004" pitchFamily="2" charset="0"/>
                          </a:rPr>
                        </m:ctrlPr>
                      </m:sSupPr>
                      <m:e>
                        <m:r>
                          <a:rPr kumimoji="1" lang="en-US" altLang="zh-TW" b="0" i="1" smtClean="0">
                            <a:latin typeface="Cambria Math" panose="02040503050406030204" pitchFamily="18" charset="0"/>
                            <a:cs typeface="Helvetica Neue" panose="02000503000000020004" pitchFamily="2" charset="0"/>
                          </a:rPr>
                          <m:t>𝑌</m:t>
                        </m:r>
                      </m:e>
                      <m:sup>
                        <m:r>
                          <a:rPr kumimoji="1" lang="en-US" altLang="zh-TW" b="0" i="1" smtClean="0">
                            <a:latin typeface="Cambria Math" panose="02040503050406030204" pitchFamily="18" charset="0"/>
                            <a:cs typeface="Helvetica Neue" panose="02000503000000020004" pitchFamily="2" charset="0"/>
                          </a:rPr>
                          <m:t>2</m:t>
                        </m:r>
                      </m:sup>
                    </m:sSup>
                  </m:oMath>
                </a14:m>
                <a:endParaRPr kumimoji="1" lang="en-US" altLang="zh-TW" dirty="0">
                  <a:latin typeface="Helvetica Neue" panose="02000503000000020004" pitchFamily="2" charset="0"/>
                  <a:cs typeface="Helvetica Neue" panose="02000503000000020004" pitchFamily="2" charset="0"/>
                </a:endParaRPr>
              </a:p>
              <a:p>
                <a:pPr lvl="1"/>
                <a:r>
                  <a:rPr kumimoji="1" lang="en-US" altLang="zh-TW" dirty="0">
                    <a:latin typeface="Helvetica Neue" panose="02000503000000020004" pitchFamily="2" charset="0"/>
                    <a:cs typeface="Helvetica Neue" panose="02000503000000020004" pitchFamily="2" charset="0"/>
                  </a:rPr>
                  <a:t>Individual: </a:t>
                </a:r>
                <a14:m>
                  <m:oMath xmlns:m="http://schemas.openxmlformats.org/officeDocument/2006/math">
                    <m:d>
                      <m:dPr>
                        <m:begChr m:val="["/>
                        <m:endChr m:val="]"/>
                        <m:ctrlPr>
                          <a:rPr kumimoji="1" lang="en-US" altLang="zh-TW" b="0" i="1" smtClean="0">
                            <a:latin typeface="Cambria Math" panose="02040503050406030204" pitchFamily="18" charset="0"/>
                            <a:cs typeface="Helvetica Neue" panose="02000503000000020004" pitchFamily="2" charset="0"/>
                          </a:rPr>
                        </m:ctrlPr>
                      </m:dPr>
                      <m:e>
                        <m:r>
                          <a:rPr kumimoji="1" lang="en-US" altLang="zh-TW" b="0" i="1" smtClean="0">
                            <a:latin typeface="Cambria Math" panose="02040503050406030204" pitchFamily="18" charset="0"/>
                            <a:cs typeface="Helvetica Neue" panose="02000503000000020004" pitchFamily="2" charset="0"/>
                          </a:rPr>
                          <m:t>𝑋</m:t>
                        </m:r>
                        <m:r>
                          <a:rPr kumimoji="1" lang="en-US" altLang="zh-TW" b="0" i="1" smtClean="0">
                            <a:latin typeface="Cambria Math" panose="02040503050406030204" pitchFamily="18" charset="0"/>
                            <a:cs typeface="Helvetica Neue" panose="02000503000000020004" pitchFamily="2" charset="0"/>
                          </a:rPr>
                          <m:t>, </m:t>
                        </m:r>
                        <m:r>
                          <a:rPr kumimoji="1" lang="en-US" altLang="zh-TW" b="0" i="1" smtClean="0">
                            <a:latin typeface="Cambria Math" panose="02040503050406030204" pitchFamily="18" charset="0"/>
                            <a:cs typeface="Helvetica Neue" panose="02000503000000020004" pitchFamily="2" charset="0"/>
                          </a:rPr>
                          <m:t>𝑌</m:t>
                        </m:r>
                      </m:e>
                    </m:d>
                    <m:r>
                      <a:rPr kumimoji="1" lang="en-US" altLang="zh-TW" b="0" i="1" smtClean="0">
                        <a:latin typeface="Cambria Math" panose="02040503050406030204" pitchFamily="18" charset="0"/>
                        <a:cs typeface="Helvetica Neue" panose="02000503000000020004" pitchFamily="2" charset="0"/>
                      </a:rPr>
                      <m:t>, −10≤</m:t>
                    </m:r>
                    <m:r>
                      <a:rPr kumimoji="1" lang="en-US" altLang="zh-TW" b="0" i="1" smtClean="0">
                        <a:latin typeface="Cambria Math" panose="02040503050406030204" pitchFamily="18" charset="0"/>
                        <a:cs typeface="Helvetica Neue" panose="02000503000000020004" pitchFamily="2" charset="0"/>
                      </a:rPr>
                      <m:t>𝑋</m:t>
                    </m:r>
                    <m:r>
                      <a:rPr kumimoji="1" lang="en-US" altLang="zh-TW" b="0" i="1" smtClean="0">
                        <a:latin typeface="Cambria Math" panose="02040503050406030204" pitchFamily="18" charset="0"/>
                        <a:cs typeface="Helvetica Neue" panose="02000503000000020004" pitchFamily="2" charset="0"/>
                      </a:rPr>
                      <m:t>,</m:t>
                    </m:r>
                    <m:r>
                      <a:rPr kumimoji="1" lang="en-US" altLang="zh-TW" b="0" i="1" smtClean="0">
                        <a:latin typeface="Cambria Math" panose="02040503050406030204" pitchFamily="18" charset="0"/>
                        <a:cs typeface="Helvetica Neue" panose="02000503000000020004" pitchFamily="2" charset="0"/>
                      </a:rPr>
                      <m:t>𝑌</m:t>
                    </m:r>
                    <m:r>
                      <a:rPr kumimoji="1" lang="en-US" altLang="zh-TW" b="0" i="1" smtClean="0">
                        <a:latin typeface="Cambria Math" panose="02040503050406030204" pitchFamily="18" charset="0"/>
                        <a:cs typeface="Helvetica Neue" panose="02000503000000020004" pitchFamily="2" charset="0"/>
                      </a:rPr>
                      <m:t>≤10</m:t>
                    </m:r>
                  </m:oMath>
                </a14:m>
                <a:endParaRPr kumimoji="1" lang="en-US" altLang="zh-TW" dirty="0">
                  <a:latin typeface="Helvetica Neue" panose="02000503000000020004" pitchFamily="2" charset="0"/>
                  <a:cs typeface="Helvetica Neue" panose="02000503000000020004" pitchFamily="2" charset="0"/>
                </a:endParaRPr>
              </a:p>
              <a:p>
                <a:pPr lvl="1"/>
                <a:r>
                  <a:rPr kumimoji="1" lang="en-US" altLang="zh-TW" dirty="0">
                    <a:latin typeface="Helvetica Neue" panose="02000503000000020004" pitchFamily="2" charset="0"/>
                    <a:cs typeface="Helvetica Neue" panose="02000503000000020004" pitchFamily="2" charset="0"/>
                  </a:rPr>
                  <a:t>Goal: fitness value = 0, </a:t>
                </a:r>
                <a14:m>
                  <m:oMath xmlns:m="http://schemas.openxmlformats.org/officeDocument/2006/math">
                    <m:d>
                      <m:dPr>
                        <m:begChr m:val="["/>
                        <m:endChr m:val="]"/>
                        <m:ctrlPr>
                          <a:rPr kumimoji="1" lang="en-US" altLang="zh-TW" b="0" i="0" smtClean="0">
                            <a:latin typeface="Cambria Math" panose="02040503050406030204" pitchFamily="18" charset="0"/>
                            <a:cs typeface="Helvetica Neue" panose="02000503000000020004" pitchFamily="2" charset="0"/>
                          </a:rPr>
                        </m:ctrlPr>
                      </m:dPr>
                      <m:e>
                        <m:r>
                          <m:rPr>
                            <m:sty m:val="p"/>
                          </m:rPr>
                          <a:rPr kumimoji="1" lang="en-US" altLang="zh-TW" b="0" i="0" smtClean="0">
                            <a:latin typeface="Cambria Math" panose="02040503050406030204" pitchFamily="18" charset="0"/>
                            <a:cs typeface="Helvetica Neue" panose="02000503000000020004" pitchFamily="2" charset="0"/>
                          </a:rPr>
                          <m:t>X</m:t>
                        </m:r>
                        <m:r>
                          <a:rPr kumimoji="1" lang="en-US" altLang="zh-TW" b="0" i="0" smtClean="0">
                            <a:latin typeface="Cambria Math" panose="02040503050406030204" pitchFamily="18" charset="0"/>
                            <a:cs typeface="Helvetica Neue" panose="02000503000000020004" pitchFamily="2" charset="0"/>
                          </a:rPr>
                          <m:t>, </m:t>
                        </m:r>
                        <m:r>
                          <m:rPr>
                            <m:sty m:val="p"/>
                          </m:rPr>
                          <a:rPr kumimoji="1" lang="en-US" altLang="zh-TW" b="0" i="0" smtClean="0">
                            <a:latin typeface="Cambria Math" panose="02040503050406030204" pitchFamily="18" charset="0"/>
                            <a:cs typeface="Helvetica Neue" panose="02000503000000020004" pitchFamily="2" charset="0"/>
                          </a:rPr>
                          <m:t>Y</m:t>
                        </m:r>
                      </m:e>
                    </m:d>
                    <m:r>
                      <a:rPr kumimoji="1" lang="en-US" altLang="zh-TW" b="0" i="0" smtClean="0">
                        <a:latin typeface="Cambria Math" panose="02040503050406030204" pitchFamily="18" charset="0"/>
                        <a:cs typeface="Helvetica Neue" panose="02000503000000020004" pitchFamily="2" charset="0"/>
                      </a:rPr>
                      <m:t>=</m:t>
                    </m:r>
                    <m:d>
                      <m:dPr>
                        <m:begChr m:val="["/>
                        <m:endChr m:val="]"/>
                        <m:ctrlPr>
                          <a:rPr kumimoji="1" lang="en-US" altLang="zh-TW" b="0" i="1" smtClean="0">
                            <a:latin typeface="Cambria Math" panose="02040503050406030204" pitchFamily="18" charset="0"/>
                            <a:cs typeface="Helvetica Neue" panose="02000503000000020004" pitchFamily="2" charset="0"/>
                          </a:rPr>
                        </m:ctrlPr>
                      </m:dPr>
                      <m:e>
                        <m:r>
                          <a:rPr kumimoji="1" lang="en-US" altLang="zh-TW" b="0" i="1" smtClean="0">
                            <a:latin typeface="Cambria Math" panose="02040503050406030204" pitchFamily="18" charset="0"/>
                            <a:cs typeface="Helvetica Neue" panose="02000503000000020004" pitchFamily="2" charset="0"/>
                          </a:rPr>
                          <m:t>0, 0</m:t>
                        </m:r>
                      </m:e>
                    </m:d>
                  </m:oMath>
                </a14:m>
                <a:endParaRPr kumimoji="1" lang="en-US" altLang="zh-TW" dirty="0">
                  <a:latin typeface="Helvetica Neue" panose="02000503000000020004" pitchFamily="2" charset="0"/>
                  <a:cs typeface="Helvetica Neue" panose="02000503000000020004" pitchFamily="2" charset="0"/>
                </a:endParaRPr>
              </a:p>
            </p:txBody>
          </p:sp>
        </mc:Choice>
        <mc:Fallback>
          <p:sp>
            <p:nvSpPr>
              <p:cNvPr id="46" name="內容版面配置區 2">
                <a:extLst>
                  <a:ext uri="{FF2B5EF4-FFF2-40B4-BE49-F238E27FC236}">
                    <a16:creationId xmlns:a16="http://schemas.microsoft.com/office/drawing/2014/main" id="{64A7C6B6-5E8D-13EF-D74B-7BA2188679CE}"/>
                  </a:ext>
                </a:extLst>
              </p:cNvPr>
              <p:cNvSpPr>
                <a:spLocks noGrp="1" noRot="1" noChangeAspect="1" noMove="1" noResize="1" noEditPoints="1" noAdjustHandles="1" noChangeArrowheads="1" noChangeShapeType="1" noTextEdit="1"/>
              </p:cNvSpPr>
              <p:nvPr>
                <p:ph idx="1"/>
              </p:nvPr>
            </p:nvSpPr>
            <p:spPr>
              <a:xfrm>
                <a:off x="574384" y="1503289"/>
                <a:ext cx="11043232" cy="2525256"/>
              </a:xfrm>
              <a:blipFill>
                <a:blip r:embed="rId3"/>
                <a:stretch>
                  <a:fillRect l="-805" t="-5000"/>
                </a:stretch>
              </a:blipFill>
            </p:spPr>
            <p:txBody>
              <a:bodyPr/>
              <a:lstStyle/>
              <a:p>
                <a:r>
                  <a:rPr lang="zh-TW" altLang="en-US">
                    <a:noFill/>
                  </a:rPr>
                  <a:t> </a:t>
                </a:r>
              </a:p>
            </p:txBody>
          </p:sp>
        </mc:Fallback>
      </mc:AlternateContent>
      <p:sp>
        <p:nvSpPr>
          <p:cNvPr id="50" name="投影片編號版面配置區 49">
            <a:extLst>
              <a:ext uri="{FF2B5EF4-FFF2-40B4-BE49-F238E27FC236}">
                <a16:creationId xmlns:a16="http://schemas.microsoft.com/office/drawing/2014/main" id="{94368D10-96F2-D809-6834-6523B1506A4E}"/>
              </a:ext>
            </a:extLst>
          </p:cNvPr>
          <p:cNvSpPr>
            <a:spLocks noGrp="1"/>
          </p:cNvSpPr>
          <p:nvPr>
            <p:ph type="sldNum" sz="quarter" idx="12"/>
          </p:nvPr>
        </p:nvSpPr>
        <p:spPr/>
        <p:txBody>
          <a:bodyPr/>
          <a:lstStyle/>
          <a:p>
            <a:fld id="{CAFF4EFA-4C8F-9641-85B7-1744568BBCAB}" type="slidenum">
              <a:rPr kumimoji="1" lang="zh-TW" altLang="en-US" smtClean="0"/>
              <a:t>4</a:t>
            </a:fld>
            <a:endParaRPr kumimoji="1" lang="zh-TW" altLang="en-US"/>
          </a:p>
        </p:txBody>
      </p:sp>
    </p:spTree>
    <p:extLst>
      <p:ext uri="{BB962C8B-B14F-4D97-AF65-F5344CB8AC3E}">
        <p14:creationId xmlns:p14="http://schemas.microsoft.com/office/powerpoint/2010/main" val="24485380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04072-8203-2E9C-4361-31192D676BBF}"/>
            </a:ext>
          </a:extLst>
        </p:cNvPr>
        <p:cNvGrpSpPr/>
        <p:nvPr/>
      </p:nvGrpSpPr>
      <p:grpSpPr>
        <a:xfrm>
          <a:off x="0" y="0"/>
          <a:ext cx="0" cy="0"/>
          <a:chOff x="0" y="0"/>
          <a:chExt cx="0" cy="0"/>
        </a:xfrm>
      </p:grpSpPr>
      <p:cxnSp>
        <p:nvCxnSpPr>
          <p:cNvPr id="28" name="直線接點 27">
            <a:extLst>
              <a:ext uri="{FF2B5EF4-FFF2-40B4-BE49-F238E27FC236}">
                <a16:creationId xmlns:a16="http://schemas.microsoft.com/office/drawing/2014/main" id="{533B0FAB-0E07-3C26-AA4D-D8CA93D02D36}"/>
              </a:ext>
            </a:extLst>
          </p:cNvPr>
          <p:cNvCxnSpPr>
            <a:cxnSpLocks/>
          </p:cNvCxnSpPr>
          <p:nvPr/>
        </p:nvCxnSpPr>
        <p:spPr>
          <a:xfrm>
            <a:off x="7593046" y="1317536"/>
            <a:ext cx="0" cy="5324355"/>
          </a:xfrm>
          <a:prstGeom prst="line">
            <a:avLst/>
          </a:prstGeom>
          <a:ln w="38100">
            <a:solidFill>
              <a:schemeClr val="accent5">
                <a:lumMod val="20000"/>
                <a:lumOff val="8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2" name="標題 1">
            <a:extLst>
              <a:ext uri="{FF2B5EF4-FFF2-40B4-BE49-F238E27FC236}">
                <a16:creationId xmlns:a16="http://schemas.microsoft.com/office/drawing/2014/main" id="{AD2A71B1-83FD-1160-6B7B-D7A6F2E37EA4}"/>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Project Architecture</a:t>
            </a:r>
            <a:endParaRPr kumimoji="1" lang="zh-TW" altLang="en-US" b="1" dirty="0">
              <a:latin typeface="Helvetica Neue" panose="02000503000000020004" pitchFamily="2" charset="0"/>
              <a:cs typeface="Helvetica Neue" panose="02000503000000020004" pitchFamily="2" charset="0"/>
            </a:endParaRPr>
          </a:p>
        </p:txBody>
      </p:sp>
      <p:grpSp>
        <p:nvGrpSpPr>
          <p:cNvPr id="22" name="群組 21">
            <a:extLst>
              <a:ext uri="{FF2B5EF4-FFF2-40B4-BE49-F238E27FC236}">
                <a16:creationId xmlns:a16="http://schemas.microsoft.com/office/drawing/2014/main" id="{D11BFFCC-95F3-6525-2ADA-3E0BC4E71A5F}"/>
              </a:ext>
            </a:extLst>
          </p:cNvPr>
          <p:cNvGrpSpPr/>
          <p:nvPr/>
        </p:nvGrpSpPr>
        <p:grpSpPr>
          <a:xfrm>
            <a:off x="433445" y="1902065"/>
            <a:ext cx="6848959" cy="4324418"/>
            <a:chOff x="1382570" y="1925214"/>
            <a:chExt cx="6848959" cy="4324418"/>
          </a:xfrm>
        </p:grpSpPr>
        <p:grpSp>
          <p:nvGrpSpPr>
            <p:cNvPr id="3" name="群組 2">
              <a:extLst>
                <a:ext uri="{FF2B5EF4-FFF2-40B4-BE49-F238E27FC236}">
                  <a16:creationId xmlns:a16="http://schemas.microsoft.com/office/drawing/2014/main" id="{0530073F-CE3D-BE92-5D7B-282993E9C944}"/>
                </a:ext>
              </a:extLst>
            </p:cNvPr>
            <p:cNvGrpSpPr/>
            <p:nvPr/>
          </p:nvGrpSpPr>
          <p:grpSpPr>
            <a:xfrm>
              <a:off x="1382570" y="1925214"/>
              <a:ext cx="1709122" cy="1091731"/>
              <a:chOff x="838200" y="1897240"/>
              <a:chExt cx="1709122" cy="1091731"/>
            </a:xfrm>
          </p:grpSpPr>
          <p:sp>
            <p:nvSpPr>
              <p:cNvPr id="4" name="文字方塊 3">
                <a:extLst>
                  <a:ext uri="{FF2B5EF4-FFF2-40B4-BE49-F238E27FC236}">
                    <a16:creationId xmlns:a16="http://schemas.microsoft.com/office/drawing/2014/main" id="{7AAECE64-C71E-5DA1-57E3-7B108F21BB78}"/>
                  </a:ext>
                </a:extLst>
              </p:cNvPr>
              <p:cNvSpPr txBox="1"/>
              <p:nvPr/>
            </p:nvSpPr>
            <p:spPr>
              <a:xfrm>
                <a:off x="838200" y="2281085"/>
                <a:ext cx="1709122" cy="707886"/>
              </a:xfrm>
              <a:prstGeom prst="rect">
                <a:avLst/>
              </a:prstGeom>
              <a:solidFill>
                <a:schemeClr val="bg1">
                  <a:lumMod val="95000"/>
                </a:schemeClr>
              </a:solidFill>
            </p:spPr>
            <p:txBody>
              <a:bodyPr wrap="square">
                <a:spAutoFit/>
              </a:bodyPr>
              <a:lstStyle/>
              <a:p>
                <a:r>
                  <a:rPr lang="en" altLang="zh-TW" sz="2000" dirty="0" err="1">
                    <a:solidFill>
                      <a:srgbClr val="7030A0"/>
                    </a:solidFill>
                    <a:latin typeface="Menlo" panose="020B0609030804020204" pitchFamily="49" charset="0"/>
                  </a:rPr>
                  <a:t>m_genes</a:t>
                </a:r>
                <a:endParaRPr lang="en" altLang="zh-TW" sz="2000" dirty="0">
                  <a:solidFill>
                    <a:srgbClr val="7030A0"/>
                  </a:solidFill>
                  <a:latin typeface="Menlo" panose="020B0609030804020204" pitchFamily="49" charset="0"/>
                </a:endParaRPr>
              </a:p>
              <a:p>
                <a:r>
                  <a:rPr lang="en" altLang="zh-TW" sz="2000" dirty="0" err="1">
                    <a:solidFill>
                      <a:srgbClr val="7030A0"/>
                    </a:solidFill>
                    <a:latin typeface="Menlo" panose="020B0609030804020204" pitchFamily="49" charset="0"/>
                  </a:rPr>
                  <a:t>m_fitness</a:t>
                </a:r>
                <a:endParaRPr lang="en" altLang="zh-TW" sz="2000" dirty="0">
                  <a:solidFill>
                    <a:srgbClr val="7030A0"/>
                  </a:solidFill>
                  <a:latin typeface="Menlo" panose="020B0609030804020204" pitchFamily="49" charset="0"/>
                </a:endParaRPr>
              </a:p>
            </p:txBody>
          </p:sp>
          <p:sp>
            <p:nvSpPr>
              <p:cNvPr id="5" name="文字方塊 4">
                <a:extLst>
                  <a:ext uri="{FF2B5EF4-FFF2-40B4-BE49-F238E27FC236}">
                    <a16:creationId xmlns:a16="http://schemas.microsoft.com/office/drawing/2014/main" id="{0D5C37D7-C022-59D7-8D40-05A207181115}"/>
                  </a:ext>
                </a:extLst>
              </p:cNvPr>
              <p:cNvSpPr txBox="1"/>
              <p:nvPr/>
            </p:nvSpPr>
            <p:spPr>
              <a:xfrm>
                <a:off x="838200" y="1897240"/>
                <a:ext cx="1709122"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individual.cpp</a:t>
                </a:r>
                <a:endParaRPr kumimoji="1" lang="zh-TW" altLang="en-US" b="1" dirty="0">
                  <a:latin typeface="Helvetica Neue" panose="02000503000000020004" pitchFamily="2" charset="0"/>
                  <a:cs typeface="Helvetica Neue" panose="02000503000000020004" pitchFamily="2" charset="0"/>
                </a:endParaRPr>
              </a:p>
            </p:txBody>
          </p:sp>
        </p:grpSp>
        <p:grpSp>
          <p:nvGrpSpPr>
            <p:cNvPr id="6" name="群組 5">
              <a:extLst>
                <a:ext uri="{FF2B5EF4-FFF2-40B4-BE49-F238E27FC236}">
                  <a16:creationId xmlns:a16="http://schemas.microsoft.com/office/drawing/2014/main" id="{13C1B448-B43C-8491-ABA2-C21FF876F7A2}"/>
                </a:ext>
              </a:extLst>
            </p:cNvPr>
            <p:cNvGrpSpPr/>
            <p:nvPr/>
          </p:nvGrpSpPr>
          <p:grpSpPr>
            <a:xfrm>
              <a:off x="1382570" y="3619018"/>
              <a:ext cx="2981087" cy="2630614"/>
              <a:chOff x="838199" y="1897240"/>
              <a:chExt cx="2981087" cy="2630614"/>
            </a:xfrm>
          </p:grpSpPr>
          <p:sp>
            <p:nvSpPr>
              <p:cNvPr id="8" name="文字方塊 7">
                <a:extLst>
                  <a:ext uri="{FF2B5EF4-FFF2-40B4-BE49-F238E27FC236}">
                    <a16:creationId xmlns:a16="http://schemas.microsoft.com/office/drawing/2014/main" id="{342FFB1D-6282-E214-C1BF-F23EACEDCF66}"/>
                  </a:ext>
                </a:extLst>
              </p:cNvPr>
              <p:cNvSpPr txBox="1"/>
              <p:nvPr/>
            </p:nvSpPr>
            <p:spPr>
              <a:xfrm>
                <a:off x="838199" y="2281085"/>
                <a:ext cx="2981087" cy="2246769"/>
              </a:xfrm>
              <a:prstGeom prst="rect">
                <a:avLst/>
              </a:prstGeom>
              <a:solidFill>
                <a:schemeClr val="bg1">
                  <a:lumMod val="95000"/>
                </a:schemeClr>
              </a:solidFill>
            </p:spPr>
            <p:txBody>
              <a:bodyPr wrap="square">
                <a:spAutoFit/>
              </a:bodyPr>
              <a:lstStyle/>
              <a:p>
                <a:r>
                  <a:rPr lang="en" altLang="zh-TW" sz="2000" dirty="0" err="1">
                    <a:solidFill>
                      <a:srgbClr val="7030A0"/>
                    </a:solidFill>
                    <a:latin typeface="Menlo" panose="020B0609030804020204" pitchFamily="49" charset="0"/>
                  </a:rPr>
                  <a:t>set_fitness_func</a:t>
                </a:r>
                <a:r>
                  <a:rPr lang="en" altLang="zh-TW" sz="2000" dirty="0">
                    <a:solidFill>
                      <a:srgbClr val="7030A0"/>
                    </a:solidFill>
                    <a:latin typeface="Menlo" panose="020B0609030804020204" pitchFamily="49" charset="0"/>
                  </a:rPr>
                  <a:t>()</a:t>
                </a:r>
              </a:p>
              <a:p>
                <a:r>
                  <a:rPr lang="en" altLang="zh-TW" sz="2000" dirty="0">
                    <a:solidFill>
                      <a:srgbClr val="7030A0"/>
                    </a:solidFill>
                    <a:latin typeface="Menlo" panose="020B0609030804020204" pitchFamily="49" charset="0"/>
                  </a:rPr>
                  <a:t>solve()</a:t>
                </a:r>
              </a:p>
              <a:p>
                <a:r>
                  <a:rPr lang="en" altLang="zh-TW" sz="2000" dirty="0">
                    <a:solidFill>
                      <a:srgbClr val="7030A0"/>
                    </a:solidFill>
                    <a:latin typeface="Menlo" panose="020B0609030804020204" pitchFamily="49" charset="0"/>
                  </a:rPr>
                  <a:t>evaluate()</a:t>
                </a:r>
              </a:p>
              <a:p>
                <a:r>
                  <a:rPr lang="en" altLang="zh-TW" sz="2000" dirty="0">
                    <a:solidFill>
                      <a:srgbClr val="7030A0"/>
                    </a:solidFill>
                    <a:latin typeface="Menlo" panose="020B0609030804020204" pitchFamily="49" charset="0"/>
                  </a:rPr>
                  <a:t>selection() </a:t>
                </a:r>
              </a:p>
              <a:p>
                <a:r>
                  <a:rPr lang="en" altLang="zh-TW" sz="2000" dirty="0">
                    <a:solidFill>
                      <a:srgbClr val="7030A0"/>
                    </a:solidFill>
                    <a:latin typeface="Menlo" panose="020B0609030804020204" pitchFamily="49" charset="0"/>
                  </a:rPr>
                  <a:t>reproduction()</a:t>
                </a:r>
              </a:p>
              <a:p>
                <a:r>
                  <a:rPr lang="en" altLang="zh-TW" sz="2000" dirty="0">
                    <a:solidFill>
                      <a:srgbClr val="7030A0"/>
                    </a:solidFill>
                    <a:latin typeface="Menlo" panose="020B0609030804020204" pitchFamily="49" charset="0"/>
                  </a:rPr>
                  <a:t>mutation()</a:t>
                </a:r>
              </a:p>
              <a:p>
                <a:r>
                  <a:rPr lang="en" altLang="zh-TW" sz="2000" dirty="0" err="1">
                    <a:solidFill>
                      <a:srgbClr val="7030A0"/>
                    </a:solidFill>
                    <a:latin typeface="Menlo" panose="020B0609030804020204" pitchFamily="49" charset="0"/>
                  </a:rPr>
                  <a:t>get_best</a:t>
                </a:r>
                <a:r>
                  <a:rPr lang="en" altLang="zh-TW" sz="2000" dirty="0">
                    <a:solidFill>
                      <a:srgbClr val="7030A0"/>
                    </a:solidFill>
                    <a:latin typeface="Menlo" panose="020B0609030804020204" pitchFamily="49" charset="0"/>
                  </a:rPr>
                  <a:t>()</a:t>
                </a:r>
              </a:p>
            </p:txBody>
          </p:sp>
          <p:sp>
            <p:nvSpPr>
              <p:cNvPr id="9" name="文字方塊 8">
                <a:extLst>
                  <a:ext uri="{FF2B5EF4-FFF2-40B4-BE49-F238E27FC236}">
                    <a16:creationId xmlns:a16="http://schemas.microsoft.com/office/drawing/2014/main" id="{904DF1B6-796B-F0A1-845E-C17B3924A91B}"/>
                  </a:ext>
                </a:extLst>
              </p:cNvPr>
              <p:cNvSpPr txBox="1"/>
              <p:nvPr/>
            </p:nvSpPr>
            <p:spPr>
              <a:xfrm>
                <a:off x="838200" y="1897240"/>
                <a:ext cx="1699119"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ga_solver.cpp</a:t>
                </a:r>
                <a:endParaRPr kumimoji="1" lang="zh-TW" altLang="en-US" b="1" dirty="0">
                  <a:latin typeface="Helvetica Neue" panose="02000503000000020004" pitchFamily="2" charset="0"/>
                  <a:cs typeface="Helvetica Neue" panose="02000503000000020004" pitchFamily="2" charset="0"/>
                </a:endParaRPr>
              </a:p>
            </p:txBody>
          </p:sp>
        </p:grpSp>
        <p:grpSp>
          <p:nvGrpSpPr>
            <p:cNvPr id="10" name="群組 9">
              <a:extLst>
                <a:ext uri="{FF2B5EF4-FFF2-40B4-BE49-F238E27FC236}">
                  <a16:creationId xmlns:a16="http://schemas.microsoft.com/office/drawing/2014/main" id="{B78665A4-4A22-7951-9189-3C232A0FD8D4}"/>
                </a:ext>
              </a:extLst>
            </p:cNvPr>
            <p:cNvGrpSpPr/>
            <p:nvPr/>
          </p:nvGrpSpPr>
          <p:grpSpPr>
            <a:xfrm>
              <a:off x="5250443" y="2919264"/>
              <a:ext cx="2981086" cy="1399508"/>
              <a:chOff x="838200" y="1897240"/>
              <a:chExt cx="2981086" cy="1399508"/>
            </a:xfrm>
          </p:grpSpPr>
          <p:sp>
            <p:nvSpPr>
              <p:cNvPr id="11" name="文字方塊 10">
                <a:extLst>
                  <a:ext uri="{FF2B5EF4-FFF2-40B4-BE49-F238E27FC236}">
                    <a16:creationId xmlns:a16="http://schemas.microsoft.com/office/drawing/2014/main" id="{3F51E42C-43E7-F893-697A-61B5B291BBE8}"/>
                  </a:ext>
                </a:extLst>
              </p:cNvPr>
              <p:cNvSpPr txBox="1"/>
              <p:nvPr/>
            </p:nvSpPr>
            <p:spPr>
              <a:xfrm>
                <a:off x="838200" y="2281085"/>
                <a:ext cx="2981086" cy="1015663"/>
              </a:xfrm>
              <a:prstGeom prst="rect">
                <a:avLst/>
              </a:prstGeom>
              <a:solidFill>
                <a:schemeClr val="bg1">
                  <a:lumMod val="95000"/>
                </a:schemeClr>
              </a:solidFill>
            </p:spPr>
            <p:txBody>
              <a:bodyPr wrap="square">
                <a:spAutoFit/>
              </a:bodyPr>
              <a:lstStyle/>
              <a:p>
                <a:r>
                  <a:rPr lang="en" altLang="zh-TW" sz="2000" dirty="0" err="1">
                    <a:solidFill>
                      <a:srgbClr val="7030A0"/>
                    </a:solidFill>
                    <a:latin typeface="Menlo" panose="020B0609030804020204" pitchFamily="49" charset="0"/>
                  </a:rPr>
                  <a:t>set_fitness_func</a:t>
                </a:r>
                <a:r>
                  <a:rPr lang="en" altLang="zh-TW" sz="2000" dirty="0">
                    <a:solidFill>
                      <a:srgbClr val="7030A0"/>
                    </a:solidFill>
                    <a:latin typeface="Menlo" panose="020B0609030804020204" pitchFamily="49" charset="0"/>
                  </a:rPr>
                  <a:t>()</a:t>
                </a:r>
              </a:p>
              <a:p>
                <a:r>
                  <a:rPr lang="en" altLang="zh-TW" sz="2000" dirty="0">
                    <a:solidFill>
                      <a:srgbClr val="7030A0"/>
                    </a:solidFill>
                    <a:latin typeface="Menlo" panose="020B0609030804020204" pitchFamily="49" charset="0"/>
                  </a:rPr>
                  <a:t>solve()</a:t>
                </a:r>
              </a:p>
              <a:p>
                <a:r>
                  <a:rPr lang="en" altLang="zh-TW" sz="2000" dirty="0" err="1">
                    <a:solidFill>
                      <a:srgbClr val="7030A0"/>
                    </a:solidFill>
                    <a:latin typeface="Menlo" panose="020B0609030804020204" pitchFamily="49" charset="0"/>
                  </a:rPr>
                  <a:t>get_best</a:t>
                </a:r>
                <a:r>
                  <a:rPr lang="en" altLang="zh-TW" sz="2000" dirty="0">
                    <a:solidFill>
                      <a:srgbClr val="7030A0"/>
                    </a:solidFill>
                    <a:latin typeface="Menlo" panose="020B0609030804020204" pitchFamily="49" charset="0"/>
                  </a:rPr>
                  <a:t>()</a:t>
                </a:r>
              </a:p>
            </p:txBody>
          </p:sp>
          <p:sp>
            <p:nvSpPr>
              <p:cNvPr id="12" name="文字方塊 11">
                <a:extLst>
                  <a:ext uri="{FF2B5EF4-FFF2-40B4-BE49-F238E27FC236}">
                    <a16:creationId xmlns:a16="http://schemas.microsoft.com/office/drawing/2014/main" id="{D1CCD95D-D9BE-6AEA-B688-5CF7CB8FFDC7}"/>
                  </a:ext>
                </a:extLst>
              </p:cNvPr>
              <p:cNvSpPr txBox="1"/>
              <p:nvPr/>
            </p:nvSpPr>
            <p:spPr>
              <a:xfrm>
                <a:off x="838200" y="1897240"/>
                <a:ext cx="1478290"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binding.cpp</a:t>
                </a:r>
                <a:endParaRPr kumimoji="1" lang="zh-TW" altLang="en-US" b="1" dirty="0">
                  <a:latin typeface="Helvetica Neue" panose="02000503000000020004" pitchFamily="2" charset="0"/>
                  <a:cs typeface="Helvetica Neue" panose="02000503000000020004" pitchFamily="2" charset="0"/>
                </a:endParaRPr>
              </a:p>
            </p:txBody>
          </p:sp>
        </p:grpSp>
        <p:cxnSp>
          <p:nvCxnSpPr>
            <p:cNvPr id="14" name="肘形接點 13">
              <a:extLst>
                <a:ext uri="{FF2B5EF4-FFF2-40B4-BE49-F238E27FC236}">
                  <a16:creationId xmlns:a16="http://schemas.microsoft.com/office/drawing/2014/main" id="{085E92A6-0A84-6946-B420-DADB97DF8213}"/>
                </a:ext>
              </a:extLst>
            </p:cNvPr>
            <p:cNvCxnSpPr>
              <a:stCxn id="4" idx="3"/>
              <a:endCxn id="11" idx="1"/>
            </p:cNvCxnSpPr>
            <p:nvPr/>
          </p:nvCxnSpPr>
          <p:spPr>
            <a:xfrm>
              <a:off x="3091692" y="2663002"/>
              <a:ext cx="2158751" cy="1147939"/>
            </a:xfrm>
            <a:prstGeom prst="bentConnector3">
              <a:avLst>
                <a:gd name="adj1" fmla="val 79490"/>
              </a:avLst>
            </a:prstGeom>
            <a:ln>
              <a:tailEnd type="triangle"/>
            </a:ln>
          </p:spPr>
          <p:style>
            <a:lnRef idx="2">
              <a:schemeClr val="dk1"/>
            </a:lnRef>
            <a:fillRef idx="0">
              <a:schemeClr val="dk1"/>
            </a:fillRef>
            <a:effectRef idx="1">
              <a:schemeClr val="dk1"/>
            </a:effectRef>
            <a:fontRef idx="minor">
              <a:schemeClr val="tx1"/>
            </a:fontRef>
          </p:style>
        </p:cxnSp>
        <p:cxnSp>
          <p:nvCxnSpPr>
            <p:cNvPr id="17" name="肘形接點 16">
              <a:extLst>
                <a:ext uri="{FF2B5EF4-FFF2-40B4-BE49-F238E27FC236}">
                  <a16:creationId xmlns:a16="http://schemas.microsoft.com/office/drawing/2014/main" id="{A32B004B-1EB6-FD85-5728-D3948D606C69}"/>
                </a:ext>
              </a:extLst>
            </p:cNvPr>
            <p:cNvCxnSpPr>
              <a:stCxn id="8" idx="3"/>
              <a:endCxn id="11" idx="1"/>
            </p:cNvCxnSpPr>
            <p:nvPr/>
          </p:nvCxnSpPr>
          <p:spPr>
            <a:xfrm flipV="1">
              <a:off x="4363657" y="3810941"/>
              <a:ext cx="886786" cy="1315307"/>
            </a:xfrm>
            <a:prstGeom prst="bentConnector3">
              <a:avLst/>
            </a:prstGeom>
            <a:ln>
              <a:tailEnd type="triangle"/>
            </a:ln>
          </p:spPr>
          <p:style>
            <a:lnRef idx="2">
              <a:schemeClr val="dk1"/>
            </a:lnRef>
            <a:fillRef idx="0">
              <a:schemeClr val="dk1"/>
            </a:fillRef>
            <a:effectRef idx="1">
              <a:schemeClr val="dk1"/>
            </a:effectRef>
            <a:fontRef idx="minor">
              <a:schemeClr val="tx1"/>
            </a:fontRef>
          </p:style>
        </p:cxnSp>
      </p:grpSp>
      <p:grpSp>
        <p:nvGrpSpPr>
          <p:cNvPr id="19" name="群組 18">
            <a:extLst>
              <a:ext uri="{FF2B5EF4-FFF2-40B4-BE49-F238E27FC236}">
                <a16:creationId xmlns:a16="http://schemas.microsoft.com/office/drawing/2014/main" id="{9FEB9F4D-DB16-A4B3-DD49-E3F9A3874C8C}"/>
              </a:ext>
            </a:extLst>
          </p:cNvPr>
          <p:cNvGrpSpPr/>
          <p:nvPr/>
        </p:nvGrpSpPr>
        <p:grpSpPr>
          <a:xfrm>
            <a:off x="7938359" y="2434450"/>
            <a:ext cx="3972650" cy="2322837"/>
            <a:chOff x="838200" y="1897240"/>
            <a:chExt cx="3972650" cy="2322837"/>
          </a:xfrm>
        </p:grpSpPr>
        <p:sp>
          <p:nvSpPr>
            <p:cNvPr id="20" name="文字方塊 19">
              <a:extLst>
                <a:ext uri="{FF2B5EF4-FFF2-40B4-BE49-F238E27FC236}">
                  <a16:creationId xmlns:a16="http://schemas.microsoft.com/office/drawing/2014/main" id="{CB195DF1-3A9D-0C08-05B1-1AF37E543F56}"/>
                </a:ext>
              </a:extLst>
            </p:cNvPr>
            <p:cNvSpPr txBox="1"/>
            <p:nvPr/>
          </p:nvSpPr>
          <p:spPr>
            <a:xfrm>
              <a:off x="838200" y="2281085"/>
              <a:ext cx="3972650" cy="1938992"/>
            </a:xfrm>
            <a:prstGeom prst="rect">
              <a:avLst/>
            </a:prstGeom>
            <a:solidFill>
              <a:schemeClr val="bg1">
                <a:lumMod val="95000"/>
              </a:schemeClr>
            </a:solidFill>
          </p:spPr>
          <p:txBody>
            <a:bodyPr wrap="square">
              <a:spAutoFit/>
            </a:bodyPr>
            <a:lstStyle/>
            <a:p>
              <a:r>
                <a:rPr lang="en" altLang="zh-TW" sz="2000" dirty="0">
                  <a:latin typeface="Menlo" panose="020B0609030804020204" pitchFamily="49" charset="0"/>
                </a:rPr>
                <a:t>import</a:t>
              </a:r>
              <a:r>
                <a:rPr lang="en" altLang="zh-TW" sz="2000" dirty="0">
                  <a:solidFill>
                    <a:srgbClr val="7030A0"/>
                  </a:solidFill>
                  <a:latin typeface="Menlo" panose="020B0609030804020204" pitchFamily="49" charset="0"/>
                </a:rPr>
                <a:t> </a:t>
              </a:r>
              <a:r>
                <a:rPr lang="en" altLang="zh-TW" sz="2000" dirty="0" err="1">
                  <a:solidFill>
                    <a:srgbClr val="7030A0"/>
                  </a:solidFill>
                  <a:latin typeface="Menlo" panose="020B0609030804020204" pitchFamily="49" charset="0"/>
                </a:rPr>
                <a:t>fastga</a:t>
              </a:r>
              <a:endParaRPr lang="en" altLang="zh-TW" sz="2000" dirty="0">
                <a:solidFill>
                  <a:srgbClr val="7030A0"/>
                </a:solidFill>
                <a:latin typeface="Menlo" panose="020B0609030804020204" pitchFamily="49" charset="0"/>
              </a:endParaRPr>
            </a:p>
            <a:p>
              <a:endParaRPr lang="en" altLang="zh-TW" sz="2000" dirty="0">
                <a:latin typeface="Menlo" panose="020B0609030804020204" pitchFamily="49" charset="0"/>
              </a:endParaRPr>
            </a:p>
            <a:p>
              <a:r>
                <a:rPr lang="en" altLang="zh-TW" sz="2000" dirty="0">
                  <a:latin typeface="Menlo" panose="020B0609030804020204" pitchFamily="49" charset="0"/>
                </a:rPr>
                <a:t>solver = </a:t>
              </a:r>
              <a:r>
                <a:rPr lang="en" altLang="zh-TW" sz="2000" dirty="0" err="1">
                  <a:solidFill>
                    <a:srgbClr val="7030A0"/>
                  </a:solidFill>
                  <a:latin typeface="Menlo" panose="020B0609030804020204" pitchFamily="49" charset="0"/>
                </a:rPr>
                <a:t>fastga</a:t>
              </a:r>
              <a:r>
                <a:rPr lang="en" altLang="zh-TW" sz="2000" dirty="0" err="1">
                  <a:latin typeface="Menlo" panose="020B0609030804020204" pitchFamily="49" charset="0"/>
                </a:rPr>
                <a:t>.GASolver</a:t>
              </a:r>
              <a:endParaRPr lang="en" altLang="zh-TW" sz="2000" dirty="0">
                <a:latin typeface="Menlo" panose="020B0609030804020204" pitchFamily="49" charset="0"/>
              </a:endParaRPr>
            </a:p>
            <a:p>
              <a:r>
                <a:rPr lang="en" altLang="zh-TW" sz="2000" dirty="0" err="1">
                  <a:latin typeface="Menlo" panose="020B0609030804020204" pitchFamily="49" charset="0"/>
                </a:rPr>
                <a:t>solver.</a:t>
              </a:r>
              <a:r>
                <a:rPr lang="en" altLang="zh-TW" sz="2000" dirty="0" err="1">
                  <a:solidFill>
                    <a:srgbClr val="7030A0"/>
                  </a:solidFill>
                  <a:latin typeface="Menlo" panose="020B0609030804020204" pitchFamily="49" charset="0"/>
                </a:rPr>
                <a:t>set_fitness_func</a:t>
              </a:r>
              <a:r>
                <a:rPr lang="en" altLang="zh-TW" sz="2000" dirty="0">
                  <a:solidFill>
                    <a:srgbClr val="7030A0"/>
                  </a:solidFill>
                  <a:latin typeface="Menlo" panose="020B0609030804020204" pitchFamily="49" charset="0"/>
                </a:rPr>
                <a:t>()</a:t>
              </a:r>
            </a:p>
            <a:p>
              <a:r>
                <a:rPr lang="en" altLang="zh-TW" sz="2000" dirty="0" err="1">
                  <a:latin typeface="Menlo" panose="020B0609030804020204" pitchFamily="49" charset="0"/>
                </a:rPr>
                <a:t>solver.</a:t>
              </a:r>
              <a:r>
                <a:rPr lang="en" altLang="zh-TW" sz="2000" dirty="0" err="1">
                  <a:solidFill>
                    <a:srgbClr val="7030A0"/>
                  </a:solidFill>
                  <a:latin typeface="Menlo" panose="020B0609030804020204" pitchFamily="49" charset="0"/>
                </a:rPr>
                <a:t>solve</a:t>
              </a:r>
              <a:r>
                <a:rPr lang="en" altLang="zh-TW" sz="2000" dirty="0">
                  <a:latin typeface="Menlo" panose="020B0609030804020204" pitchFamily="49" charset="0"/>
                </a:rPr>
                <a:t>(generations)</a:t>
              </a:r>
            </a:p>
            <a:p>
              <a:r>
                <a:rPr lang="en" altLang="zh-TW" sz="2000" dirty="0" err="1">
                  <a:latin typeface="Menlo" panose="020B0609030804020204" pitchFamily="49" charset="0"/>
                </a:rPr>
                <a:t>solver.</a:t>
              </a:r>
              <a:r>
                <a:rPr lang="en" altLang="zh-TW" sz="2000" dirty="0" err="1">
                  <a:solidFill>
                    <a:srgbClr val="7030A0"/>
                  </a:solidFill>
                  <a:latin typeface="Menlo" panose="020B0609030804020204" pitchFamily="49" charset="0"/>
                </a:rPr>
                <a:t>get_best</a:t>
              </a:r>
              <a:r>
                <a:rPr lang="en" altLang="zh-TW" sz="2000" dirty="0">
                  <a:solidFill>
                    <a:srgbClr val="7030A0"/>
                  </a:solidFill>
                  <a:latin typeface="Menlo" panose="020B0609030804020204" pitchFamily="49" charset="0"/>
                </a:rPr>
                <a:t>()</a:t>
              </a:r>
            </a:p>
          </p:txBody>
        </p:sp>
        <p:sp>
          <p:nvSpPr>
            <p:cNvPr id="21" name="文字方塊 20">
              <a:extLst>
                <a:ext uri="{FF2B5EF4-FFF2-40B4-BE49-F238E27FC236}">
                  <a16:creationId xmlns:a16="http://schemas.microsoft.com/office/drawing/2014/main" id="{2B84667E-A8F5-29F7-C415-32EA1931C137}"/>
                </a:ext>
              </a:extLst>
            </p:cNvPr>
            <p:cNvSpPr txBox="1"/>
            <p:nvPr/>
          </p:nvSpPr>
          <p:spPr>
            <a:xfrm>
              <a:off x="838200" y="1897240"/>
              <a:ext cx="1047082"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main.py</a:t>
              </a:r>
              <a:endParaRPr kumimoji="1" lang="zh-TW" altLang="en-US" b="1" dirty="0">
                <a:latin typeface="Helvetica Neue" panose="02000503000000020004" pitchFamily="2" charset="0"/>
                <a:cs typeface="Helvetica Neue" panose="02000503000000020004" pitchFamily="2" charset="0"/>
              </a:endParaRPr>
            </a:p>
          </p:txBody>
        </p:sp>
      </p:grpSp>
      <p:cxnSp>
        <p:nvCxnSpPr>
          <p:cNvPr id="26" name="直線箭頭接點 25">
            <a:extLst>
              <a:ext uri="{FF2B5EF4-FFF2-40B4-BE49-F238E27FC236}">
                <a16:creationId xmlns:a16="http://schemas.microsoft.com/office/drawing/2014/main" id="{3EEB8487-FBFF-DAF4-B5FC-90411029A544}"/>
              </a:ext>
            </a:extLst>
          </p:cNvPr>
          <p:cNvCxnSpPr>
            <a:stCxn id="11" idx="3"/>
            <a:endCxn id="20" idx="1"/>
          </p:cNvCxnSpPr>
          <p:nvPr/>
        </p:nvCxnSpPr>
        <p:spPr>
          <a:xfrm flipV="1">
            <a:off x="7282404" y="3787791"/>
            <a:ext cx="655955"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投影片編號版面配置區 29">
            <a:extLst>
              <a:ext uri="{FF2B5EF4-FFF2-40B4-BE49-F238E27FC236}">
                <a16:creationId xmlns:a16="http://schemas.microsoft.com/office/drawing/2014/main" id="{0EABAE26-1F02-6D8E-83F7-0DF9C13286E6}"/>
              </a:ext>
            </a:extLst>
          </p:cNvPr>
          <p:cNvSpPr>
            <a:spLocks noGrp="1"/>
          </p:cNvSpPr>
          <p:nvPr>
            <p:ph type="sldNum" sz="quarter" idx="12"/>
          </p:nvPr>
        </p:nvSpPr>
        <p:spPr/>
        <p:txBody>
          <a:bodyPr/>
          <a:lstStyle/>
          <a:p>
            <a:fld id="{CAFF4EFA-4C8F-9641-85B7-1744568BBCAB}" type="slidenum">
              <a:rPr kumimoji="1" lang="zh-TW" altLang="en-US" smtClean="0"/>
              <a:t>5</a:t>
            </a:fld>
            <a:endParaRPr kumimoji="1" lang="zh-TW" altLang="en-US"/>
          </a:p>
        </p:txBody>
      </p:sp>
    </p:spTree>
    <p:extLst>
      <p:ext uri="{BB962C8B-B14F-4D97-AF65-F5344CB8AC3E}">
        <p14:creationId xmlns:p14="http://schemas.microsoft.com/office/powerpoint/2010/main" val="3029724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4C79E-5671-37B1-535A-7512B503F06F}"/>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8B47AAC5-FFD3-A3AC-6697-E0F557A1116D}"/>
              </a:ext>
            </a:extLst>
          </p:cNvPr>
          <p:cNvSpPr>
            <a:spLocks noGrp="1"/>
          </p:cNvSpPr>
          <p:nvPr>
            <p:ph type="title"/>
          </p:nvPr>
        </p:nvSpPr>
        <p:spPr/>
        <p:txBody>
          <a:bodyPr/>
          <a:lstStyle/>
          <a:p>
            <a:pPr algn="ct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set_fitness_func</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 &amp; evaluate()</a:t>
            </a:r>
            <a:endParaRPr kumimoji="1" lang="zh-TW" altLang="en-US" dirty="0"/>
          </a:p>
        </p:txBody>
      </p:sp>
      <p:grpSp>
        <p:nvGrpSpPr>
          <p:cNvPr id="10" name="群組 9">
            <a:extLst>
              <a:ext uri="{FF2B5EF4-FFF2-40B4-BE49-F238E27FC236}">
                <a16:creationId xmlns:a16="http://schemas.microsoft.com/office/drawing/2014/main" id="{F44FDE4D-47D4-5236-E342-46FEE981F77F}"/>
              </a:ext>
            </a:extLst>
          </p:cNvPr>
          <p:cNvGrpSpPr/>
          <p:nvPr/>
        </p:nvGrpSpPr>
        <p:grpSpPr>
          <a:xfrm>
            <a:off x="537618" y="1718841"/>
            <a:ext cx="4123602" cy="783955"/>
            <a:chOff x="838200" y="1897240"/>
            <a:chExt cx="4123602" cy="783955"/>
          </a:xfrm>
        </p:grpSpPr>
        <p:sp>
          <p:nvSpPr>
            <p:cNvPr id="5" name="文字方塊 4">
              <a:extLst>
                <a:ext uri="{FF2B5EF4-FFF2-40B4-BE49-F238E27FC236}">
                  <a16:creationId xmlns:a16="http://schemas.microsoft.com/office/drawing/2014/main" id="{008D97E5-1A94-F8EE-44FB-DC2E9194D61D}"/>
                </a:ext>
              </a:extLst>
            </p:cNvPr>
            <p:cNvSpPr txBox="1"/>
            <p:nvPr/>
          </p:nvSpPr>
          <p:spPr>
            <a:xfrm>
              <a:off x="838200" y="2281085"/>
              <a:ext cx="4123602" cy="400110"/>
            </a:xfrm>
            <a:prstGeom prst="rect">
              <a:avLst/>
            </a:prstGeom>
            <a:solidFill>
              <a:schemeClr val="bg1">
                <a:lumMod val="95000"/>
              </a:schemeClr>
            </a:solidFill>
          </p:spPr>
          <p:txBody>
            <a:bodyPr wrap="square">
              <a:spAutoFit/>
            </a:bodyPr>
            <a:lstStyle/>
            <a:p>
              <a:r>
                <a:rPr lang="en" altLang="zh-TW" sz="2000" dirty="0" err="1">
                  <a:latin typeface="Menlo" panose="020B0609030804020204" pitchFamily="49" charset="0"/>
                </a:rPr>
                <a:t>s</a:t>
              </a:r>
              <a:r>
                <a:rPr lang="en" altLang="zh-TW" sz="2000" b="0" dirty="0" err="1">
                  <a:effectLst/>
                  <a:latin typeface="Menlo" panose="020B0609030804020204" pitchFamily="49" charset="0"/>
                </a:rPr>
                <a:t>olver.</a:t>
              </a:r>
              <a:r>
                <a:rPr lang="en" altLang="zh-TW" sz="2000" dirty="0" err="1">
                  <a:solidFill>
                    <a:srgbClr val="7030A0"/>
                  </a:solidFill>
                  <a:latin typeface="Menlo" panose="020B0609030804020204" pitchFamily="49" charset="0"/>
                </a:rPr>
                <a:t>set_fitness_func</a:t>
              </a:r>
              <a:r>
                <a:rPr lang="en" altLang="zh-TW" sz="2000" dirty="0">
                  <a:solidFill>
                    <a:srgbClr val="7030A0"/>
                  </a:solidFill>
                  <a:latin typeface="Menlo" panose="020B0609030804020204" pitchFamily="49" charset="0"/>
                </a:rPr>
                <a:t>(</a:t>
              </a:r>
              <a:r>
                <a:rPr lang="en" altLang="zh-TW" sz="2000" b="0" dirty="0">
                  <a:effectLst/>
                  <a:latin typeface="Menlo" panose="020B0609030804020204" pitchFamily="49" charset="0"/>
                </a:rPr>
                <a:t>x</a:t>
              </a:r>
              <a:r>
                <a:rPr lang="en" altLang="zh-TW" sz="2000" dirty="0">
                  <a:solidFill>
                    <a:srgbClr val="7030A0"/>
                  </a:solidFill>
                  <a:latin typeface="Menlo" panose="020B0609030804020204" pitchFamily="49" charset="0"/>
                </a:rPr>
                <a:t>)</a:t>
              </a:r>
            </a:p>
          </p:txBody>
        </p:sp>
        <p:sp>
          <p:nvSpPr>
            <p:cNvPr id="6" name="文字方塊 5">
              <a:extLst>
                <a:ext uri="{FF2B5EF4-FFF2-40B4-BE49-F238E27FC236}">
                  <a16:creationId xmlns:a16="http://schemas.microsoft.com/office/drawing/2014/main" id="{2AF2E9D9-D6F2-BC82-1502-F8510E9D75A9}"/>
                </a:ext>
              </a:extLst>
            </p:cNvPr>
            <p:cNvSpPr txBox="1"/>
            <p:nvPr/>
          </p:nvSpPr>
          <p:spPr>
            <a:xfrm>
              <a:off x="838200" y="1897240"/>
              <a:ext cx="1047082"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main.py</a:t>
              </a:r>
              <a:endParaRPr kumimoji="1" lang="zh-TW" altLang="en-US" b="1" dirty="0">
                <a:latin typeface="Helvetica Neue" panose="02000503000000020004" pitchFamily="2" charset="0"/>
                <a:cs typeface="Helvetica Neue" panose="02000503000000020004" pitchFamily="2" charset="0"/>
              </a:endParaRPr>
            </a:p>
          </p:txBody>
        </p:sp>
      </p:grpSp>
      <p:grpSp>
        <p:nvGrpSpPr>
          <p:cNvPr id="9" name="群組 8">
            <a:extLst>
              <a:ext uri="{FF2B5EF4-FFF2-40B4-BE49-F238E27FC236}">
                <a16:creationId xmlns:a16="http://schemas.microsoft.com/office/drawing/2014/main" id="{9D8495BE-DBB8-446D-7256-9BA8FA14B5F5}"/>
              </a:ext>
            </a:extLst>
          </p:cNvPr>
          <p:cNvGrpSpPr/>
          <p:nvPr/>
        </p:nvGrpSpPr>
        <p:grpSpPr>
          <a:xfrm>
            <a:off x="537618" y="4356477"/>
            <a:ext cx="6499791" cy="1413148"/>
            <a:chOff x="838199" y="4242396"/>
            <a:chExt cx="6499791" cy="1413148"/>
          </a:xfrm>
        </p:grpSpPr>
        <p:sp>
          <p:nvSpPr>
            <p:cNvPr id="7" name="文字方塊 6">
              <a:extLst>
                <a:ext uri="{FF2B5EF4-FFF2-40B4-BE49-F238E27FC236}">
                  <a16:creationId xmlns:a16="http://schemas.microsoft.com/office/drawing/2014/main" id="{E8F6B2E9-CA98-63CC-39F3-D4CECB2647E3}"/>
                </a:ext>
              </a:extLst>
            </p:cNvPr>
            <p:cNvSpPr txBox="1"/>
            <p:nvPr/>
          </p:nvSpPr>
          <p:spPr>
            <a:xfrm>
              <a:off x="838199" y="4242396"/>
              <a:ext cx="1699119"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ga_solver.cpp</a:t>
              </a:r>
              <a:endParaRPr kumimoji="1" lang="zh-TW" altLang="en-US" b="1" dirty="0">
                <a:latin typeface="Helvetica Neue" panose="02000503000000020004" pitchFamily="2" charset="0"/>
                <a:cs typeface="Helvetica Neue" panose="02000503000000020004" pitchFamily="2" charset="0"/>
              </a:endParaRPr>
            </a:p>
          </p:txBody>
        </p:sp>
        <p:sp>
          <p:nvSpPr>
            <p:cNvPr id="8" name="文字方塊 7">
              <a:extLst>
                <a:ext uri="{FF2B5EF4-FFF2-40B4-BE49-F238E27FC236}">
                  <a16:creationId xmlns:a16="http://schemas.microsoft.com/office/drawing/2014/main" id="{29627736-CA02-F46A-ADD4-C40341541A10}"/>
                </a:ext>
              </a:extLst>
            </p:cNvPr>
            <p:cNvSpPr txBox="1"/>
            <p:nvPr/>
          </p:nvSpPr>
          <p:spPr>
            <a:xfrm>
              <a:off x="838200" y="4639881"/>
              <a:ext cx="6499790" cy="1015663"/>
            </a:xfrm>
            <a:prstGeom prst="rect">
              <a:avLst/>
            </a:prstGeom>
            <a:solidFill>
              <a:schemeClr val="bg1">
                <a:lumMod val="95000"/>
              </a:schemeClr>
            </a:solidFill>
          </p:spPr>
          <p:txBody>
            <a:bodyPr wrap="square">
              <a:spAutoFit/>
            </a:bodyPr>
            <a:lstStyle/>
            <a:p>
              <a:r>
                <a:rPr lang="en" altLang="zh-TW" sz="2000" dirty="0">
                  <a:latin typeface="Menlo" panose="020B0609030804020204" pitchFamily="49" charset="0"/>
                </a:rPr>
                <a:t>void </a:t>
              </a:r>
              <a:r>
                <a:rPr lang="en" altLang="zh-TW" sz="2000" dirty="0" err="1">
                  <a:solidFill>
                    <a:srgbClr val="7030A0"/>
                  </a:solidFill>
                  <a:latin typeface="Menlo" panose="020B0609030804020204" pitchFamily="49" charset="0"/>
                </a:rPr>
                <a:t>set_fitness_func</a:t>
              </a:r>
              <a:r>
                <a:rPr lang="en" altLang="zh-TW" sz="2000" dirty="0">
                  <a:solidFill>
                    <a:srgbClr val="7030A0"/>
                  </a:solidFill>
                  <a:latin typeface="Menlo" panose="020B0609030804020204" pitchFamily="49" charset="0"/>
                </a:rPr>
                <a:t>(</a:t>
              </a:r>
              <a:r>
                <a:rPr lang="en" altLang="zh-TW" sz="2000" dirty="0" err="1">
                  <a:solidFill>
                    <a:srgbClr val="7030A0"/>
                  </a:solidFill>
                  <a:latin typeface="Menlo" panose="020B0609030804020204" pitchFamily="49" charset="0"/>
                </a:rPr>
                <a:t>py</a:t>
              </a:r>
              <a:r>
                <a:rPr lang="en" altLang="zh-TW" sz="2000" b="0" dirty="0">
                  <a:effectLst/>
                  <a:latin typeface="Menlo" panose="020B0609030804020204" pitchFamily="49" charset="0"/>
                </a:rPr>
                <a:t>::function </a:t>
              </a:r>
              <a:r>
                <a:rPr lang="en" altLang="zh-TW" sz="2000" b="0" dirty="0" err="1">
                  <a:effectLst/>
                  <a:latin typeface="Menlo" panose="020B0609030804020204" pitchFamily="49" charset="0"/>
                </a:rPr>
                <a:t>func</a:t>
              </a:r>
              <a:r>
                <a:rPr lang="en" altLang="zh-TW" sz="2000" dirty="0">
                  <a:solidFill>
                    <a:srgbClr val="7030A0"/>
                  </a:solidFill>
                  <a:latin typeface="Menlo" panose="020B0609030804020204" pitchFamily="49" charset="0"/>
                </a:rPr>
                <a:t>){</a:t>
              </a:r>
            </a:p>
            <a:p>
              <a:r>
                <a:rPr lang="en" altLang="zh-TW" sz="2000" dirty="0">
                  <a:solidFill>
                    <a:srgbClr val="7030A0"/>
                  </a:solidFill>
                  <a:latin typeface="Menlo" panose="020B0609030804020204" pitchFamily="49" charset="0"/>
                </a:rPr>
                <a:t>    </a:t>
              </a:r>
              <a:r>
                <a:rPr lang="en" altLang="zh-TW" sz="2000" b="0" dirty="0" err="1">
                  <a:effectLst/>
                  <a:latin typeface="Menlo" panose="020B0609030804020204" pitchFamily="49" charset="0"/>
                </a:rPr>
                <a:t>m_fitness_func</a:t>
              </a:r>
              <a:r>
                <a:rPr lang="en" altLang="zh-TW" sz="2000" b="0" dirty="0">
                  <a:effectLst/>
                  <a:latin typeface="Menlo" panose="020B0609030804020204" pitchFamily="49" charset="0"/>
                </a:rPr>
                <a:t> = </a:t>
              </a:r>
              <a:r>
                <a:rPr lang="en" altLang="zh-TW" sz="2000" b="0" dirty="0" err="1">
                  <a:effectLst/>
                  <a:latin typeface="Menlo" panose="020B0609030804020204" pitchFamily="49" charset="0"/>
                </a:rPr>
                <a:t>func</a:t>
              </a:r>
              <a:r>
                <a:rPr lang="en" altLang="zh-TW" sz="2000" b="0" dirty="0">
                  <a:effectLst/>
                  <a:latin typeface="Menlo" panose="020B0609030804020204" pitchFamily="49" charset="0"/>
                </a:rPr>
                <a:t>;</a:t>
              </a:r>
              <a:endParaRPr lang="en" altLang="zh-TW" sz="2000" dirty="0">
                <a:solidFill>
                  <a:srgbClr val="7030A0"/>
                </a:solidFill>
                <a:latin typeface="Menlo" panose="020B0609030804020204" pitchFamily="49" charset="0"/>
              </a:endParaRPr>
            </a:p>
            <a:p>
              <a:r>
                <a:rPr lang="en" altLang="zh-TW" sz="2000" dirty="0">
                  <a:solidFill>
                    <a:srgbClr val="7030A0"/>
                  </a:solidFill>
                  <a:latin typeface="Menlo" panose="020B0609030804020204" pitchFamily="49" charset="0"/>
                </a:rPr>
                <a:t>}</a:t>
              </a:r>
            </a:p>
          </p:txBody>
        </p:sp>
      </p:grpSp>
      <p:grpSp>
        <p:nvGrpSpPr>
          <p:cNvPr id="11" name="群組 10">
            <a:extLst>
              <a:ext uri="{FF2B5EF4-FFF2-40B4-BE49-F238E27FC236}">
                <a16:creationId xmlns:a16="http://schemas.microsoft.com/office/drawing/2014/main" id="{1523817A-FFD7-4286-4F7D-34351FD0E6C4}"/>
              </a:ext>
            </a:extLst>
          </p:cNvPr>
          <p:cNvGrpSpPr/>
          <p:nvPr/>
        </p:nvGrpSpPr>
        <p:grpSpPr>
          <a:xfrm>
            <a:off x="5764192" y="1686847"/>
            <a:ext cx="6119149" cy="2004165"/>
            <a:chOff x="-287797" y="1908136"/>
            <a:chExt cx="6119149" cy="2004165"/>
          </a:xfrm>
        </p:grpSpPr>
        <p:sp>
          <p:nvSpPr>
            <p:cNvPr id="12" name="文字方塊 11">
              <a:extLst>
                <a:ext uri="{FF2B5EF4-FFF2-40B4-BE49-F238E27FC236}">
                  <a16:creationId xmlns:a16="http://schemas.microsoft.com/office/drawing/2014/main" id="{ED24E330-EF6F-9C65-0456-CF7D867DDA75}"/>
                </a:ext>
              </a:extLst>
            </p:cNvPr>
            <p:cNvSpPr txBox="1"/>
            <p:nvPr/>
          </p:nvSpPr>
          <p:spPr>
            <a:xfrm>
              <a:off x="-287797" y="2281085"/>
              <a:ext cx="6119149" cy="1631216"/>
            </a:xfrm>
            <a:prstGeom prst="rect">
              <a:avLst/>
            </a:prstGeom>
            <a:solidFill>
              <a:schemeClr val="bg1">
                <a:lumMod val="95000"/>
              </a:schemeClr>
            </a:solidFill>
          </p:spPr>
          <p:txBody>
            <a:bodyPr wrap="square">
              <a:spAutoFit/>
            </a:bodyPr>
            <a:lstStyle/>
            <a:p>
              <a:r>
                <a:rPr lang="en" altLang="zh-TW" sz="2000" dirty="0">
                  <a:latin typeface="Menlo" panose="020B0609030804020204" pitchFamily="49" charset="0"/>
                </a:rPr>
                <a:t>void </a:t>
              </a:r>
              <a:r>
                <a:rPr lang="en" altLang="zh-TW" sz="2000" dirty="0" err="1">
                  <a:latin typeface="Menlo" panose="020B0609030804020204" pitchFamily="49" charset="0"/>
                </a:rPr>
                <a:t>GASolver</a:t>
              </a:r>
              <a:r>
                <a:rPr lang="en" altLang="zh-TW" sz="2000" dirty="0">
                  <a:latin typeface="Menlo" panose="020B0609030804020204" pitchFamily="49" charset="0"/>
                </a:rPr>
                <a:t>::</a:t>
              </a:r>
              <a:r>
                <a:rPr lang="en" altLang="zh-TW" sz="2000" dirty="0">
                  <a:solidFill>
                    <a:srgbClr val="7030A0"/>
                  </a:solidFill>
                  <a:latin typeface="Menlo" panose="020B0609030804020204" pitchFamily="49" charset="0"/>
                </a:rPr>
                <a:t>evaluate(){</a:t>
              </a:r>
            </a:p>
            <a:p>
              <a:r>
                <a:rPr lang="en" altLang="zh-TW" sz="2000" dirty="0">
                  <a:solidFill>
                    <a:srgbClr val="7030A0"/>
                  </a:solidFill>
                  <a:latin typeface="Menlo" panose="020B0609030804020204" pitchFamily="49" charset="0"/>
                </a:rPr>
                <a:t>    </a:t>
              </a:r>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individual:</a:t>
              </a:r>
              <a:endParaRPr lang="en" altLang="zh-TW" sz="2000" dirty="0">
                <a:solidFill>
                  <a:srgbClr val="7030A0"/>
                </a:solidFill>
                <a:latin typeface="Menlo" panose="020B0609030804020204" pitchFamily="49" charset="0"/>
              </a:endParaRPr>
            </a:p>
            <a:p>
              <a:r>
                <a:rPr lang="en" altLang="zh-TW" sz="2000" dirty="0">
                  <a:solidFill>
                    <a:srgbClr val="7030A0"/>
                  </a:solidFill>
                  <a:latin typeface="Menlo" panose="020B0609030804020204" pitchFamily="49" charset="0"/>
                </a:rPr>
                <a:t>        </a:t>
              </a:r>
              <a:r>
                <a:rPr lang="en" altLang="zh-TW" sz="2000" dirty="0" err="1">
                  <a:solidFill>
                    <a:srgbClr val="7030A0"/>
                  </a:solidFill>
                  <a:latin typeface="Menlo" panose="020B0609030804020204" pitchFamily="49" charset="0"/>
                </a:rPr>
                <a:t>py</a:t>
              </a:r>
              <a:r>
                <a:rPr lang="en" altLang="zh-TW" sz="2000" dirty="0">
                  <a:latin typeface="Menlo" panose="020B0609030804020204" pitchFamily="49" charset="0"/>
                </a:rPr>
                <a:t>::</a:t>
              </a:r>
              <a:r>
                <a:rPr lang="en" altLang="zh-TW" sz="2000" dirty="0" err="1">
                  <a:latin typeface="Menlo" panose="020B0609030804020204" pitchFamily="49" charset="0"/>
                </a:rPr>
                <a:t>array_t</a:t>
              </a:r>
              <a:r>
                <a:rPr lang="en" altLang="zh-TW" sz="2000" dirty="0">
                  <a:latin typeface="Menlo" panose="020B0609030804020204" pitchFamily="49" charset="0"/>
                </a:rPr>
                <a:t>&lt;double&gt; genes();</a:t>
              </a:r>
            </a:p>
            <a:p>
              <a:r>
                <a:rPr lang="en" altLang="zh-TW" sz="2000" dirty="0">
                  <a:solidFill>
                    <a:srgbClr val="7030A0"/>
                  </a:solidFill>
                  <a:latin typeface="Menlo" panose="020B0609030804020204" pitchFamily="49" charset="0"/>
                </a:rPr>
                <a:t>        </a:t>
              </a:r>
              <a:r>
                <a:rPr lang="en" altLang="zh-TW" sz="2000" dirty="0">
                  <a:latin typeface="Menlo" panose="020B0609030804020204" pitchFamily="49" charset="0"/>
                </a:rPr>
                <a:t>result = </a:t>
              </a:r>
              <a:r>
                <a:rPr lang="en" altLang="zh-TW" sz="2000" b="0" dirty="0" err="1">
                  <a:effectLst/>
                  <a:latin typeface="Menlo" panose="020B0609030804020204" pitchFamily="49" charset="0"/>
                </a:rPr>
                <a:t>m_fitness_func</a:t>
              </a:r>
              <a:r>
                <a:rPr lang="en" altLang="zh-TW" sz="2000" dirty="0">
                  <a:latin typeface="Menlo" panose="020B0609030804020204" pitchFamily="49" charset="0"/>
                </a:rPr>
                <a:t>(genes);</a:t>
              </a:r>
              <a:endParaRPr lang="en" altLang="zh-TW" sz="2000" dirty="0">
                <a:solidFill>
                  <a:srgbClr val="7030A0"/>
                </a:solidFill>
                <a:latin typeface="Menlo" panose="020B0609030804020204" pitchFamily="49" charset="0"/>
              </a:endParaRPr>
            </a:p>
            <a:p>
              <a:r>
                <a:rPr lang="en" altLang="zh-TW" sz="2000" dirty="0">
                  <a:solidFill>
                    <a:srgbClr val="7030A0"/>
                  </a:solidFill>
                  <a:latin typeface="Menlo" panose="020B0609030804020204" pitchFamily="49" charset="0"/>
                </a:rPr>
                <a:t>}</a:t>
              </a:r>
            </a:p>
          </p:txBody>
        </p:sp>
        <p:sp>
          <p:nvSpPr>
            <p:cNvPr id="13" name="文字方塊 12">
              <a:extLst>
                <a:ext uri="{FF2B5EF4-FFF2-40B4-BE49-F238E27FC236}">
                  <a16:creationId xmlns:a16="http://schemas.microsoft.com/office/drawing/2014/main" id="{A4138551-3E53-EFA1-C4C9-77D333D63FCD}"/>
                </a:ext>
              </a:extLst>
            </p:cNvPr>
            <p:cNvSpPr txBox="1"/>
            <p:nvPr/>
          </p:nvSpPr>
          <p:spPr>
            <a:xfrm>
              <a:off x="-287797" y="1908136"/>
              <a:ext cx="1699119"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ga_solver.cpp</a:t>
              </a:r>
              <a:endParaRPr kumimoji="1" lang="zh-TW" altLang="en-US" b="1" dirty="0">
                <a:latin typeface="Helvetica Neue" panose="02000503000000020004" pitchFamily="2" charset="0"/>
                <a:cs typeface="Helvetica Neue" panose="02000503000000020004" pitchFamily="2" charset="0"/>
              </a:endParaRPr>
            </a:p>
          </p:txBody>
        </p:sp>
      </p:grpSp>
      <p:cxnSp>
        <p:nvCxnSpPr>
          <p:cNvPr id="15" name="直線箭頭接點 14">
            <a:extLst>
              <a:ext uri="{FF2B5EF4-FFF2-40B4-BE49-F238E27FC236}">
                <a16:creationId xmlns:a16="http://schemas.microsoft.com/office/drawing/2014/main" id="{0B752DC2-EECF-BCB6-1154-B469A4C88585}"/>
              </a:ext>
            </a:extLst>
          </p:cNvPr>
          <p:cNvCxnSpPr>
            <a:cxnSpLocks/>
          </p:cNvCxnSpPr>
          <p:nvPr/>
        </p:nvCxnSpPr>
        <p:spPr>
          <a:xfrm>
            <a:off x="4375230" y="2449378"/>
            <a:ext cx="949124" cy="235800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7" name="文字方塊 16">
            <a:extLst>
              <a:ext uri="{FF2B5EF4-FFF2-40B4-BE49-F238E27FC236}">
                <a16:creationId xmlns:a16="http://schemas.microsoft.com/office/drawing/2014/main" id="{340B5EE1-359C-4A74-35F7-CE0485FE45DD}"/>
              </a:ext>
            </a:extLst>
          </p:cNvPr>
          <p:cNvSpPr txBox="1"/>
          <p:nvPr/>
        </p:nvSpPr>
        <p:spPr>
          <a:xfrm>
            <a:off x="2234381" y="3140005"/>
            <a:ext cx="2718082" cy="923330"/>
          </a:xfrm>
          <a:prstGeom prst="rect">
            <a:avLst/>
          </a:prstGeom>
          <a:noFill/>
        </p:spPr>
        <p:txBody>
          <a:bodyPr wrap="square" rtlCol="0">
            <a:spAutoFit/>
          </a:bodyPr>
          <a:lstStyle/>
          <a:p>
            <a:r>
              <a:rPr kumimoji="1" lang="en-US" altLang="zh-TW" dirty="0">
                <a:latin typeface="Helvetica Neue" panose="02000503000000020004" pitchFamily="2" charset="0"/>
                <a:cs typeface="Helvetica Neue" panose="02000503000000020004" pitchFamily="2" charset="0"/>
              </a:rPr>
              <a:t>Stores the python fitness function as a callable reference in C++</a:t>
            </a:r>
            <a:endParaRPr kumimoji="1" lang="zh-TW" altLang="en-US" dirty="0">
              <a:latin typeface="Helvetica Neue" panose="02000503000000020004" pitchFamily="2" charset="0"/>
              <a:cs typeface="Helvetica Neue" panose="02000503000000020004" pitchFamily="2" charset="0"/>
            </a:endParaRPr>
          </a:p>
        </p:txBody>
      </p:sp>
      <p:cxnSp>
        <p:nvCxnSpPr>
          <p:cNvPr id="19" name="直線箭頭接點 18">
            <a:extLst>
              <a:ext uri="{FF2B5EF4-FFF2-40B4-BE49-F238E27FC236}">
                <a16:creationId xmlns:a16="http://schemas.microsoft.com/office/drawing/2014/main" id="{3ADC0F1D-DFA8-E5C5-29CC-60FC3767837B}"/>
              </a:ext>
            </a:extLst>
          </p:cNvPr>
          <p:cNvCxnSpPr/>
          <p:nvPr/>
        </p:nvCxnSpPr>
        <p:spPr>
          <a:xfrm flipH="1">
            <a:off x="10394066" y="2974694"/>
            <a:ext cx="173620" cy="1192192"/>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0" name="文字方塊 19">
            <a:extLst>
              <a:ext uri="{FF2B5EF4-FFF2-40B4-BE49-F238E27FC236}">
                <a16:creationId xmlns:a16="http://schemas.microsoft.com/office/drawing/2014/main" id="{E52BBD22-A4DF-0979-4BE6-D77EC8647C66}"/>
              </a:ext>
            </a:extLst>
          </p:cNvPr>
          <p:cNvSpPr txBox="1"/>
          <p:nvPr/>
        </p:nvSpPr>
        <p:spPr>
          <a:xfrm>
            <a:off x="8166959" y="4181603"/>
            <a:ext cx="3581345" cy="923330"/>
          </a:xfrm>
          <a:prstGeom prst="rect">
            <a:avLst/>
          </a:prstGeom>
          <a:noFill/>
        </p:spPr>
        <p:txBody>
          <a:bodyPr wrap="square" rtlCol="0">
            <a:spAutoFit/>
          </a:bodyPr>
          <a:lstStyle/>
          <a:p>
            <a:r>
              <a:rPr kumimoji="1" lang="en-US" altLang="zh-TW" dirty="0">
                <a:latin typeface="Helvetica Neue" panose="02000503000000020004" pitchFamily="2" charset="0"/>
                <a:cs typeface="Helvetica Neue" panose="02000503000000020004" pitchFamily="2" charset="0"/>
              </a:rPr>
              <a:t>Wrap C++ memory into a </a:t>
            </a:r>
            <a:r>
              <a:rPr kumimoji="1" lang="en-US" altLang="zh-TW" dirty="0" err="1">
                <a:latin typeface="Helvetica Neue" panose="02000503000000020004" pitchFamily="2" charset="0"/>
                <a:cs typeface="Helvetica Neue" panose="02000503000000020004" pitchFamily="2" charset="0"/>
              </a:rPr>
              <a:t>Numpy</a:t>
            </a:r>
            <a:r>
              <a:rPr kumimoji="1" lang="en-US" altLang="zh-TW" dirty="0">
                <a:latin typeface="Helvetica Neue" panose="02000503000000020004" pitchFamily="2" charset="0"/>
                <a:cs typeface="Helvetica Neue" panose="02000503000000020004" pitchFamily="2" charset="0"/>
              </a:rPr>
              <a:t> array, passing it to Python via zero-copy</a:t>
            </a:r>
            <a:endParaRPr kumimoji="1" lang="zh-TW" altLang="en-US" dirty="0">
              <a:latin typeface="Helvetica Neue" panose="02000503000000020004" pitchFamily="2" charset="0"/>
              <a:cs typeface="Helvetica Neue" panose="02000503000000020004" pitchFamily="2" charset="0"/>
            </a:endParaRPr>
          </a:p>
        </p:txBody>
      </p:sp>
      <p:sp>
        <p:nvSpPr>
          <p:cNvPr id="21" name="文字方塊 20">
            <a:extLst>
              <a:ext uri="{FF2B5EF4-FFF2-40B4-BE49-F238E27FC236}">
                <a16:creationId xmlns:a16="http://schemas.microsoft.com/office/drawing/2014/main" id="{D0E9D6E2-90AE-A1F2-90D0-DA05DB1E5DB8}"/>
              </a:ext>
            </a:extLst>
          </p:cNvPr>
          <p:cNvSpPr txBox="1"/>
          <p:nvPr/>
        </p:nvSpPr>
        <p:spPr>
          <a:xfrm>
            <a:off x="7544334" y="5612051"/>
            <a:ext cx="3890489" cy="523220"/>
          </a:xfrm>
          <a:prstGeom prst="rect">
            <a:avLst/>
          </a:prstGeom>
          <a:solidFill>
            <a:schemeClr val="accent2">
              <a:lumMod val="20000"/>
              <a:lumOff val="80000"/>
            </a:schemeClr>
          </a:solidFill>
          <a:ln>
            <a:solidFill>
              <a:schemeClr val="accent2"/>
            </a:solidFill>
          </a:ln>
        </p:spPr>
        <p:txBody>
          <a:bodyPr wrap="square" rtlCol="0">
            <a:spAutoFit/>
          </a:bodyPr>
          <a:lstStyle/>
          <a:p>
            <a:r>
              <a:rPr kumimoji="1" lang="en-US" altLang="zh-TW" sz="2800" dirty="0">
                <a:latin typeface="Helvetica Neue" panose="02000503000000020004" pitchFamily="2" charset="0"/>
                <a:cs typeface="Helvetica Neue" panose="02000503000000020004" pitchFamily="2" charset="0"/>
              </a:rPr>
              <a:t>Can we make it faster?</a:t>
            </a:r>
            <a:endParaRPr kumimoji="1" lang="zh-TW" altLang="en-US" sz="2800" dirty="0">
              <a:latin typeface="Helvetica Neue" panose="02000503000000020004" pitchFamily="2" charset="0"/>
              <a:cs typeface="Helvetica Neue" panose="02000503000000020004" pitchFamily="2" charset="0"/>
            </a:endParaRPr>
          </a:p>
        </p:txBody>
      </p:sp>
      <p:sp>
        <p:nvSpPr>
          <p:cNvPr id="22" name="投影片編號版面配置區 21">
            <a:extLst>
              <a:ext uri="{FF2B5EF4-FFF2-40B4-BE49-F238E27FC236}">
                <a16:creationId xmlns:a16="http://schemas.microsoft.com/office/drawing/2014/main" id="{1AEF753A-BB6D-C73A-CF40-D34C9C350F94}"/>
              </a:ext>
            </a:extLst>
          </p:cNvPr>
          <p:cNvSpPr>
            <a:spLocks noGrp="1"/>
          </p:cNvSpPr>
          <p:nvPr>
            <p:ph type="sldNum" sz="quarter" idx="12"/>
          </p:nvPr>
        </p:nvSpPr>
        <p:spPr/>
        <p:txBody>
          <a:bodyPr/>
          <a:lstStyle/>
          <a:p>
            <a:fld id="{CAFF4EFA-4C8F-9641-85B7-1744568BBCAB}" type="slidenum">
              <a:rPr kumimoji="1" lang="zh-TW" altLang="en-US" smtClean="0"/>
              <a:t>6</a:t>
            </a:fld>
            <a:endParaRPr kumimoji="1" lang="zh-TW" altLang="en-US"/>
          </a:p>
        </p:txBody>
      </p:sp>
    </p:spTree>
    <p:extLst>
      <p:ext uri="{BB962C8B-B14F-4D97-AF65-F5344CB8AC3E}">
        <p14:creationId xmlns:p14="http://schemas.microsoft.com/office/powerpoint/2010/main" val="16767300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DD24F-E88E-8575-5E5E-3A8CBB71A15C}"/>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5F18D095-23AE-0B4F-95B3-6E456121865D}"/>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evaluate() vs. </a:t>
            </a: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batch_evaluate</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a:t>
            </a:r>
            <a:endParaRPr kumimoji="1" lang="zh-TW" altLang="en-US" b="1" dirty="0">
              <a:latin typeface="Helvetica Neue" panose="02000503000000020004" pitchFamily="2" charset="0"/>
              <a:cs typeface="Helvetica Neue" panose="02000503000000020004" pitchFamily="2" charset="0"/>
            </a:endParaRPr>
          </a:p>
        </p:txBody>
      </p:sp>
      <p:grpSp>
        <p:nvGrpSpPr>
          <p:cNvPr id="14" name="群組 13">
            <a:extLst>
              <a:ext uri="{FF2B5EF4-FFF2-40B4-BE49-F238E27FC236}">
                <a16:creationId xmlns:a16="http://schemas.microsoft.com/office/drawing/2014/main" id="{3EF8FA97-7B1D-2625-0939-761AD0AD7B22}"/>
              </a:ext>
            </a:extLst>
          </p:cNvPr>
          <p:cNvGrpSpPr/>
          <p:nvPr/>
        </p:nvGrpSpPr>
        <p:grpSpPr>
          <a:xfrm>
            <a:off x="358817" y="3521599"/>
            <a:ext cx="5060064" cy="1556219"/>
            <a:chOff x="358817" y="3521599"/>
            <a:chExt cx="5060064" cy="1556219"/>
          </a:xfrm>
        </p:grpSpPr>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4E795F5F-CE0B-BDFA-8140-56831CFD295E}"/>
                    </a:ext>
                  </a:extLst>
                </p:cNvPr>
                <p:cNvSpPr txBox="1"/>
                <p:nvPr/>
              </p:nvSpPr>
              <p:spPr>
                <a:xfrm>
                  <a:off x="358817" y="3521599"/>
                  <a:ext cx="2926946" cy="369332"/>
                </a:xfrm>
                <a:prstGeom prst="rect">
                  <a:avLst/>
                </a:prstGeom>
                <a:noFill/>
              </p:spPr>
              <p:txBody>
                <a:bodyPr wrap="square" rtlCol="0">
                  <a:spAutoFit/>
                </a:bodyPr>
                <a:lstStyle/>
                <a:p>
                  <a:r>
                    <a:rPr kumimoji="1" lang="en-US" altLang="zh-TW" dirty="0">
                      <a:cs typeface="Helvetica Neue" panose="02000503000000020004" pitchFamily="2" charset="0"/>
                    </a:rPr>
                    <a:t>Individual</a:t>
                  </a:r>
                  <a:r>
                    <a:rPr kumimoji="1" lang="en-US" altLang="zh-TW" b="0" dirty="0">
                      <a:cs typeface="Helvetica Neue" panose="02000503000000020004" pitchFamily="2" charset="0"/>
                    </a:rPr>
                    <a:t> </a:t>
                  </a:r>
                  <a:r>
                    <a:rPr kumimoji="1" lang="en-US" altLang="zh-TW" dirty="0">
                      <a:cs typeface="Helvetica Neue" panose="02000503000000020004" pitchFamily="2" charset="0"/>
                    </a:rPr>
                    <a:t>= </a:t>
                  </a:r>
                  <a14:m>
                    <m:oMath xmlns:m="http://schemas.openxmlformats.org/officeDocument/2006/math">
                      <m:r>
                        <a:rPr kumimoji="1" lang="en-US" altLang="zh-TW" b="0" i="1" dirty="0" smtClean="0">
                          <a:latin typeface="Cambria Math" panose="02040503050406030204" pitchFamily="18" charset="0"/>
                          <a:cs typeface="Helvetica Neue" panose="02000503000000020004" pitchFamily="2" charset="0"/>
                        </a:rPr>
                        <m:t>[</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oMath>
                  </a14:m>
                  <a:endParaRPr kumimoji="1" lang="zh-TW" altLang="en-US" dirty="0">
                    <a:latin typeface="Helvetica Neue" panose="02000503000000020004" pitchFamily="2" charset="0"/>
                    <a:cs typeface="Helvetica Neue" panose="02000503000000020004" pitchFamily="2" charset="0"/>
                  </a:endParaRPr>
                </a:p>
              </p:txBody>
            </p:sp>
          </mc:Choice>
          <mc:Fallback>
            <p:sp>
              <p:nvSpPr>
                <p:cNvPr id="6" name="文字方塊 5">
                  <a:extLst>
                    <a:ext uri="{FF2B5EF4-FFF2-40B4-BE49-F238E27FC236}">
                      <a16:creationId xmlns:a16="http://schemas.microsoft.com/office/drawing/2014/main" id="{4E795F5F-CE0B-BDFA-8140-56831CFD295E}"/>
                    </a:ext>
                  </a:extLst>
                </p:cNvPr>
                <p:cNvSpPr txBox="1">
                  <a:spLocks noRot="1" noChangeAspect="1" noMove="1" noResize="1" noEditPoints="1" noAdjustHandles="1" noChangeArrowheads="1" noChangeShapeType="1" noTextEdit="1"/>
                </p:cNvSpPr>
                <p:nvPr/>
              </p:nvSpPr>
              <p:spPr>
                <a:xfrm>
                  <a:off x="358817" y="3521599"/>
                  <a:ext cx="2926946" cy="369332"/>
                </a:xfrm>
                <a:prstGeom prst="rect">
                  <a:avLst/>
                </a:prstGeom>
                <a:blipFill>
                  <a:blip r:embed="rId3"/>
                  <a:stretch>
                    <a:fillRect l="-1732" t="-6667" b="-23333"/>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E2AB93EE-5755-4A59-889A-CEB0C1A8A2AE}"/>
                </a:ext>
              </a:extLst>
            </p:cNvPr>
            <p:cNvSpPr txBox="1"/>
            <p:nvPr/>
          </p:nvSpPr>
          <p:spPr>
            <a:xfrm>
              <a:off x="3189789" y="4022709"/>
              <a:ext cx="2229092" cy="369332"/>
            </a:xfrm>
            <a:prstGeom prst="rect">
              <a:avLst/>
            </a:prstGeom>
            <a:noFill/>
          </p:spPr>
          <p:txBody>
            <a:bodyPr wrap="square" rtlCol="0">
              <a:spAutoFit/>
            </a:bodyPr>
            <a:lstStyle/>
            <a:p>
              <a:r>
                <a:rPr kumimoji="1" lang="en-US" altLang="zh-TW" dirty="0" err="1">
                  <a:cs typeface="Helvetica Neue" panose="02000503000000020004" pitchFamily="2" charset="0"/>
                </a:rPr>
                <a:t>fitness_func</a:t>
              </a:r>
              <a:r>
                <a:rPr kumimoji="1" lang="en-US" altLang="zh-TW" dirty="0">
                  <a:cs typeface="Helvetica Neue" panose="02000503000000020004" pitchFamily="2" charset="0"/>
                </a:rPr>
                <a:t>()</a:t>
              </a:r>
              <a:endParaRPr kumimoji="1" lang="zh-TW" altLang="en-US" dirty="0">
                <a:latin typeface="Helvetica Neue" panose="02000503000000020004" pitchFamily="2" charset="0"/>
                <a:cs typeface="Helvetica Neue" panose="02000503000000020004" pitchFamily="2" charset="0"/>
              </a:endParaRPr>
            </a:p>
          </p:txBody>
        </p:sp>
        <p:sp>
          <p:nvSpPr>
            <p:cNvPr id="8" name="弧線 7">
              <a:extLst>
                <a:ext uri="{FF2B5EF4-FFF2-40B4-BE49-F238E27FC236}">
                  <a16:creationId xmlns:a16="http://schemas.microsoft.com/office/drawing/2014/main" id="{8412504B-1554-B21C-1223-102FBA221705}"/>
                </a:ext>
              </a:extLst>
            </p:cNvPr>
            <p:cNvSpPr/>
            <p:nvPr/>
          </p:nvSpPr>
          <p:spPr>
            <a:xfrm>
              <a:off x="2487110" y="3706265"/>
              <a:ext cx="1597306" cy="1371553"/>
            </a:xfrm>
            <a:prstGeom prst="arc">
              <a:avLst>
                <a:gd name="adj1" fmla="val 16200000"/>
                <a:gd name="adj2" fmla="val 19985008"/>
              </a:avLst>
            </a:prstGeom>
            <a:ln>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TW" altLang="en-US"/>
            </a:p>
          </p:txBody>
        </p:sp>
      </p:grpSp>
      <p:grpSp>
        <p:nvGrpSpPr>
          <p:cNvPr id="10" name="群組 9">
            <a:extLst>
              <a:ext uri="{FF2B5EF4-FFF2-40B4-BE49-F238E27FC236}">
                <a16:creationId xmlns:a16="http://schemas.microsoft.com/office/drawing/2014/main" id="{D2487474-CC89-46F1-4FAE-04084B40C564}"/>
              </a:ext>
            </a:extLst>
          </p:cNvPr>
          <p:cNvGrpSpPr/>
          <p:nvPr/>
        </p:nvGrpSpPr>
        <p:grpSpPr>
          <a:xfrm>
            <a:off x="358817" y="1940086"/>
            <a:ext cx="5486400" cy="1396316"/>
            <a:chOff x="358817" y="1940086"/>
            <a:chExt cx="5486400" cy="1396316"/>
          </a:xfrm>
        </p:grpSpPr>
        <p:sp>
          <p:nvSpPr>
            <p:cNvPr id="5" name="文字方塊 4">
              <a:extLst>
                <a:ext uri="{FF2B5EF4-FFF2-40B4-BE49-F238E27FC236}">
                  <a16:creationId xmlns:a16="http://schemas.microsoft.com/office/drawing/2014/main" id="{7B9DCEFD-C02A-7773-3A24-9D0F9D250BA4}"/>
                </a:ext>
              </a:extLst>
            </p:cNvPr>
            <p:cNvSpPr txBox="1"/>
            <p:nvPr/>
          </p:nvSpPr>
          <p:spPr>
            <a:xfrm>
              <a:off x="358817" y="2320739"/>
              <a:ext cx="5486400" cy="1015663"/>
            </a:xfrm>
            <a:prstGeom prst="rect">
              <a:avLst/>
            </a:prstGeom>
            <a:solidFill>
              <a:schemeClr val="bg1">
                <a:lumMod val="95000"/>
              </a:schemeClr>
            </a:solidFill>
          </p:spPr>
          <p:txBody>
            <a:bodyPr wrap="square">
              <a:spAutoFit/>
            </a:bodyPr>
            <a:lstStyle/>
            <a:p>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individual:</a:t>
              </a:r>
              <a:endParaRPr lang="en" altLang="zh-TW" sz="2000" dirty="0">
                <a:solidFill>
                  <a:srgbClr val="7030A0"/>
                </a:solidFill>
                <a:latin typeface="Menlo" panose="020B0609030804020204" pitchFamily="49" charset="0"/>
              </a:endParaRPr>
            </a:p>
            <a:p>
              <a:r>
                <a:rPr lang="en" altLang="zh-TW" sz="2000" dirty="0">
                  <a:solidFill>
                    <a:srgbClr val="7030A0"/>
                  </a:solidFill>
                  <a:latin typeface="Menlo" panose="020B0609030804020204" pitchFamily="49" charset="0"/>
                </a:rPr>
                <a:t>    </a:t>
              </a:r>
              <a:r>
                <a:rPr lang="en" altLang="zh-TW" sz="2000" dirty="0" err="1">
                  <a:solidFill>
                    <a:srgbClr val="7030A0"/>
                  </a:solidFill>
                  <a:latin typeface="Menlo" panose="020B0609030804020204" pitchFamily="49" charset="0"/>
                </a:rPr>
                <a:t>py</a:t>
              </a:r>
              <a:r>
                <a:rPr lang="en" altLang="zh-TW" sz="2000" dirty="0">
                  <a:latin typeface="Menlo" panose="020B0609030804020204" pitchFamily="49" charset="0"/>
                </a:rPr>
                <a:t>::</a:t>
              </a:r>
              <a:r>
                <a:rPr lang="en" altLang="zh-TW" sz="2000" dirty="0" err="1">
                  <a:latin typeface="Menlo" panose="020B0609030804020204" pitchFamily="49" charset="0"/>
                </a:rPr>
                <a:t>array_t</a:t>
              </a:r>
              <a:r>
                <a:rPr lang="en" altLang="zh-TW" sz="2000" dirty="0">
                  <a:latin typeface="Menlo" panose="020B0609030804020204" pitchFamily="49" charset="0"/>
                </a:rPr>
                <a:t>&lt;double&gt; genes();</a:t>
              </a:r>
            </a:p>
            <a:p>
              <a:r>
                <a:rPr lang="en" altLang="zh-TW" sz="2000" dirty="0">
                  <a:solidFill>
                    <a:srgbClr val="7030A0"/>
                  </a:solidFill>
                  <a:latin typeface="Menlo" panose="020B0609030804020204" pitchFamily="49" charset="0"/>
                </a:rPr>
                <a:t>    </a:t>
              </a:r>
              <a:r>
                <a:rPr lang="en" altLang="zh-TW" sz="2000" dirty="0">
                  <a:latin typeface="Menlo" panose="020B0609030804020204" pitchFamily="49" charset="0"/>
                </a:rPr>
                <a:t>result = </a:t>
              </a:r>
              <a:r>
                <a:rPr lang="en" altLang="zh-TW" sz="2000" b="0" dirty="0" err="1">
                  <a:effectLst/>
                  <a:latin typeface="Menlo" panose="020B0609030804020204" pitchFamily="49" charset="0"/>
                </a:rPr>
                <a:t>m_fitness_func</a:t>
              </a:r>
              <a:r>
                <a:rPr lang="en" altLang="zh-TW" sz="2000" dirty="0">
                  <a:latin typeface="Menlo" panose="020B0609030804020204" pitchFamily="49" charset="0"/>
                </a:rPr>
                <a:t>(genes);</a:t>
              </a:r>
              <a:endParaRPr lang="en" altLang="zh-TW" sz="2000" dirty="0">
                <a:solidFill>
                  <a:srgbClr val="7030A0"/>
                </a:solidFill>
                <a:latin typeface="Menlo" panose="020B0609030804020204" pitchFamily="49" charset="0"/>
              </a:endParaRPr>
            </a:p>
          </p:txBody>
        </p:sp>
        <p:sp>
          <p:nvSpPr>
            <p:cNvPr id="9" name="文字方塊 8">
              <a:extLst>
                <a:ext uri="{FF2B5EF4-FFF2-40B4-BE49-F238E27FC236}">
                  <a16:creationId xmlns:a16="http://schemas.microsoft.com/office/drawing/2014/main" id="{9DAA48ED-04E2-E489-F7F7-58989B41E6CD}"/>
                </a:ext>
              </a:extLst>
            </p:cNvPr>
            <p:cNvSpPr txBox="1"/>
            <p:nvPr/>
          </p:nvSpPr>
          <p:spPr>
            <a:xfrm>
              <a:off x="358817" y="1940086"/>
              <a:ext cx="1252266"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evaluate()</a:t>
              </a:r>
              <a:endParaRPr kumimoji="1" lang="zh-TW" altLang="en-US" b="1" dirty="0">
                <a:latin typeface="Helvetica Neue" panose="02000503000000020004" pitchFamily="2" charset="0"/>
                <a:cs typeface="Helvetica Neue" panose="02000503000000020004" pitchFamily="2" charset="0"/>
              </a:endParaRPr>
            </a:p>
          </p:txBody>
        </p:sp>
      </p:grpSp>
      <p:grpSp>
        <p:nvGrpSpPr>
          <p:cNvPr id="11" name="群組 10">
            <a:extLst>
              <a:ext uri="{FF2B5EF4-FFF2-40B4-BE49-F238E27FC236}">
                <a16:creationId xmlns:a16="http://schemas.microsoft.com/office/drawing/2014/main" id="{948A8171-77DF-83D3-71A0-A68388C4CD76}"/>
              </a:ext>
            </a:extLst>
          </p:cNvPr>
          <p:cNvGrpSpPr/>
          <p:nvPr/>
        </p:nvGrpSpPr>
        <p:grpSpPr>
          <a:xfrm>
            <a:off x="6346782" y="1940086"/>
            <a:ext cx="5602147" cy="2319645"/>
            <a:chOff x="358816" y="1940086"/>
            <a:chExt cx="5602147" cy="2319645"/>
          </a:xfrm>
        </p:grpSpPr>
        <p:sp>
          <p:nvSpPr>
            <p:cNvPr id="12" name="文字方塊 11">
              <a:extLst>
                <a:ext uri="{FF2B5EF4-FFF2-40B4-BE49-F238E27FC236}">
                  <a16:creationId xmlns:a16="http://schemas.microsoft.com/office/drawing/2014/main" id="{3B3467B0-917C-1039-D156-8946C67922DE}"/>
                </a:ext>
              </a:extLst>
            </p:cNvPr>
            <p:cNvSpPr txBox="1"/>
            <p:nvPr/>
          </p:nvSpPr>
          <p:spPr>
            <a:xfrm>
              <a:off x="358816" y="2320739"/>
              <a:ext cx="5602147" cy="1938992"/>
            </a:xfrm>
            <a:prstGeom prst="rect">
              <a:avLst/>
            </a:prstGeom>
            <a:solidFill>
              <a:schemeClr val="bg1">
                <a:lumMod val="95000"/>
              </a:schemeClr>
            </a:solidFill>
          </p:spPr>
          <p:txBody>
            <a:bodyPr wrap="square">
              <a:spAutoFit/>
            </a:bodyPr>
            <a:lstStyle/>
            <a:p>
              <a:r>
                <a:rPr lang="en" altLang="zh-TW" sz="2000" dirty="0" err="1">
                  <a:solidFill>
                    <a:srgbClr val="7030A0"/>
                  </a:solidFill>
                  <a:latin typeface="Menlo" panose="020B0609030804020204" pitchFamily="49" charset="0"/>
                </a:rPr>
                <a:t>py</a:t>
              </a:r>
              <a:r>
                <a:rPr lang="en" altLang="zh-TW" sz="2000" dirty="0">
                  <a:latin typeface="Menlo" panose="020B0609030804020204" pitchFamily="49" charset="0"/>
                </a:rPr>
                <a:t>::</a:t>
              </a:r>
              <a:r>
                <a:rPr lang="en" altLang="zh-TW" sz="2000" dirty="0" err="1">
                  <a:latin typeface="Menlo" panose="020B0609030804020204" pitchFamily="49" charset="0"/>
                </a:rPr>
                <a:t>array_t</a:t>
              </a:r>
              <a:r>
                <a:rPr lang="en" altLang="zh-TW" sz="2000" dirty="0">
                  <a:latin typeface="Menlo" panose="020B0609030804020204" pitchFamily="49" charset="0"/>
                </a:rPr>
                <a:t>&lt;double&gt; </a:t>
              </a:r>
              <a:r>
                <a:rPr lang="en" altLang="zh-TW" sz="2000" dirty="0" err="1">
                  <a:latin typeface="Menlo" panose="020B0609030804020204" pitchFamily="49" charset="0"/>
                </a:rPr>
                <a:t>pop_matrix</a:t>
              </a:r>
              <a:r>
                <a:rPr lang="en" altLang="zh-TW" sz="2000" dirty="0">
                  <a:latin typeface="Menlo" panose="020B0609030804020204" pitchFamily="49" charset="0"/>
                </a:rPr>
                <a:t>({</a:t>
              </a:r>
            </a:p>
            <a:p>
              <a:r>
                <a:rPr lang="en" altLang="zh-TW" sz="2000" dirty="0">
                  <a:latin typeface="Menlo" panose="020B0609030804020204" pitchFamily="49" charset="0"/>
                </a:rPr>
                <a:t>    </a:t>
              </a:r>
              <a:r>
                <a:rPr lang="en" altLang="zh-TW" sz="2000" dirty="0" err="1">
                  <a:latin typeface="Menlo" panose="020B0609030804020204" pitchFamily="49" charset="0"/>
                </a:rPr>
                <a:t>pop_size</a:t>
              </a:r>
              <a:r>
                <a:rPr lang="en" altLang="zh-TW" sz="2000" dirty="0">
                  <a:latin typeface="Menlo" panose="020B0609030804020204" pitchFamily="49" charset="0"/>
                </a:rPr>
                <a:t>, </a:t>
              </a:r>
              <a:r>
                <a:rPr lang="en" altLang="zh-TW" sz="2000" dirty="0" err="1">
                  <a:latin typeface="Menlo" panose="020B0609030804020204" pitchFamily="49" charset="0"/>
                </a:rPr>
                <a:t>genome_size</a:t>
              </a:r>
              <a:endParaRPr lang="en" altLang="zh-TW" sz="2000" dirty="0">
                <a:latin typeface="Menlo" panose="020B0609030804020204" pitchFamily="49" charset="0"/>
              </a:endParaRPr>
            </a:p>
            <a:p>
              <a:r>
                <a:rPr lang="en" altLang="zh-TW" sz="2000" dirty="0">
                  <a:latin typeface="Menlo" panose="020B0609030804020204" pitchFamily="49" charset="0"/>
                </a:rPr>
                <a:t>});</a:t>
              </a:r>
            </a:p>
            <a:p>
              <a:r>
                <a:rPr lang="en" altLang="zh-TW" sz="2000" b="0" dirty="0">
                  <a:solidFill>
                    <a:schemeClr val="accent5">
                      <a:lumMod val="60000"/>
                      <a:lumOff val="40000"/>
                    </a:schemeClr>
                  </a:solidFill>
                  <a:effectLst/>
                  <a:latin typeface="Menlo" panose="020B0609030804020204" pitchFamily="49" charset="0"/>
                </a:rPr>
                <a:t>for</a:t>
              </a:r>
              <a:r>
                <a:rPr lang="en" altLang="zh-TW" sz="2000" b="0" dirty="0">
                  <a:solidFill>
                    <a:srgbClr val="BBBEBF"/>
                  </a:solidFill>
                  <a:effectLst/>
                  <a:latin typeface="Menlo" panose="020B0609030804020204" pitchFamily="49" charset="0"/>
                </a:rPr>
                <a:t> </a:t>
              </a:r>
              <a:r>
                <a:rPr lang="en" altLang="zh-TW" sz="2000" b="0" dirty="0">
                  <a:effectLst/>
                  <a:latin typeface="Menlo" panose="020B0609030804020204" pitchFamily="49" charset="0"/>
                </a:rPr>
                <a:t>each individual:</a:t>
              </a:r>
              <a:endParaRPr lang="en" altLang="zh-TW" sz="2000" dirty="0">
                <a:solidFill>
                  <a:srgbClr val="7030A0"/>
                </a:solidFill>
                <a:latin typeface="Menlo" panose="020B0609030804020204" pitchFamily="49" charset="0"/>
              </a:endParaRPr>
            </a:p>
            <a:p>
              <a:r>
                <a:rPr lang="en" altLang="zh-TW" sz="2000" dirty="0">
                  <a:latin typeface="Menlo" panose="020B0609030804020204" pitchFamily="49" charset="0"/>
                </a:rPr>
                <a:t>    </a:t>
              </a:r>
              <a:r>
                <a:rPr lang="en" altLang="zh-TW" sz="2000" dirty="0" err="1">
                  <a:latin typeface="Menlo" panose="020B0609030804020204" pitchFamily="49" charset="0"/>
                </a:rPr>
                <a:t>pop_matrix</a:t>
              </a:r>
              <a:r>
                <a:rPr lang="en" altLang="zh-TW" sz="2000" dirty="0">
                  <a:latin typeface="Menlo" panose="020B0609030804020204" pitchFamily="49" charset="0"/>
                </a:rPr>
                <a:t>[</a:t>
              </a:r>
              <a:r>
                <a:rPr lang="en" altLang="zh-TW" sz="2000" dirty="0" err="1">
                  <a:latin typeface="Menlo" panose="020B0609030804020204" pitchFamily="49" charset="0"/>
                </a:rPr>
                <a:t>i</a:t>
              </a:r>
              <a:r>
                <a:rPr lang="en" altLang="zh-TW" sz="2000" dirty="0">
                  <a:latin typeface="Menlo" panose="020B0609030804020204" pitchFamily="49" charset="0"/>
                </a:rPr>
                <a:t>] = </a:t>
              </a:r>
              <a:r>
                <a:rPr lang="en" altLang="zh-TW" sz="2000" dirty="0" err="1">
                  <a:latin typeface="Menlo" panose="020B0609030804020204" pitchFamily="49" charset="0"/>
                </a:rPr>
                <a:t>ind</a:t>
              </a:r>
              <a:r>
                <a:rPr lang="en" altLang="zh-TW" sz="2000" dirty="0">
                  <a:latin typeface="Menlo" panose="020B0609030804020204" pitchFamily="49" charset="0"/>
                </a:rPr>
                <a:t>[</a:t>
              </a:r>
              <a:r>
                <a:rPr lang="en" altLang="zh-TW" sz="2000" dirty="0" err="1">
                  <a:latin typeface="Menlo" panose="020B0609030804020204" pitchFamily="49" charset="0"/>
                </a:rPr>
                <a:t>i</a:t>
              </a:r>
              <a:r>
                <a:rPr lang="en" altLang="zh-TW" sz="2000" dirty="0">
                  <a:latin typeface="Menlo" panose="020B0609030804020204" pitchFamily="49" charset="0"/>
                </a:rPr>
                <a:t>].genes();</a:t>
              </a:r>
            </a:p>
            <a:p>
              <a:r>
                <a:rPr lang="en" altLang="zh-TW" sz="2000" dirty="0">
                  <a:latin typeface="Menlo" panose="020B0609030804020204" pitchFamily="49" charset="0"/>
                </a:rPr>
                <a:t>result = </a:t>
              </a:r>
              <a:r>
                <a:rPr lang="en" altLang="zh-TW" sz="2000" b="0" dirty="0" err="1">
                  <a:effectLst/>
                  <a:latin typeface="Menlo" panose="020B0609030804020204" pitchFamily="49" charset="0"/>
                </a:rPr>
                <a:t>m_fitness_func</a:t>
              </a:r>
              <a:r>
                <a:rPr lang="en" altLang="zh-TW" sz="2000" dirty="0">
                  <a:latin typeface="Menlo" panose="020B0609030804020204" pitchFamily="49" charset="0"/>
                </a:rPr>
                <a:t>(</a:t>
              </a:r>
              <a:r>
                <a:rPr lang="en" altLang="zh-TW" sz="2000" dirty="0" err="1">
                  <a:latin typeface="Menlo" panose="020B0609030804020204" pitchFamily="49" charset="0"/>
                </a:rPr>
                <a:t>pop_matrix</a:t>
              </a:r>
              <a:r>
                <a:rPr lang="en" altLang="zh-TW" sz="2000" dirty="0">
                  <a:latin typeface="Menlo" panose="020B0609030804020204" pitchFamily="49" charset="0"/>
                </a:rPr>
                <a:t>);</a:t>
              </a:r>
              <a:endParaRPr lang="en" altLang="zh-TW" sz="2000" dirty="0">
                <a:solidFill>
                  <a:srgbClr val="7030A0"/>
                </a:solidFill>
                <a:latin typeface="Menlo" panose="020B0609030804020204" pitchFamily="49" charset="0"/>
              </a:endParaRPr>
            </a:p>
          </p:txBody>
        </p:sp>
        <p:sp>
          <p:nvSpPr>
            <p:cNvPr id="13" name="文字方塊 12">
              <a:extLst>
                <a:ext uri="{FF2B5EF4-FFF2-40B4-BE49-F238E27FC236}">
                  <a16:creationId xmlns:a16="http://schemas.microsoft.com/office/drawing/2014/main" id="{1D646B0D-4AEE-1B9B-D605-6D6ACBE33621}"/>
                </a:ext>
              </a:extLst>
            </p:cNvPr>
            <p:cNvSpPr txBox="1"/>
            <p:nvPr/>
          </p:nvSpPr>
          <p:spPr>
            <a:xfrm>
              <a:off x="358817" y="1940086"/>
              <a:ext cx="1992853" cy="369332"/>
            </a:xfrm>
            <a:prstGeom prst="rect">
              <a:avLst/>
            </a:prstGeom>
            <a:solidFill>
              <a:schemeClr val="bg1">
                <a:lumMod val="95000"/>
              </a:schemeClr>
            </a:solidFill>
            <a:ln>
              <a:solidFill>
                <a:schemeClr val="tx1"/>
              </a:solidFill>
            </a:ln>
          </p:spPr>
          <p:txBody>
            <a:bodyPr wrap="none" rtlCol="0">
              <a:spAutoFit/>
            </a:bodyPr>
            <a:lstStyle/>
            <a:p>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batch_evaluate</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a:t>
              </a:r>
              <a:endParaRPr kumimoji="1" lang="zh-TW" altLang="en-US" b="1" dirty="0">
                <a:latin typeface="Helvetica Neue" panose="02000503000000020004" pitchFamily="2" charset="0"/>
                <a:cs typeface="Helvetica Neue" panose="02000503000000020004" pitchFamily="2" charset="0"/>
              </a:endParaRPr>
            </a:p>
          </p:txBody>
        </p:sp>
      </p:grpSp>
      <p:grpSp>
        <p:nvGrpSpPr>
          <p:cNvPr id="15" name="群組 14">
            <a:extLst>
              <a:ext uri="{FF2B5EF4-FFF2-40B4-BE49-F238E27FC236}">
                <a16:creationId xmlns:a16="http://schemas.microsoft.com/office/drawing/2014/main" id="{15FFEF0C-944C-23C5-DC4D-D3B7DD89D894}"/>
              </a:ext>
            </a:extLst>
          </p:cNvPr>
          <p:cNvGrpSpPr/>
          <p:nvPr/>
        </p:nvGrpSpPr>
        <p:grpSpPr>
          <a:xfrm>
            <a:off x="6346782" y="4409315"/>
            <a:ext cx="5602147" cy="1581207"/>
            <a:chOff x="514588" y="3521599"/>
            <a:chExt cx="5602147" cy="1581207"/>
          </a:xfrm>
        </p:grpSpPr>
        <mc:AlternateContent xmlns:mc="http://schemas.openxmlformats.org/markup-compatibility/2006">
          <mc:Choice xmlns:a14="http://schemas.microsoft.com/office/drawing/2010/main" Requires="a14">
            <p:sp>
              <p:nvSpPr>
                <p:cNvPr id="16" name="文字方塊 15">
                  <a:extLst>
                    <a:ext uri="{FF2B5EF4-FFF2-40B4-BE49-F238E27FC236}">
                      <a16:creationId xmlns:a16="http://schemas.microsoft.com/office/drawing/2014/main" id="{B14A04D1-CCAE-62A6-C16E-FB170173FC6E}"/>
                    </a:ext>
                  </a:extLst>
                </p:cNvPr>
                <p:cNvSpPr txBox="1"/>
                <p:nvPr/>
              </p:nvSpPr>
              <p:spPr>
                <a:xfrm>
                  <a:off x="514588" y="3521599"/>
                  <a:ext cx="3213906" cy="923330"/>
                </a:xfrm>
                <a:prstGeom prst="rect">
                  <a:avLst/>
                </a:prstGeom>
                <a:noFill/>
              </p:spPr>
              <p:txBody>
                <a:bodyPr wrap="square" rtlCol="0">
                  <a:spAutoFit/>
                </a:bodyPr>
                <a:lstStyle/>
                <a:p>
                  <a:r>
                    <a:rPr kumimoji="1" lang="en-US" altLang="zh-TW" dirty="0" err="1">
                      <a:cs typeface="Helvetica Neue" panose="02000503000000020004" pitchFamily="2" charset="0"/>
                    </a:rPr>
                    <a:t>pop_matrix</a:t>
                  </a:r>
                  <a:r>
                    <a:rPr kumimoji="1" lang="en-US" altLang="zh-TW" b="0" dirty="0">
                      <a:cs typeface="Helvetica Neue" panose="02000503000000020004" pitchFamily="2" charset="0"/>
                    </a:rPr>
                    <a:t>[] </a:t>
                  </a:r>
                  <a:r>
                    <a:rPr kumimoji="1" lang="en-US" altLang="zh-TW" dirty="0">
                      <a:cs typeface="Helvetica Neue" panose="02000503000000020004" pitchFamily="2" charset="0"/>
                    </a:rPr>
                    <a:t>= </a:t>
                  </a:r>
                  <a14:m>
                    <m:oMath xmlns:m="http://schemas.openxmlformats.org/officeDocument/2006/math">
                      <m:d>
                        <m:dPr>
                          <m:begChr m:val="["/>
                          <m:endChr m:val="]"/>
                          <m:ctrlPr>
                            <a:rPr kumimoji="1" lang="en-US" altLang="zh-TW" b="0" i="1" dirty="0" smtClean="0">
                              <a:latin typeface="Cambria Math" panose="02040503050406030204" pitchFamily="18" charset="0"/>
                              <a:cs typeface="Helvetica Neue" panose="02000503000000020004" pitchFamily="2" charset="0"/>
                            </a:rPr>
                          </m:ctrlPr>
                        </m:dPr>
                        <m:e>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1</m:t>
                              </m:r>
                            </m:sub>
                          </m:sSub>
                          <m:r>
                            <a:rPr kumimoji="1" lang="en-US" altLang="zh-TW" b="0" i="1" dirty="0" smtClean="0">
                              <a:latin typeface="Cambria Math" panose="02040503050406030204" pitchFamily="18" charset="0"/>
                              <a:cs typeface="Helvetica Neue" panose="02000503000000020004" pitchFamily="2" charset="0"/>
                            </a:rPr>
                            <m:t> ……</m:t>
                          </m:r>
                        </m:e>
                      </m:d>
                    </m:oMath>
                  </a14:m>
                  <a:endParaRPr kumimoji="1" lang="en-US" altLang="zh-TW" b="0" dirty="0">
                    <a:cs typeface="Helvetica Neue" panose="02000503000000020004" pitchFamily="2" charset="0"/>
                  </a:endParaRPr>
                </a:p>
                <a:p>
                  <a:r>
                    <a:rPr kumimoji="1" lang="en-US" altLang="zh-TW" dirty="0">
                      <a:latin typeface="Helvetica Neue" panose="02000503000000020004" pitchFamily="2" charset="0"/>
                      <a:cs typeface="Helvetica Neue" panose="02000503000000020004" pitchFamily="2" charset="0"/>
                    </a:rPr>
                    <a:t>                       </a:t>
                  </a:r>
                  <a14:m>
                    <m:oMath xmlns:m="http://schemas.openxmlformats.org/officeDocument/2006/math">
                      <m:r>
                        <a:rPr kumimoji="1" lang="en-US" altLang="zh-TW" b="0" i="1" dirty="0" smtClean="0">
                          <a:latin typeface="Cambria Math" panose="02040503050406030204" pitchFamily="18" charset="0"/>
                          <a:cs typeface="Helvetica Neue" panose="02000503000000020004" pitchFamily="2" charset="0"/>
                        </a:rPr>
                        <m:t>[</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oMath>
                  </a14:m>
                  <a:endParaRPr kumimoji="1" lang="en-US" altLang="zh-TW" dirty="0">
                    <a:latin typeface="Helvetica Neue" panose="02000503000000020004" pitchFamily="2" charset="0"/>
                    <a:cs typeface="Helvetica Neue" panose="02000503000000020004" pitchFamily="2" charset="0"/>
                  </a:endParaRPr>
                </a:p>
                <a:p>
                  <a:r>
                    <a:rPr kumimoji="1" lang="en-US" altLang="zh-TW" dirty="0">
                      <a:latin typeface="Helvetica Neue" panose="02000503000000020004" pitchFamily="2" charset="0"/>
                      <a:cs typeface="Helvetica Neue" panose="02000503000000020004" pitchFamily="2" charset="0"/>
                    </a:rPr>
                    <a:t>                       </a:t>
                  </a:r>
                  <a14:m>
                    <m:oMath xmlns:m="http://schemas.openxmlformats.org/officeDocument/2006/math">
                      <m:r>
                        <a:rPr kumimoji="1" lang="en-US" altLang="zh-TW" b="0" i="1" dirty="0" smtClean="0">
                          <a:latin typeface="Cambria Math" panose="02040503050406030204" pitchFamily="18" charset="0"/>
                          <a:cs typeface="Helvetica Neue" panose="02000503000000020004" pitchFamily="2" charset="0"/>
                        </a:rPr>
                        <m:t>[</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oMath>
                  </a14:m>
                  <a:endParaRPr kumimoji="1" lang="zh-TW" altLang="en-US" dirty="0">
                    <a:latin typeface="Helvetica Neue" panose="02000503000000020004" pitchFamily="2" charset="0"/>
                    <a:cs typeface="Helvetica Neue" panose="02000503000000020004" pitchFamily="2" charset="0"/>
                  </a:endParaRPr>
                </a:p>
              </p:txBody>
            </p:sp>
          </mc:Choice>
          <mc:Fallback>
            <p:sp>
              <p:nvSpPr>
                <p:cNvPr id="16" name="文字方塊 15">
                  <a:extLst>
                    <a:ext uri="{FF2B5EF4-FFF2-40B4-BE49-F238E27FC236}">
                      <a16:creationId xmlns:a16="http://schemas.microsoft.com/office/drawing/2014/main" id="{B14A04D1-CCAE-62A6-C16E-FB170173FC6E}"/>
                    </a:ext>
                  </a:extLst>
                </p:cNvPr>
                <p:cNvSpPr txBox="1">
                  <a:spLocks noRot="1" noChangeAspect="1" noMove="1" noResize="1" noEditPoints="1" noAdjustHandles="1" noChangeArrowheads="1" noChangeShapeType="1" noTextEdit="1"/>
                </p:cNvSpPr>
                <p:nvPr/>
              </p:nvSpPr>
              <p:spPr>
                <a:xfrm>
                  <a:off x="514588" y="3521599"/>
                  <a:ext cx="3213906" cy="923330"/>
                </a:xfrm>
                <a:prstGeom prst="rect">
                  <a:avLst/>
                </a:prstGeom>
                <a:blipFill>
                  <a:blip r:embed="rId4"/>
                  <a:stretch>
                    <a:fillRect l="-1575" t="-2703" b="-5405"/>
                  </a:stretch>
                </a:blipFill>
              </p:spPr>
              <p:txBody>
                <a:bodyPr/>
                <a:lstStyle/>
                <a:p>
                  <a:r>
                    <a:rPr lang="zh-TW" altLang="en-US">
                      <a:noFill/>
                    </a:rPr>
                    <a:t> </a:t>
                  </a:r>
                </a:p>
              </p:txBody>
            </p:sp>
          </mc:Fallback>
        </mc:AlternateContent>
        <p:sp>
          <p:nvSpPr>
            <p:cNvPr id="17" name="文字方塊 16">
              <a:extLst>
                <a:ext uri="{FF2B5EF4-FFF2-40B4-BE49-F238E27FC236}">
                  <a16:creationId xmlns:a16="http://schemas.microsoft.com/office/drawing/2014/main" id="{8851A26A-11BE-84A3-29B6-659794883519}"/>
                </a:ext>
              </a:extLst>
            </p:cNvPr>
            <p:cNvSpPr txBox="1"/>
            <p:nvPr/>
          </p:nvSpPr>
          <p:spPr>
            <a:xfrm>
              <a:off x="3887643" y="4232364"/>
              <a:ext cx="2229092" cy="369332"/>
            </a:xfrm>
            <a:prstGeom prst="rect">
              <a:avLst/>
            </a:prstGeom>
            <a:noFill/>
          </p:spPr>
          <p:txBody>
            <a:bodyPr wrap="square" rtlCol="0">
              <a:spAutoFit/>
            </a:bodyPr>
            <a:lstStyle/>
            <a:p>
              <a:r>
                <a:rPr kumimoji="1" lang="en-US" altLang="zh-TW" dirty="0" err="1">
                  <a:cs typeface="Helvetica Neue" panose="02000503000000020004" pitchFamily="2" charset="0"/>
                </a:rPr>
                <a:t>fitness_func</a:t>
              </a:r>
              <a:r>
                <a:rPr kumimoji="1" lang="en-US" altLang="zh-TW" dirty="0">
                  <a:cs typeface="Helvetica Neue" panose="02000503000000020004" pitchFamily="2" charset="0"/>
                </a:rPr>
                <a:t>()</a:t>
              </a:r>
              <a:endParaRPr kumimoji="1" lang="zh-TW" altLang="en-US" dirty="0">
                <a:latin typeface="Helvetica Neue" panose="02000503000000020004" pitchFamily="2" charset="0"/>
                <a:cs typeface="Helvetica Neue" panose="02000503000000020004" pitchFamily="2" charset="0"/>
              </a:endParaRPr>
            </a:p>
          </p:txBody>
        </p:sp>
        <p:sp>
          <p:nvSpPr>
            <p:cNvPr id="18" name="弧線 17">
              <a:extLst>
                <a:ext uri="{FF2B5EF4-FFF2-40B4-BE49-F238E27FC236}">
                  <a16:creationId xmlns:a16="http://schemas.microsoft.com/office/drawing/2014/main" id="{731BEC88-8184-DE6A-2BE2-890EA2363385}"/>
                </a:ext>
              </a:extLst>
            </p:cNvPr>
            <p:cNvSpPr/>
            <p:nvPr/>
          </p:nvSpPr>
          <p:spPr>
            <a:xfrm>
              <a:off x="3088990" y="3731253"/>
              <a:ext cx="1597306" cy="1371553"/>
            </a:xfrm>
            <a:prstGeom prst="arc">
              <a:avLst>
                <a:gd name="adj1" fmla="val 16200000"/>
                <a:gd name="adj2" fmla="val 20805439"/>
              </a:avLst>
            </a:prstGeom>
            <a:ln>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TW" altLang="en-US"/>
            </a:p>
          </p:txBody>
        </p:sp>
      </p:grpSp>
      <p:grpSp>
        <p:nvGrpSpPr>
          <p:cNvPr id="27" name="群組 26">
            <a:extLst>
              <a:ext uri="{FF2B5EF4-FFF2-40B4-BE49-F238E27FC236}">
                <a16:creationId xmlns:a16="http://schemas.microsoft.com/office/drawing/2014/main" id="{B8FCDAA9-F6BA-F9AA-0F19-693588046AD5}"/>
              </a:ext>
            </a:extLst>
          </p:cNvPr>
          <p:cNvGrpSpPr/>
          <p:nvPr/>
        </p:nvGrpSpPr>
        <p:grpSpPr>
          <a:xfrm>
            <a:off x="358817" y="4365598"/>
            <a:ext cx="5060064" cy="1556219"/>
            <a:chOff x="358817" y="3521599"/>
            <a:chExt cx="5060064" cy="1556219"/>
          </a:xfrm>
        </p:grpSpPr>
        <mc:AlternateContent xmlns:mc="http://schemas.openxmlformats.org/markup-compatibility/2006">
          <mc:Choice xmlns:a14="http://schemas.microsoft.com/office/drawing/2010/main" Requires="a14">
            <p:sp>
              <p:nvSpPr>
                <p:cNvPr id="28" name="文字方塊 27">
                  <a:extLst>
                    <a:ext uri="{FF2B5EF4-FFF2-40B4-BE49-F238E27FC236}">
                      <a16:creationId xmlns:a16="http://schemas.microsoft.com/office/drawing/2014/main" id="{82E634DF-13C2-8368-4409-4457C7FFD024}"/>
                    </a:ext>
                  </a:extLst>
                </p:cNvPr>
                <p:cNvSpPr txBox="1"/>
                <p:nvPr/>
              </p:nvSpPr>
              <p:spPr>
                <a:xfrm>
                  <a:off x="358817" y="3521599"/>
                  <a:ext cx="2926946" cy="369332"/>
                </a:xfrm>
                <a:prstGeom prst="rect">
                  <a:avLst/>
                </a:prstGeom>
                <a:noFill/>
              </p:spPr>
              <p:txBody>
                <a:bodyPr wrap="square" rtlCol="0">
                  <a:spAutoFit/>
                </a:bodyPr>
                <a:lstStyle/>
                <a:p>
                  <a:r>
                    <a:rPr kumimoji="1" lang="en-US" altLang="zh-TW" dirty="0">
                      <a:cs typeface="Helvetica Neue" panose="02000503000000020004" pitchFamily="2" charset="0"/>
                    </a:rPr>
                    <a:t>Individual</a:t>
                  </a:r>
                  <a:r>
                    <a:rPr kumimoji="1" lang="en-US" altLang="zh-TW" b="0" dirty="0">
                      <a:cs typeface="Helvetica Neue" panose="02000503000000020004" pitchFamily="2" charset="0"/>
                    </a:rPr>
                    <a:t> </a:t>
                  </a:r>
                  <a:r>
                    <a:rPr kumimoji="1" lang="en-US" altLang="zh-TW" dirty="0">
                      <a:cs typeface="Helvetica Neue" panose="02000503000000020004" pitchFamily="2" charset="0"/>
                    </a:rPr>
                    <a:t>= </a:t>
                  </a:r>
                  <a14:m>
                    <m:oMath xmlns:m="http://schemas.openxmlformats.org/officeDocument/2006/math">
                      <m:r>
                        <a:rPr kumimoji="1" lang="en-US" altLang="zh-TW" b="0" i="1" dirty="0" smtClean="0">
                          <a:latin typeface="Cambria Math" panose="02040503050406030204" pitchFamily="18" charset="0"/>
                          <a:cs typeface="Helvetica Neue" panose="02000503000000020004" pitchFamily="2" charset="0"/>
                        </a:rPr>
                        <m:t>[</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2</m:t>
                          </m:r>
                        </m:sub>
                      </m:sSub>
                      <m:r>
                        <a:rPr kumimoji="1" lang="en-US" altLang="zh-TW" b="0" i="1" dirty="0" smtClean="0">
                          <a:latin typeface="Cambria Math" panose="02040503050406030204" pitchFamily="18" charset="0"/>
                          <a:cs typeface="Helvetica Neue" panose="02000503000000020004" pitchFamily="2" charset="0"/>
                        </a:rPr>
                        <m:t> ……]</m:t>
                      </m:r>
                    </m:oMath>
                  </a14:m>
                  <a:endParaRPr kumimoji="1" lang="zh-TW" altLang="en-US" dirty="0">
                    <a:latin typeface="Helvetica Neue" panose="02000503000000020004" pitchFamily="2" charset="0"/>
                    <a:cs typeface="Helvetica Neue" panose="02000503000000020004" pitchFamily="2" charset="0"/>
                  </a:endParaRPr>
                </a:p>
              </p:txBody>
            </p:sp>
          </mc:Choice>
          <mc:Fallback>
            <p:sp>
              <p:nvSpPr>
                <p:cNvPr id="28" name="文字方塊 27">
                  <a:extLst>
                    <a:ext uri="{FF2B5EF4-FFF2-40B4-BE49-F238E27FC236}">
                      <a16:creationId xmlns:a16="http://schemas.microsoft.com/office/drawing/2014/main" id="{82E634DF-13C2-8368-4409-4457C7FFD024}"/>
                    </a:ext>
                  </a:extLst>
                </p:cNvPr>
                <p:cNvSpPr txBox="1">
                  <a:spLocks noRot="1" noChangeAspect="1" noMove="1" noResize="1" noEditPoints="1" noAdjustHandles="1" noChangeArrowheads="1" noChangeShapeType="1" noTextEdit="1"/>
                </p:cNvSpPr>
                <p:nvPr/>
              </p:nvSpPr>
              <p:spPr>
                <a:xfrm>
                  <a:off x="358817" y="3521599"/>
                  <a:ext cx="2926946" cy="369332"/>
                </a:xfrm>
                <a:prstGeom prst="rect">
                  <a:avLst/>
                </a:prstGeom>
                <a:blipFill>
                  <a:blip r:embed="rId5"/>
                  <a:stretch>
                    <a:fillRect l="-1732" t="-6667" b="-26667"/>
                  </a:stretch>
                </a:blipFill>
              </p:spPr>
              <p:txBody>
                <a:bodyPr/>
                <a:lstStyle/>
                <a:p>
                  <a:r>
                    <a:rPr lang="zh-TW" altLang="en-US">
                      <a:noFill/>
                    </a:rPr>
                    <a:t> </a:t>
                  </a:r>
                </a:p>
              </p:txBody>
            </p:sp>
          </mc:Fallback>
        </mc:AlternateContent>
        <p:sp>
          <p:nvSpPr>
            <p:cNvPr id="29" name="文字方塊 28">
              <a:extLst>
                <a:ext uri="{FF2B5EF4-FFF2-40B4-BE49-F238E27FC236}">
                  <a16:creationId xmlns:a16="http://schemas.microsoft.com/office/drawing/2014/main" id="{09E51AA9-6A78-0EAF-6908-DBF5483FBDD0}"/>
                </a:ext>
              </a:extLst>
            </p:cNvPr>
            <p:cNvSpPr txBox="1"/>
            <p:nvPr/>
          </p:nvSpPr>
          <p:spPr>
            <a:xfrm>
              <a:off x="3189789" y="4022709"/>
              <a:ext cx="2229092" cy="369332"/>
            </a:xfrm>
            <a:prstGeom prst="rect">
              <a:avLst/>
            </a:prstGeom>
            <a:noFill/>
          </p:spPr>
          <p:txBody>
            <a:bodyPr wrap="square" rtlCol="0">
              <a:spAutoFit/>
            </a:bodyPr>
            <a:lstStyle/>
            <a:p>
              <a:r>
                <a:rPr kumimoji="1" lang="en-US" altLang="zh-TW" dirty="0" err="1">
                  <a:cs typeface="Helvetica Neue" panose="02000503000000020004" pitchFamily="2" charset="0"/>
                </a:rPr>
                <a:t>fitness_func</a:t>
              </a:r>
              <a:r>
                <a:rPr kumimoji="1" lang="en-US" altLang="zh-TW" dirty="0">
                  <a:cs typeface="Helvetica Neue" panose="02000503000000020004" pitchFamily="2" charset="0"/>
                </a:rPr>
                <a:t>()</a:t>
              </a:r>
              <a:endParaRPr kumimoji="1" lang="zh-TW" altLang="en-US" dirty="0">
                <a:latin typeface="Helvetica Neue" panose="02000503000000020004" pitchFamily="2" charset="0"/>
                <a:cs typeface="Helvetica Neue" panose="02000503000000020004" pitchFamily="2" charset="0"/>
              </a:endParaRPr>
            </a:p>
          </p:txBody>
        </p:sp>
        <p:sp>
          <p:nvSpPr>
            <p:cNvPr id="30" name="弧線 29">
              <a:extLst>
                <a:ext uri="{FF2B5EF4-FFF2-40B4-BE49-F238E27FC236}">
                  <a16:creationId xmlns:a16="http://schemas.microsoft.com/office/drawing/2014/main" id="{4CA16171-399C-BD0E-2AF7-4D791A4A5A0D}"/>
                </a:ext>
              </a:extLst>
            </p:cNvPr>
            <p:cNvSpPr/>
            <p:nvPr/>
          </p:nvSpPr>
          <p:spPr>
            <a:xfrm>
              <a:off x="2487110" y="3706265"/>
              <a:ext cx="1597306" cy="1371553"/>
            </a:xfrm>
            <a:prstGeom prst="arc">
              <a:avLst>
                <a:gd name="adj1" fmla="val 16200000"/>
                <a:gd name="adj2" fmla="val 19985008"/>
              </a:avLst>
            </a:prstGeom>
            <a:ln>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TW" altLang="en-US"/>
            </a:p>
          </p:txBody>
        </p:sp>
      </p:grpSp>
      <p:grpSp>
        <p:nvGrpSpPr>
          <p:cNvPr id="31" name="群組 30">
            <a:extLst>
              <a:ext uri="{FF2B5EF4-FFF2-40B4-BE49-F238E27FC236}">
                <a16:creationId xmlns:a16="http://schemas.microsoft.com/office/drawing/2014/main" id="{3E6540CE-6455-646F-D18F-C996C66C8DBB}"/>
              </a:ext>
            </a:extLst>
          </p:cNvPr>
          <p:cNvGrpSpPr/>
          <p:nvPr/>
        </p:nvGrpSpPr>
        <p:grpSpPr>
          <a:xfrm>
            <a:off x="358817" y="5229542"/>
            <a:ext cx="5060064" cy="1556219"/>
            <a:chOff x="358817" y="3521599"/>
            <a:chExt cx="5060064" cy="1556219"/>
          </a:xfrm>
        </p:grpSpPr>
        <mc:AlternateContent xmlns:mc="http://schemas.openxmlformats.org/markup-compatibility/2006">
          <mc:Choice xmlns:a14="http://schemas.microsoft.com/office/drawing/2010/main" Requires="a14">
            <p:sp>
              <p:nvSpPr>
                <p:cNvPr id="32" name="文字方塊 31">
                  <a:extLst>
                    <a:ext uri="{FF2B5EF4-FFF2-40B4-BE49-F238E27FC236}">
                      <a16:creationId xmlns:a16="http://schemas.microsoft.com/office/drawing/2014/main" id="{7B682C49-2E9B-B2EB-091C-EFA930F907E6}"/>
                    </a:ext>
                  </a:extLst>
                </p:cNvPr>
                <p:cNvSpPr txBox="1"/>
                <p:nvPr/>
              </p:nvSpPr>
              <p:spPr>
                <a:xfrm>
                  <a:off x="358817" y="3521599"/>
                  <a:ext cx="2926946" cy="369332"/>
                </a:xfrm>
                <a:prstGeom prst="rect">
                  <a:avLst/>
                </a:prstGeom>
                <a:noFill/>
              </p:spPr>
              <p:txBody>
                <a:bodyPr wrap="square" rtlCol="0">
                  <a:spAutoFit/>
                </a:bodyPr>
                <a:lstStyle/>
                <a:p>
                  <a:r>
                    <a:rPr kumimoji="1" lang="en-US" altLang="zh-TW" dirty="0">
                      <a:cs typeface="Helvetica Neue" panose="02000503000000020004" pitchFamily="2" charset="0"/>
                    </a:rPr>
                    <a:t>Individual</a:t>
                  </a:r>
                  <a:r>
                    <a:rPr kumimoji="1" lang="en-US" altLang="zh-TW" b="0" dirty="0">
                      <a:cs typeface="Helvetica Neue" panose="02000503000000020004" pitchFamily="2" charset="0"/>
                    </a:rPr>
                    <a:t> </a:t>
                  </a:r>
                  <a:r>
                    <a:rPr kumimoji="1" lang="en-US" altLang="zh-TW" dirty="0">
                      <a:cs typeface="Helvetica Neue" panose="02000503000000020004" pitchFamily="2" charset="0"/>
                    </a:rPr>
                    <a:t>= </a:t>
                  </a:r>
                  <a14:m>
                    <m:oMath xmlns:m="http://schemas.openxmlformats.org/officeDocument/2006/math">
                      <m:r>
                        <a:rPr kumimoji="1" lang="en-US" altLang="zh-TW" b="0" i="1" dirty="0" smtClean="0">
                          <a:latin typeface="Cambria Math" panose="02040503050406030204" pitchFamily="18" charset="0"/>
                          <a:cs typeface="Helvetica Neue" panose="02000503000000020004" pitchFamily="2" charset="0"/>
                        </a:rPr>
                        <m:t>[</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𝑥</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𝑦</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sSub>
                        <m:sSubPr>
                          <m:ctrlPr>
                            <a:rPr kumimoji="1" lang="en-US" altLang="zh-TW" b="0" i="1" dirty="0" smtClean="0">
                              <a:latin typeface="Cambria Math" panose="02040503050406030204" pitchFamily="18" charset="0"/>
                              <a:cs typeface="Helvetica Neue" panose="02000503000000020004" pitchFamily="2" charset="0"/>
                            </a:rPr>
                          </m:ctrlPr>
                        </m:sSubPr>
                        <m:e>
                          <m:r>
                            <a:rPr kumimoji="1" lang="en-US" altLang="zh-TW" b="0" i="1" dirty="0" smtClean="0">
                              <a:latin typeface="Cambria Math" panose="02040503050406030204" pitchFamily="18" charset="0"/>
                              <a:cs typeface="Helvetica Neue" panose="02000503000000020004" pitchFamily="2" charset="0"/>
                            </a:rPr>
                            <m:t>𝑧</m:t>
                          </m:r>
                        </m:e>
                        <m:sub>
                          <m:r>
                            <a:rPr kumimoji="1" lang="en-US" altLang="zh-TW" b="0" i="1" dirty="0" smtClean="0">
                              <a:latin typeface="Cambria Math" panose="02040503050406030204" pitchFamily="18" charset="0"/>
                              <a:cs typeface="Helvetica Neue" panose="02000503000000020004" pitchFamily="2" charset="0"/>
                            </a:rPr>
                            <m:t>3</m:t>
                          </m:r>
                        </m:sub>
                      </m:sSub>
                      <m:r>
                        <a:rPr kumimoji="1" lang="en-US" altLang="zh-TW" b="0" i="1" dirty="0" smtClean="0">
                          <a:latin typeface="Cambria Math" panose="02040503050406030204" pitchFamily="18" charset="0"/>
                          <a:cs typeface="Helvetica Neue" panose="02000503000000020004" pitchFamily="2" charset="0"/>
                        </a:rPr>
                        <m:t> ……]</m:t>
                      </m:r>
                    </m:oMath>
                  </a14:m>
                  <a:endParaRPr kumimoji="1" lang="zh-TW" altLang="en-US" dirty="0">
                    <a:latin typeface="Helvetica Neue" panose="02000503000000020004" pitchFamily="2" charset="0"/>
                    <a:cs typeface="Helvetica Neue" panose="02000503000000020004" pitchFamily="2" charset="0"/>
                  </a:endParaRPr>
                </a:p>
              </p:txBody>
            </p:sp>
          </mc:Choice>
          <mc:Fallback>
            <p:sp>
              <p:nvSpPr>
                <p:cNvPr id="32" name="文字方塊 31">
                  <a:extLst>
                    <a:ext uri="{FF2B5EF4-FFF2-40B4-BE49-F238E27FC236}">
                      <a16:creationId xmlns:a16="http://schemas.microsoft.com/office/drawing/2014/main" id="{7B682C49-2E9B-B2EB-091C-EFA930F907E6}"/>
                    </a:ext>
                  </a:extLst>
                </p:cNvPr>
                <p:cNvSpPr txBox="1">
                  <a:spLocks noRot="1" noChangeAspect="1" noMove="1" noResize="1" noEditPoints="1" noAdjustHandles="1" noChangeArrowheads="1" noChangeShapeType="1" noTextEdit="1"/>
                </p:cNvSpPr>
                <p:nvPr/>
              </p:nvSpPr>
              <p:spPr>
                <a:xfrm>
                  <a:off x="358817" y="3521599"/>
                  <a:ext cx="2926946" cy="369332"/>
                </a:xfrm>
                <a:prstGeom prst="rect">
                  <a:avLst/>
                </a:prstGeom>
                <a:blipFill>
                  <a:blip r:embed="rId6"/>
                  <a:stretch>
                    <a:fillRect l="-1732" t="-6667" b="-26667"/>
                  </a:stretch>
                </a:blipFill>
              </p:spPr>
              <p:txBody>
                <a:bodyPr/>
                <a:lstStyle/>
                <a:p>
                  <a:r>
                    <a:rPr lang="zh-TW" altLang="en-US">
                      <a:noFill/>
                    </a:rPr>
                    <a:t> </a:t>
                  </a:r>
                </a:p>
              </p:txBody>
            </p:sp>
          </mc:Fallback>
        </mc:AlternateContent>
        <p:sp>
          <p:nvSpPr>
            <p:cNvPr id="33" name="文字方塊 32">
              <a:extLst>
                <a:ext uri="{FF2B5EF4-FFF2-40B4-BE49-F238E27FC236}">
                  <a16:creationId xmlns:a16="http://schemas.microsoft.com/office/drawing/2014/main" id="{2FAFDF5E-F50A-6A2C-C485-FE725708FD13}"/>
                </a:ext>
              </a:extLst>
            </p:cNvPr>
            <p:cNvSpPr txBox="1"/>
            <p:nvPr/>
          </p:nvSpPr>
          <p:spPr>
            <a:xfrm>
              <a:off x="3189789" y="4022709"/>
              <a:ext cx="2229092" cy="369332"/>
            </a:xfrm>
            <a:prstGeom prst="rect">
              <a:avLst/>
            </a:prstGeom>
            <a:noFill/>
          </p:spPr>
          <p:txBody>
            <a:bodyPr wrap="square" rtlCol="0">
              <a:spAutoFit/>
            </a:bodyPr>
            <a:lstStyle/>
            <a:p>
              <a:r>
                <a:rPr kumimoji="1" lang="en-US" altLang="zh-TW" dirty="0" err="1">
                  <a:cs typeface="Helvetica Neue" panose="02000503000000020004" pitchFamily="2" charset="0"/>
                </a:rPr>
                <a:t>fitness_func</a:t>
              </a:r>
              <a:r>
                <a:rPr kumimoji="1" lang="en-US" altLang="zh-TW" dirty="0">
                  <a:cs typeface="Helvetica Neue" panose="02000503000000020004" pitchFamily="2" charset="0"/>
                </a:rPr>
                <a:t>()</a:t>
              </a:r>
              <a:endParaRPr kumimoji="1" lang="zh-TW" altLang="en-US" dirty="0">
                <a:latin typeface="Helvetica Neue" panose="02000503000000020004" pitchFamily="2" charset="0"/>
                <a:cs typeface="Helvetica Neue" panose="02000503000000020004" pitchFamily="2" charset="0"/>
              </a:endParaRPr>
            </a:p>
          </p:txBody>
        </p:sp>
        <p:sp>
          <p:nvSpPr>
            <p:cNvPr id="34" name="弧線 33">
              <a:extLst>
                <a:ext uri="{FF2B5EF4-FFF2-40B4-BE49-F238E27FC236}">
                  <a16:creationId xmlns:a16="http://schemas.microsoft.com/office/drawing/2014/main" id="{1624D26A-B598-6A76-F59E-3FC9A2E65016}"/>
                </a:ext>
              </a:extLst>
            </p:cNvPr>
            <p:cNvSpPr/>
            <p:nvPr/>
          </p:nvSpPr>
          <p:spPr>
            <a:xfrm>
              <a:off x="2487110" y="3706265"/>
              <a:ext cx="1597306" cy="1371553"/>
            </a:xfrm>
            <a:prstGeom prst="arc">
              <a:avLst>
                <a:gd name="adj1" fmla="val 16200000"/>
                <a:gd name="adj2" fmla="val 19985008"/>
              </a:avLst>
            </a:prstGeom>
            <a:ln>
              <a:solidFill>
                <a:srgbClr val="FF0000"/>
              </a:solidFill>
              <a:headEnd type="none" w="med" len="med"/>
              <a:tailEnd type="arrow"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TW" altLang="en-US"/>
            </a:p>
          </p:txBody>
        </p:sp>
      </p:grpSp>
      <p:sp>
        <p:nvSpPr>
          <p:cNvPr id="35" name="文字方塊 34">
            <a:extLst>
              <a:ext uri="{FF2B5EF4-FFF2-40B4-BE49-F238E27FC236}">
                <a16:creationId xmlns:a16="http://schemas.microsoft.com/office/drawing/2014/main" id="{1616A01A-B09E-FAB4-54A0-F3C5B28BB67C}"/>
              </a:ext>
            </a:extLst>
          </p:cNvPr>
          <p:cNvSpPr txBox="1"/>
          <p:nvPr/>
        </p:nvSpPr>
        <p:spPr>
          <a:xfrm>
            <a:off x="2936349" y="5867895"/>
            <a:ext cx="1539433" cy="1015663"/>
          </a:xfrm>
          <a:prstGeom prst="rect">
            <a:avLst/>
          </a:prstGeom>
          <a:noFill/>
        </p:spPr>
        <p:txBody>
          <a:bodyPr wrap="square" rtlCol="0">
            <a:spAutoFit/>
          </a:bodyPr>
          <a:lstStyle/>
          <a:p>
            <a:r>
              <a:rPr kumimoji="1" lang="en-US" altLang="zh-TW" sz="2000" dirty="0">
                <a:latin typeface="Helvetica Neue" panose="02000503000000020004" pitchFamily="2" charset="0"/>
                <a:ea typeface="Helvetica Neue" panose="02000503000000020004" pitchFamily="2" charset="0"/>
                <a:cs typeface="Helvetica Neue" panose="02000503000000020004" pitchFamily="2" charset="0"/>
              </a:rPr>
              <a:t>.</a:t>
            </a:r>
          </a:p>
          <a:p>
            <a:r>
              <a:rPr kumimoji="1" lang="en-US" altLang="zh-TW" sz="2000" dirty="0">
                <a:latin typeface="Helvetica Neue" panose="02000503000000020004" pitchFamily="2" charset="0"/>
                <a:ea typeface="Helvetica Neue" panose="02000503000000020004" pitchFamily="2" charset="0"/>
                <a:cs typeface="Helvetica Neue" panose="02000503000000020004" pitchFamily="2" charset="0"/>
              </a:rPr>
              <a:t>.</a:t>
            </a:r>
          </a:p>
          <a:p>
            <a:r>
              <a:rPr kumimoji="1" lang="en-US" altLang="zh-TW" sz="2000" dirty="0">
                <a:latin typeface="Helvetica Neue" panose="02000503000000020004" pitchFamily="2" charset="0"/>
                <a:ea typeface="Helvetica Neue" panose="02000503000000020004" pitchFamily="2" charset="0"/>
                <a:cs typeface="Helvetica Neue" panose="02000503000000020004" pitchFamily="2" charset="0"/>
              </a:rPr>
              <a:t>.</a:t>
            </a:r>
            <a:endParaRPr kumimoji="1" lang="zh-TW" altLang="en-US" sz="2000" dirty="0">
              <a:latin typeface="Helvetica Neue" panose="02000503000000020004" pitchFamily="2" charset="0"/>
              <a:cs typeface="Helvetica Neue" panose="02000503000000020004" pitchFamily="2" charset="0"/>
            </a:endParaRPr>
          </a:p>
        </p:txBody>
      </p:sp>
      <p:grpSp>
        <p:nvGrpSpPr>
          <p:cNvPr id="39" name="群組 38">
            <a:extLst>
              <a:ext uri="{FF2B5EF4-FFF2-40B4-BE49-F238E27FC236}">
                <a16:creationId xmlns:a16="http://schemas.microsoft.com/office/drawing/2014/main" id="{34E60028-64A5-5650-71A0-D1045E1FA6DC}"/>
              </a:ext>
            </a:extLst>
          </p:cNvPr>
          <p:cNvGrpSpPr/>
          <p:nvPr/>
        </p:nvGrpSpPr>
        <p:grpSpPr>
          <a:xfrm>
            <a:off x="6346782" y="5482229"/>
            <a:ext cx="4566427" cy="1198119"/>
            <a:chOff x="6985107" y="5667840"/>
            <a:chExt cx="4566427" cy="1198119"/>
          </a:xfrm>
        </p:grpSpPr>
        <p:sp>
          <p:nvSpPr>
            <p:cNvPr id="37" name="文字方塊 36">
              <a:extLst>
                <a:ext uri="{FF2B5EF4-FFF2-40B4-BE49-F238E27FC236}">
                  <a16:creationId xmlns:a16="http://schemas.microsoft.com/office/drawing/2014/main" id="{2F55FC69-D7E7-0E35-72B4-1340F8464046}"/>
                </a:ext>
              </a:extLst>
            </p:cNvPr>
            <p:cNvSpPr txBox="1"/>
            <p:nvPr/>
          </p:nvSpPr>
          <p:spPr>
            <a:xfrm>
              <a:off x="6985108" y="5667840"/>
              <a:ext cx="1462223" cy="400110"/>
            </a:xfrm>
            <a:prstGeom prst="rect">
              <a:avLst/>
            </a:prstGeom>
            <a:solidFill>
              <a:schemeClr val="accent3">
                <a:lumMod val="20000"/>
                <a:lumOff val="80000"/>
              </a:schemeClr>
            </a:solidFill>
            <a:ln>
              <a:solidFill>
                <a:schemeClr val="accent3"/>
              </a:solidFill>
            </a:ln>
          </p:spPr>
          <p:txBody>
            <a:bodyPr wrap="square" rtlCol="0">
              <a:spAutoFit/>
            </a:bodyPr>
            <a:lstStyle/>
            <a:p>
              <a:r>
                <a:rPr kumimoji="1" lang="en-US" altLang="zh-TW" sz="2000" b="1" dirty="0">
                  <a:latin typeface="Helvetica Neue" panose="02000503000000020004" pitchFamily="2" charset="0"/>
                  <a:cs typeface="Helvetica Neue" panose="02000503000000020004" pitchFamily="2" charset="0"/>
                </a:rPr>
                <a:t>Pros: fast</a:t>
              </a:r>
              <a:endParaRPr kumimoji="1" lang="zh-TW" altLang="en-US" sz="2000" b="1" dirty="0">
                <a:latin typeface="Helvetica Neue" panose="02000503000000020004" pitchFamily="2" charset="0"/>
                <a:cs typeface="Helvetica Neue" panose="02000503000000020004" pitchFamily="2" charset="0"/>
              </a:endParaRPr>
            </a:p>
          </p:txBody>
        </p:sp>
        <p:sp>
          <p:nvSpPr>
            <p:cNvPr id="38" name="文字方塊 37">
              <a:extLst>
                <a:ext uri="{FF2B5EF4-FFF2-40B4-BE49-F238E27FC236}">
                  <a16:creationId xmlns:a16="http://schemas.microsoft.com/office/drawing/2014/main" id="{A2217636-1B0C-51E1-09AE-C74BB5F47922}"/>
                </a:ext>
              </a:extLst>
            </p:cNvPr>
            <p:cNvSpPr txBox="1"/>
            <p:nvPr/>
          </p:nvSpPr>
          <p:spPr>
            <a:xfrm>
              <a:off x="6985107" y="6158073"/>
              <a:ext cx="4566427" cy="707886"/>
            </a:xfrm>
            <a:prstGeom prst="rect">
              <a:avLst/>
            </a:prstGeom>
            <a:solidFill>
              <a:schemeClr val="accent2">
                <a:lumMod val="20000"/>
                <a:lumOff val="80000"/>
              </a:schemeClr>
            </a:solidFill>
            <a:ln>
              <a:solidFill>
                <a:schemeClr val="accent2"/>
              </a:solidFill>
            </a:ln>
          </p:spPr>
          <p:txBody>
            <a:bodyPr wrap="square" rtlCol="0">
              <a:spAutoFit/>
            </a:bodyPr>
            <a:lstStyle/>
            <a:p>
              <a:r>
                <a:rPr kumimoji="1" lang="en-US" altLang="zh-TW" sz="2000" b="1" dirty="0">
                  <a:latin typeface="Helvetica Neue" panose="02000503000000020004" pitchFamily="2" charset="0"/>
                  <a:cs typeface="Helvetica Neue" panose="02000503000000020004" pitchFamily="2" charset="0"/>
                </a:rPr>
                <a:t>Cons: requires users write batch-compatible fitness function</a:t>
              </a:r>
              <a:endParaRPr kumimoji="1" lang="zh-TW" altLang="en-US" sz="2000" b="1" dirty="0">
                <a:latin typeface="Helvetica Neue" panose="02000503000000020004" pitchFamily="2" charset="0"/>
                <a:cs typeface="Helvetica Neue" panose="02000503000000020004" pitchFamily="2" charset="0"/>
              </a:endParaRPr>
            </a:p>
          </p:txBody>
        </p:sp>
      </p:grpSp>
      <p:sp>
        <p:nvSpPr>
          <p:cNvPr id="40" name="投影片編號版面配置區 39">
            <a:extLst>
              <a:ext uri="{FF2B5EF4-FFF2-40B4-BE49-F238E27FC236}">
                <a16:creationId xmlns:a16="http://schemas.microsoft.com/office/drawing/2014/main" id="{2A6DFA5E-F02C-4737-4579-372FD64FEDA8}"/>
              </a:ext>
            </a:extLst>
          </p:cNvPr>
          <p:cNvSpPr>
            <a:spLocks noGrp="1"/>
          </p:cNvSpPr>
          <p:nvPr>
            <p:ph type="sldNum" sz="quarter" idx="12"/>
          </p:nvPr>
        </p:nvSpPr>
        <p:spPr/>
        <p:txBody>
          <a:bodyPr/>
          <a:lstStyle/>
          <a:p>
            <a:fld id="{CAFF4EFA-4C8F-9641-85B7-1744568BBCAB}" type="slidenum">
              <a:rPr kumimoji="1" lang="zh-TW" altLang="en-US" smtClean="0"/>
              <a:t>7</a:t>
            </a:fld>
            <a:endParaRPr kumimoji="1" lang="zh-TW" altLang="en-US"/>
          </a:p>
        </p:txBody>
      </p:sp>
    </p:spTree>
    <p:extLst>
      <p:ext uri="{BB962C8B-B14F-4D97-AF65-F5344CB8AC3E}">
        <p14:creationId xmlns:p14="http://schemas.microsoft.com/office/powerpoint/2010/main" val="1413841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AD74C-C98E-1DA2-38DA-D9E4DC6F6B8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1D99998A-505F-AF23-5D00-C88BA61C93DD}"/>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evaluate() vs. </a:t>
            </a: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batch_evaluate</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a:t>
            </a:r>
            <a:endParaRPr kumimoji="1" lang="zh-TW" altLang="en-US" b="1" dirty="0">
              <a:latin typeface="Helvetica Neue" panose="02000503000000020004" pitchFamily="2" charset="0"/>
              <a:cs typeface="Helvetica Neue" panose="02000503000000020004" pitchFamily="2" charset="0"/>
            </a:endParaRPr>
          </a:p>
        </p:txBody>
      </p:sp>
      <p:pic>
        <p:nvPicPr>
          <p:cNvPr id="3" name="圖片 2">
            <a:extLst>
              <a:ext uri="{FF2B5EF4-FFF2-40B4-BE49-F238E27FC236}">
                <a16:creationId xmlns:a16="http://schemas.microsoft.com/office/drawing/2014/main" id="{88C91F9F-EE9C-F6C7-37B4-52540199792A}"/>
              </a:ext>
            </a:extLst>
          </p:cNvPr>
          <p:cNvPicPr>
            <a:picLocks noChangeAspect="1"/>
          </p:cNvPicPr>
          <p:nvPr/>
        </p:nvPicPr>
        <p:blipFill>
          <a:blip r:embed="rId3"/>
          <a:srcRect t="11266"/>
          <a:stretch/>
        </p:blipFill>
        <p:spPr>
          <a:xfrm>
            <a:off x="481160" y="2349231"/>
            <a:ext cx="11229680" cy="4270536"/>
          </a:xfrm>
          <a:prstGeom prst="rect">
            <a:avLst/>
          </a:prstGeom>
        </p:spPr>
      </p:pic>
      <p:sp>
        <p:nvSpPr>
          <p:cNvPr id="4" name="投影片編號版面配置區 3">
            <a:extLst>
              <a:ext uri="{FF2B5EF4-FFF2-40B4-BE49-F238E27FC236}">
                <a16:creationId xmlns:a16="http://schemas.microsoft.com/office/drawing/2014/main" id="{273C40BA-F35E-7AED-F929-6801E1264940}"/>
              </a:ext>
            </a:extLst>
          </p:cNvPr>
          <p:cNvSpPr>
            <a:spLocks noGrp="1"/>
          </p:cNvSpPr>
          <p:nvPr>
            <p:ph type="sldNum" sz="quarter" idx="12"/>
          </p:nvPr>
        </p:nvSpPr>
        <p:spPr/>
        <p:txBody>
          <a:bodyPr/>
          <a:lstStyle/>
          <a:p>
            <a:fld id="{CAFF4EFA-4C8F-9641-85B7-1744568BBCAB}" type="slidenum">
              <a:rPr kumimoji="1" lang="zh-TW" altLang="en-US" smtClean="0"/>
              <a:t>8</a:t>
            </a:fld>
            <a:endParaRPr kumimoji="1" lang="zh-TW" altLang="en-US"/>
          </a:p>
        </p:txBody>
      </p:sp>
      <p:sp>
        <p:nvSpPr>
          <p:cNvPr id="6" name="內容版面配置區 2">
            <a:extLst>
              <a:ext uri="{FF2B5EF4-FFF2-40B4-BE49-F238E27FC236}">
                <a16:creationId xmlns:a16="http://schemas.microsoft.com/office/drawing/2014/main" id="{CEF168BD-3DA1-3ACA-CF06-395255D341F9}"/>
              </a:ext>
            </a:extLst>
          </p:cNvPr>
          <p:cNvSpPr>
            <a:spLocks noGrp="1"/>
          </p:cNvSpPr>
          <p:nvPr>
            <p:ph idx="1"/>
          </p:nvPr>
        </p:nvSpPr>
        <p:spPr>
          <a:xfrm>
            <a:off x="219796" y="1511755"/>
            <a:ext cx="11752408" cy="2525256"/>
          </a:xfrm>
        </p:spPr>
        <p:txBody>
          <a:bodyPr>
            <a:normAutofit/>
          </a:bodyPr>
          <a:lstStyle/>
          <a:p>
            <a:r>
              <a:rPr kumimoji="1" lang="en-US" altLang="zh-TW" dirty="0">
                <a:latin typeface="Helvetica Neue" panose="02000503000000020004" pitchFamily="2" charset="0"/>
                <a:cs typeface="Helvetica Neue" panose="02000503000000020004" pitchFamily="2" charset="0"/>
              </a:rPr>
              <a:t>Test number of generations (1k~10k) under different evaluate() methods</a:t>
            </a:r>
          </a:p>
        </p:txBody>
      </p:sp>
    </p:spTree>
    <p:extLst>
      <p:ext uri="{BB962C8B-B14F-4D97-AF65-F5344CB8AC3E}">
        <p14:creationId xmlns:p14="http://schemas.microsoft.com/office/powerpoint/2010/main" val="2386811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C5DF1-41A7-C5DE-08D6-BDC104F215C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065762BC-25D4-87C5-28B1-A7B9477D3E8E}"/>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Use Case Example</a:t>
            </a:r>
            <a:endParaRPr kumimoji="1" lang="zh-TW" altLang="en-US" b="1" dirty="0">
              <a:latin typeface="Helvetica Neue" panose="02000503000000020004" pitchFamily="2" charset="0"/>
              <a:cs typeface="Helvetica Neue" panose="02000503000000020004" pitchFamily="2" charset="0"/>
            </a:endParaRPr>
          </a:p>
        </p:txBody>
      </p:sp>
      <p:pic>
        <p:nvPicPr>
          <p:cNvPr id="10242" name="Picture 2">
            <a:extLst>
              <a:ext uri="{FF2B5EF4-FFF2-40B4-BE49-F238E27FC236}">
                <a16:creationId xmlns:a16="http://schemas.microsoft.com/office/drawing/2014/main" id="{69E33F05-237F-DFDC-890C-161E7D3733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507" r="5815"/>
          <a:stretch/>
        </p:blipFill>
        <p:spPr bwMode="auto">
          <a:xfrm>
            <a:off x="232588" y="3147661"/>
            <a:ext cx="4375230" cy="357320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mc:Choice xmlns:a14="http://schemas.microsoft.com/office/drawing/2010/main" Requires="a14">
          <p:sp>
            <p:nvSpPr>
              <p:cNvPr id="4" name="文字方塊 3">
                <a:extLst>
                  <a:ext uri="{FF2B5EF4-FFF2-40B4-BE49-F238E27FC236}">
                    <a16:creationId xmlns:a16="http://schemas.microsoft.com/office/drawing/2014/main" id="{0976D6E3-68BB-DCF9-E8D8-C7181206E29A}"/>
                  </a:ext>
                </a:extLst>
              </p:cNvPr>
              <p:cNvSpPr txBox="1"/>
              <p:nvPr/>
            </p:nvSpPr>
            <p:spPr>
              <a:xfrm>
                <a:off x="3495553" y="3275111"/>
                <a:ext cx="2243819"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kumimoji="1" lang="en-US" altLang="zh-TW" sz="2000" b="0" i="1" smtClean="0">
                          <a:latin typeface="Cambria Math" panose="02040503050406030204" pitchFamily="18" charset="0"/>
                        </a:rPr>
                        <m:t>𝑓</m:t>
                      </m:r>
                      <m:d>
                        <m:dPr>
                          <m:ctrlPr>
                            <a:rPr kumimoji="1" lang="en-US" altLang="zh-TW" sz="2000" b="0" i="1" smtClean="0">
                              <a:latin typeface="Cambria Math" panose="02040503050406030204" pitchFamily="18" charset="0"/>
                            </a:rPr>
                          </m:ctrlPr>
                        </m:dPr>
                        <m:e>
                          <m:sSup>
                            <m:sSupPr>
                              <m:ctrlPr>
                                <a:rPr kumimoji="1" lang="en-US" altLang="zh-TW" sz="2000" b="0" i="1" smtClean="0">
                                  <a:latin typeface="Cambria Math" panose="02040503050406030204" pitchFamily="18" charset="0"/>
                                </a:rPr>
                              </m:ctrlPr>
                            </m:sSupPr>
                            <m:e>
                              <m:r>
                                <a:rPr kumimoji="1" lang="en-US" altLang="zh-TW" sz="2000" b="0" i="1" smtClean="0">
                                  <a:latin typeface="Cambria Math" panose="02040503050406030204" pitchFamily="18" charset="0"/>
                                </a:rPr>
                                <m:t>𝑥</m:t>
                              </m:r>
                            </m:e>
                            <m:sup>
                              <m:r>
                                <a:rPr kumimoji="1" lang="en-US" altLang="zh-TW" sz="2000" b="0" i="1" smtClean="0">
                                  <a:latin typeface="Cambria Math" panose="02040503050406030204" pitchFamily="18" charset="0"/>
                                </a:rPr>
                                <m:t>∗</m:t>
                              </m:r>
                            </m:sup>
                          </m:sSup>
                        </m:e>
                      </m:d>
                      <m:r>
                        <a:rPr kumimoji="1" lang="en-US" altLang="zh-TW" sz="2000" b="0" i="1" smtClean="0">
                          <a:latin typeface="Cambria Math" panose="02040503050406030204" pitchFamily="18" charset="0"/>
                        </a:rPr>
                        <m:t>=−186.7309</m:t>
                      </m:r>
                    </m:oMath>
                  </m:oMathPara>
                </a14:m>
                <a:endParaRPr kumimoji="1" lang="zh-TW" altLang="en-US" sz="2000" dirty="0"/>
              </a:p>
            </p:txBody>
          </p:sp>
        </mc:Choice>
        <mc:Fallback>
          <p:sp>
            <p:nvSpPr>
              <p:cNvPr id="4" name="文字方塊 3">
                <a:extLst>
                  <a:ext uri="{FF2B5EF4-FFF2-40B4-BE49-F238E27FC236}">
                    <a16:creationId xmlns:a16="http://schemas.microsoft.com/office/drawing/2014/main" id="{0976D6E3-68BB-DCF9-E8D8-C7181206E29A}"/>
                  </a:ext>
                </a:extLst>
              </p:cNvPr>
              <p:cNvSpPr txBox="1">
                <a:spLocks noRot="1" noChangeAspect="1" noMove="1" noResize="1" noEditPoints="1" noAdjustHandles="1" noChangeArrowheads="1" noChangeShapeType="1" noTextEdit="1"/>
              </p:cNvSpPr>
              <p:nvPr/>
            </p:nvSpPr>
            <p:spPr>
              <a:xfrm>
                <a:off x="3495553" y="3275111"/>
                <a:ext cx="2243819" cy="307777"/>
              </a:xfrm>
              <a:prstGeom prst="rect">
                <a:avLst/>
              </a:prstGeom>
              <a:blipFill>
                <a:blip r:embed="rId4"/>
                <a:stretch>
                  <a:fillRect l="-3955" r="-2260" b="-2692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5" name="文字方塊 4">
                <a:extLst>
                  <a:ext uri="{FF2B5EF4-FFF2-40B4-BE49-F238E27FC236}">
                    <a16:creationId xmlns:a16="http://schemas.microsoft.com/office/drawing/2014/main" id="{CBEC6C47-2374-4011-E25B-1CA7BE65D7FF}"/>
                  </a:ext>
                </a:extLst>
              </p:cNvPr>
              <p:cNvSpPr txBox="1"/>
              <p:nvPr/>
            </p:nvSpPr>
            <p:spPr>
              <a:xfrm>
                <a:off x="1361954" y="1579333"/>
                <a:ext cx="2793357" cy="1200329"/>
              </a:xfrm>
              <a:prstGeom prst="rect">
                <a:avLst/>
              </a:prstGeom>
              <a:noFill/>
            </p:spPr>
            <p:txBody>
              <a:bodyPr wrap="square" rtlCol="0">
                <a:spAutoFit/>
              </a:bodyPr>
              <a:lstStyle/>
              <a:p>
                <a:r>
                  <a:rPr kumimoji="1" lang="en-US" altLang="zh-TW" sz="2400" dirty="0">
                    <a:latin typeface="Helvetica Neue" panose="02000503000000020004" pitchFamily="2" charset="0"/>
                    <a:cs typeface="Helvetica Neue" panose="02000503000000020004" pitchFamily="2" charset="0"/>
                  </a:rPr>
                  <a:t>Shubert Function</a:t>
                </a:r>
              </a:p>
              <a:p>
                <a:r>
                  <a:rPr kumimoji="1" lang="en-US" altLang="zh-TW" sz="2400" dirty="0">
                    <a:latin typeface="Helvetica Neue" panose="02000503000000020004" pitchFamily="2" charset="0"/>
                    <a:cs typeface="Helvetica Neue" panose="02000503000000020004" pitchFamily="2" charset="0"/>
                  </a:rPr>
                  <a:t>individual = </a:t>
                </a:r>
                <a14:m>
                  <m:oMath xmlns:m="http://schemas.openxmlformats.org/officeDocument/2006/math">
                    <m:r>
                      <a:rPr kumimoji="1" lang="en-US" altLang="zh-TW" sz="2400" b="0" i="1" smtClean="0">
                        <a:latin typeface="Cambria Math" panose="02040503050406030204" pitchFamily="18" charset="0"/>
                        <a:cs typeface="Helvetica Neue" panose="02000503000000020004" pitchFamily="2" charset="0"/>
                      </a:rPr>
                      <m:t>[</m:t>
                    </m:r>
                    <m:r>
                      <a:rPr kumimoji="1" lang="en-US" altLang="zh-TW" sz="2400" b="0" i="1" smtClean="0">
                        <a:latin typeface="Cambria Math" panose="02040503050406030204" pitchFamily="18" charset="0"/>
                        <a:cs typeface="Helvetica Neue" panose="02000503000000020004" pitchFamily="2" charset="0"/>
                      </a:rPr>
                      <m:t>𝑥</m:t>
                    </m:r>
                    <m:r>
                      <a:rPr kumimoji="1" lang="en-US" altLang="zh-TW" sz="2400" b="0" i="1" smtClean="0">
                        <a:latin typeface="Cambria Math" panose="02040503050406030204" pitchFamily="18" charset="0"/>
                        <a:cs typeface="Helvetica Neue" panose="02000503000000020004" pitchFamily="2" charset="0"/>
                      </a:rPr>
                      <m:t>, </m:t>
                    </m:r>
                    <m:r>
                      <a:rPr kumimoji="1" lang="en-US" altLang="zh-TW" sz="2400" b="0" i="1" smtClean="0">
                        <a:latin typeface="Cambria Math" panose="02040503050406030204" pitchFamily="18" charset="0"/>
                        <a:cs typeface="Helvetica Neue" panose="02000503000000020004" pitchFamily="2" charset="0"/>
                      </a:rPr>
                      <m:t>𝑦</m:t>
                    </m:r>
                    <m:r>
                      <a:rPr kumimoji="1" lang="en-US" altLang="zh-TW" sz="2400" b="0" i="1" smtClean="0">
                        <a:latin typeface="Cambria Math" panose="02040503050406030204" pitchFamily="18" charset="0"/>
                        <a:cs typeface="Helvetica Neue" panose="02000503000000020004" pitchFamily="2" charset="0"/>
                      </a:rPr>
                      <m:t>]</m:t>
                    </m:r>
                  </m:oMath>
                </a14:m>
                <a:endParaRPr kumimoji="1" lang="en-US" altLang="zh-TW" sz="2400" dirty="0">
                  <a:latin typeface="Helvetica Neue" panose="02000503000000020004" pitchFamily="2" charset="0"/>
                  <a:cs typeface="Helvetica Neue" panose="02000503000000020004" pitchFamily="2" charset="0"/>
                </a:endParaRPr>
              </a:p>
              <a:p>
                <a:pPr/>
                <a14:m>
                  <m:oMathPara xmlns:m="http://schemas.openxmlformats.org/officeDocument/2006/math">
                    <m:oMathParaPr>
                      <m:jc m:val="left"/>
                    </m:oMathParaPr>
                    <m:oMath xmlns:m="http://schemas.openxmlformats.org/officeDocument/2006/math">
                      <m:r>
                        <a:rPr kumimoji="1" lang="en-US" altLang="zh-TW" sz="2400" b="0" i="1" smtClean="0">
                          <a:latin typeface="Cambria Math" panose="02040503050406030204" pitchFamily="18" charset="0"/>
                          <a:cs typeface="Helvetica Neue" panose="02000503000000020004" pitchFamily="2" charset="0"/>
                        </a:rPr>
                        <m:t>−2≤</m:t>
                      </m:r>
                      <m:r>
                        <a:rPr kumimoji="1" lang="en-US" altLang="zh-TW" sz="2400" b="0" i="1" smtClean="0">
                          <a:latin typeface="Cambria Math" panose="02040503050406030204" pitchFamily="18" charset="0"/>
                          <a:cs typeface="Helvetica Neue" panose="02000503000000020004" pitchFamily="2" charset="0"/>
                        </a:rPr>
                        <m:t>𝑥</m:t>
                      </m:r>
                      <m:r>
                        <a:rPr kumimoji="1" lang="en-US" altLang="zh-TW" sz="2400" b="0" i="1" smtClean="0">
                          <a:latin typeface="Cambria Math" panose="02040503050406030204" pitchFamily="18" charset="0"/>
                          <a:cs typeface="Helvetica Neue" panose="02000503000000020004" pitchFamily="2" charset="0"/>
                        </a:rPr>
                        <m:t>, </m:t>
                      </m:r>
                      <m:r>
                        <a:rPr kumimoji="1" lang="en-US" altLang="zh-TW" sz="2400" b="0" i="1" smtClean="0">
                          <a:latin typeface="Cambria Math" panose="02040503050406030204" pitchFamily="18" charset="0"/>
                          <a:cs typeface="Helvetica Neue" panose="02000503000000020004" pitchFamily="2" charset="0"/>
                        </a:rPr>
                        <m:t>𝑦</m:t>
                      </m:r>
                      <m:r>
                        <a:rPr kumimoji="1" lang="en-US" altLang="zh-TW" sz="2400" b="0" i="1" smtClean="0">
                          <a:latin typeface="Cambria Math" panose="02040503050406030204" pitchFamily="18" charset="0"/>
                          <a:cs typeface="Helvetica Neue" panose="02000503000000020004" pitchFamily="2" charset="0"/>
                        </a:rPr>
                        <m:t>≤2</m:t>
                      </m:r>
                    </m:oMath>
                  </m:oMathPara>
                </a14:m>
                <a:endParaRPr kumimoji="1" lang="zh-TW" altLang="en-US" sz="2400" dirty="0">
                  <a:latin typeface="Helvetica Neue" panose="02000503000000020004" pitchFamily="2" charset="0"/>
                  <a:cs typeface="Helvetica Neue" panose="02000503000000020004" pitchFamily="2" charset="0"/>
                </a:endParaRPr>
              </a:p>
            </p:txBody>
          </p:sp>
        </mc:Choice>
        <mc:Fallback>
          <p:sp>
            <p:nvSpPr>
              <p:cNvPr id="5" name="文字方塊 4">
                <a:extLst>
                  <a:ext uri="{FF2B5EF4-FFF2-40B4-BE49-F238E27FC236}">
                    <a16:creationId xmlns:a16="http://schemas.microsoft.com/office/drawing/2014/main" id="{CBEC6C47-2374-4011-E25B-1CA7BE65D7FF}"/>
                  </a:ext>
                </a:extLst>
              </p:cNvPr>
              <p:cNvSpPr txBox="1">
                <a:spLocks noRot="1" noChangeAspect="1" noMove="1" noResize="1" noEditPoints="1" noAdjustHandles="1" noChangeArrowheads="1" noChangeShapeType="1" noTextEdit="1"/>
              </p:cNvSpPr>
              <p:nvPr/>
            </p:nvSpPr>
            <p:spPr>
              <a:xfrm>
                <a:off x="1361954" y="1579333"/>
                <a:ext cx="2793357" cy="1200329"/>
              </a:xfrm>
              <a:prstGeom prst="rect">
                <a:avLst/>
              </a:prstGeom>
              <a:blipFill>
                <a:blip r:embed="rId5"/>
                <a:stretch>
                  <a:fillRect l="-3620" t="-4211" b="-4211"/>
                </a:stretch>
              </a:blipFill>
            </p:spPr>
            <p:txBody>
              <a:bodyPr/>
              <a:lstStyle/>
              <a:p>
                <a:r>
                  <a:rPr lang="zh-TW" altLang="en-US">
                    <a:noFill/>
                  </a:rPr>
                  <a:t> </a:t>
                </a:r>
              </a:p>
            </p:txBody>
          </p:sp>
        </mc:Fallback>
      </mc:AlternateContent>
      <p:pic>
        <p:nvPicPr>
          <p:cNvPr id="8" name="圖片 7">
            <a:extLst>
              <a:ext uri="{FF2B5EF4-FFF2-40B4-BE49-F238E27FC236}">
                <a16:creationId xmlns:a16="http://schemas.microsoft.com/office/drawing/2014/main" id="{61B87E7F-018C-C1EF-8CF3-5D24B512594C}"/>
              </a:ext>
            </a:extLst>
          </p:cNvPr>
          <p:cNvPicPr>
            <a:picLocks noChangeAspect="1"/>
          </p:cNvPicPr>
          <p:nvPr/>
        </p:nvPicPr>
        <p:blipFill>
          <a:blip r:embed="rId6"/>
          <a:stretch>
            <a:fillRect/>
          </a:stretch>
        </p:blipFill>
        <p:spPr>
          <a:xfrm>
            <a:off x="5720083" y="1456926"/>
            <a:ext cx="6643960" cy="5136264"/>
          </a:xfrm>
          <a:prstGeom prst="rect">
            <a:avLst/>
          </a:prstGeom>
        </p:spPr>
      </p:pic>
      <p:sp>
        <p:nvSpPr>
          <p:cNvPr id="12" name="矩形 11">
            <a:extLst>
              <a:ext uri="{FF2B5EF4-FFF2-40B4-BE49-F238E27FC236}">
                <a16:creationId xmlns:a16="http://schemas.microsoft.com/office/drawing/2014/main" id="{2FCD60B6-67E2-E930-A245-D5A368CD774B}"/>
              </a:ext>
            </a:extLst>
          </p:cNvPr>
          <p:cNvSpPr/>
          <p:nvPr/>
        </p:nvSpPr>
        <p:spPr>
          <a:xfrm>
            <a:off x="6096000" y="5162309"/>
            <a:ext cx="686765" cy="21991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3" name="矩形 12">
            <a:extLst>
              <a:ext uri="{FF2B5EF4-FFF2-40B4-BE49-F238E27FC236}">
                <a16:creationId xmlns:a16="http://schemas.microsoft.com/office/drawing/2014/main" id="{46B4B2B9-05A4-BF86-570E-317CB4A99BAC}"/>
              </a:ext>
            </a:extLst>
          </p:cNvPr>
          <p:cNvSpPr/>
          <p:nvPr/>
        </p:nvSpPr>
        <p:spPr>
          <a:xfrm>
            <a:off x="8216097" y="5509549"/>
            <a:ext cx="1761280" cy="23142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sp>
        <p:nvSpPr>
          <p:cNvPr id="14" name="投影片編號版面配置區 13">
            <a:extLst>
              <a:ext uri="{FF2B5EF4-FFF2-40B4-BE49-F238E27FC236}">
                <a16:creationId xmlns:a16="http://schemas.microsoft.com/office/drawing/2014/main" id="{FF70E9E6-F419-F20B-E871-E7B5B52485AD}"/>
              </a:ext>
            </a:extLst>
          </p:cNvPr>
          <p:cNvSpPr>
            <a:spLocks noGrp="1"/>
          </p:cNvSpPr>
          <p:nvPr>
            <p:ph type="sldNum" sz="quarter" idx="12"/>
          </p:nvPr>
        </p:nvSpPr>
        <p:spPr/>
        <p:txBody>
          <a:bodyPr/>
          <a:lstStyle/>
          <a:p>
            <a:fld id="{CAFF4EFA-4C8F-9641-85B7-1744568BBCAB}" type="slidenum">
              <a:rPr kumimoji="1" lang="zh-TW" altLang="en-US" smtClean="0"/>
              <a:t>9</a:t>
            </a:fld>
            <a:endParaRPr kumimoji="1" lang="zh-TW" altLang="en-US"/>
          </a:p>
        </p:txBody>
      </p:sp>
    </p:spTree>
    <p:extLst>
      <p:ext uri="{BB962C8B-B14F-4D97-AF65-F5344CB8AC3E}">
        <p14:creationId xmlns:p14="http://schemas.microsoft.com/office/powerpoint/2010/main" val="13351260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07A55-690A-2115-A408-6CCE66153B92}"/>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3D6474-CA46-EF13-38E1-9B19E6C5E442}"/>
              </a:ext>
            </a:extLst>
          </p:cNvPr>
          <p:cNvSpPr>
            <a:spLocks noGrp="1"/>
          </p:cNvSpPr>
          <p:nvPr>
            <p:ph type="title"/>
          </p:nvPr>
        </p:nvSpPr>
        <p:spPr/>
        <p:txBody>
          <a:bodyPr/>
          <a:lstStyle/>
          <a:p>
            <a:pPr algn="ct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FastGA</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 vs. </a:t>
            </a:r>
            <a:r>
              <a:rPr kumimoji="1" lang="en-US" altLang="zh-TW" b="1" dirty="0" err="1">
                <a:latin typeface="Helvetica Neue" panose="02000503000000020004" pitchFamily="2" charset="0"/>
                <a:ea typeface="Helvetica Neue" panose="02000503000000020004" pitchFamily="2" charset="0"/>
                <a:cs typeface="Helvetica Neue" panose="02000503000000020004" pitchFamily="2" charset="0"/>
              </a:rPr>
              <a:t>PyGAD</a:t>
            </a: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 vs. pure Python</a:t>
            </a:r>
            <a:endParaRPr kumimoji="1" lang="zh-TW" altLang="en-US" b="1" dirty="0">
              <a:latin typeface="Helvetica Neue" panose="02000503000000020004" pitchFamily="2" charset="0"/>
              <a:cs typeface="Helvetica Neue" panose="02000503000000020004" pitchFamily="2" charset="0"/>
            </a:endParaRPr>
          </a:p>
        </p:txBody>
      </p:sp>
      <p:pic>
        <p:nvPicPr>
          <p:cNvPr id="3" name="圖片 2">
            <a:extLst>
              <a:ext uri="{FF2B5EF4-FFF2-40B4-BE49-F238E27FC236}">
                <a16:creationId xmlns:a16="http://schemas.microsoft.com/office/drawing/2014/main" id="{57262822-4370-EABA-8A93-41EF85D24AA1}"/>
              </a:ext>
            </a:extLst>
          </p:cNvPr>
          <p:cNvPicPr>
            <a:picLocks noChangeAspect="1"/>
          </p:cNvPicPr>
          <p:nvPr/>
        </p:nvPicPr>
        <p:blipFill>
          <a:blip r:embed="rId3"/>
          <a:srcRect t="8662"/>
          <a:stretch/>
        </p:blipFill>
        <p:spPr>
          <a:xfrm>
            <a:off x="75532" y="2232148"/>
            <a:ext cx="12040936" cy="4124202"/>
          </a:xfrm>
          <a:prstGeom prst="rect">
            <a:avLst/>
          </a:prstGeom>
        </p:spPr>
      </p:pic>
      <p:sp>
        <p:nvSpPr>
          <p:cNvPr id="6" name="投影片編號版面配置區 5">
            <a:extLst>
              <a:ext uri="{FF2B5EF4-FFF2-40B4-BE49-F238E27FC236}">
                <a16:creationId xmlns:a16="http://schemas.microsoft.com/office/drawing/2014/main" id="{508A0B58-77D6-34CA-4D51-EAF3510396CA}"/>
              </a:ext>
            </a:extLst>
          </p:cNvPr>
          <p:cNvSpPr>
            <a:spLocks noGrp="1"/>
          </p:cNvSpPr>
          <p:nvPr>
            <p:ph type="sldNum" sz="quarter" idx="12"/>
          </p:nvPr>
        </p:nvSpPr>
        <p:spPr/>
        <p:txBody>
          <a:bodyPr/>
          <a:lstStyle/>
          <a:p>
            <a:fld id="{CAFF4EFA-4C8F-9641-85B7-1744568BBCAB}" type="slidenum">
              <a:rPr kumimoji="1" lang="zh-TW" altLang="en-US" smtClean="0"/>
              <a:t>10</a:t>
            </a:fld>
            <a:endParaRPr kumimoji="1" lang="zh-TW" altLang="en-US"/>
          </a:p>
        </p:txBody>
      </p:sp>
      <p:sp>
        <p:nvSpPr>
          <p:cNvPr id="9" name="文字方塊 8">
            <a:extLst>
              <a:ext uri="{FF2B5EF4-FFF2-40B4-BE49-F238E27FC236}">
                <a16:creationId xmlns:a16="http://schemas.microsoft.com/office/drawing/2014/main" id="{41F025AB-4022-D634-36D2-8B214F0D6D91}"/>
              </a:ext>
            </a:extLst>
          </p:cNvPr>
          <p:cNvSpPr txBox="1"/>
          <p:nvPr/>
        </p:nvSpPr>
        <p:spPr>
          <a:xfrm>
            <a:off x="6144870" y="118668"/>
            <a:ext cx="3351836" cy="523220"/>
          </a:xfrm>
          <a:prstGeom prst="rect">
            <a:avLst/>
          </a:prstGeom>
          <a:noFill/>
        </p:spPr>
        <p:txBody>
          <a:bodyPr wrap="square">
            <a:spAutoFit/>
          </a:bodyPr>
          <a:lstStyle/>
          <a:p>
            <a:r>
              <a:rPr lang="zh-TW" altLang="en-US" sz="1400" dirty="0">
                <a:latin typeface="Helvetica Neue" panose="02000503000000020004" pitchFamily="2" charset="0"/>
                <a:cs typeface="Helvetica Neue" panose="02000503000000020004" pitchFamily="2" charset="0"/>
              </a:rPr>
              <a:t>PyGAD is an open-source Python library for building the genetic algorithm</a:t>
            </a:r>
          </a:p>
        </p:txBody>
      </p:sp>
      <p:cxnSp>
        <p:nvCxnSpPr>
          <p:cNvPr id="11" name="直線箭頭接點 10">
            <a:extLst>
              <a:ext uri="{FF2B5EF4-FFF2-40B4-BE49-F238E27FC236}">
                <a16:creationId xmlns:a16="http://schemas.microsoft.com/office/drawing/2014/main" id="{4133094F-5777-5BA4-24CA-5DA7D60CD93F}"/>
              </a:ext>
            </a:extLst>
          </p:cNvPr>
          <p:cNvCxnSpPr>
            <a:cxnSpLocks/>
            <a:endCxn id="9" idx="1"/>
          </p:cNvCxnSpPr>
          <p:nvPr/>
        </p:nvCxnSpPr>
        <p:spPr>
          <a:xfrm flipV="1">
            <a:off x="5511800" y="380278"/>
            <a:ext cx="633070" cy="320774"/>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2" name="橢圓 11">
            <a:extLst>
              <a:ext uri="{FF2B5EF4-FFF2-40B4-BE49-F238E27FC236}">
                <a16:creationId xmlns:a16="http://schemas.microsoft.com/office/drawing/2014/main" id="{519424C4-CF55-B100-97FF-B05C7970D924}"/>
              </a:ext>
            </a:extLst>
          </p:cNvPr>
          <p:cNvSpPr/>
          <p:nvPr/>
        </p:nvSpPr>
        <p:spPr>
          <a:xfrm>
            <a:off x="5639283" y="5215465"/>
            <a:ext cx="194250" cy="20320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TW" altLang="en-US"/>
          </a:p>
        </p:txBody>
      </p:sp>
      <p:cxnSp>
        <p:nvCxnSpPr>
          <p:cNvPr id="13" name="直線箭頭接點 12">
            <a:extLst>
              <a:ext uri="{FF2B5EF4-FFF2-40B4-BE49-F238E27FC236}">
                <a16:creationId xmlns:a16="http://schemas.microsoft.com/office/drawing/2014/main" id="{295D3174-4E75-ECCC-6A77-F30E712AFF75}"/>
              </a:ext>
            </a:extLst>
          </p:cNvPr>
          <p:cNvCxnSpPr>
            <a:cxnSpLocks/>
          </p:cNvCxnSpPr>
          <p:nvPr/>
        </p:nvCxnSpPr>
        <p:spPr>
          <a:xfrm>
            <a:off x="5779224" y="5414714"/>
            <a:ext cx="409909" cy="799819"/>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5" name="文字方塊 14">
            <a:extLst>
              <a:ext uri="{FF2B5EF4-FFF2-40B4-BE49-F238E27FC236}">
                <a16:creationId xmlns:a16="http://schemas.microsoft.com/office/drawing/2014/main" id="{ACC110ED-4D29-63FB-B621-F7D206545468}"/>
              </a:ext>
            </a:extLst>
          </p:cNvPr>
          <p:cNvSpPr txBox="1"/>
          <p:nvPr/>
        </p:nvSpPr>
        <p:spPr>
          <a:xfrm>
            <a:off x="5370653" y="6214533"/>
            <a:ext cx="1548435" cy="307777"/>
          </a:xfrm>
          <a:prstGeom prst="rect">
            <a:avLst/>
          </a:prstGeom>
          <a:noFill/>
        </p:spPr>
        <p:txBody>
          <a:bodyPr wrap="square">
            <a:spAutoFit/>
          </a:bodyPr>
          <a:lstStyle/>
          <a:p>
            <a:r>
              <a:rPr lang="en-US" altLang="zh-TW" sz="1400" dirty="0" err="1">
                <a:latin typeface="Helvetica Neue" panose="02000503000000020004" pitchFamily="2" charset="0"/>
                <a:cs typeface="Helvetica Neue" panose="02000503000000020004" pitchFamily="2" charset="0"/>
              </a:rPr>
              <a:t>FastGA</a:t>
            </a:r>
            <a:r>
              <a:rPr lang="zh-TW" altLang="en-US" sz="1400" dirty="0">
                <a:latin typeface="Helvetica Neue" panose="02000503000000020004" pitchFamily="2" charset="0"/>
                <a:cs typeface="Helvetica Neue" panose="02000503000000020004" pitchFamily="2" charset="0"/>
              </a:rPr>
              <a:t> </a:t>
            </a:r>
            <a:r>
              <a:rPr lang="en-US" altLang="zh-TW" sz="1400" dirty="0">
                <a:latin typeface="Helvetica Neue" panose="02000503000000020004" pitchFamily="2" charset="0"/>
                <a:cs typeface="Helvetica Neue" panose="02000503000000020004" pitchFamily="2" charset="0"/>
              </a:rPr>
              <a:t>is fastest </a:t>
            </a:r>
            <a:endParaRPr lang="zh-TW" altLang="en-US" sz="1400" dirty="0">
              <a:latin typeface="Helvetica Neue" panose="02000503000000020004" pitchFamily="2" charset="0"/>
              <a:cs typeface="Helvetica Neue" panose="02000503000000020004" pitchFamily="2" charset="0"/>
            </a:endParaRPr>
          </a:p>
        </p:txBody>
      </p:sp>
      <p:sp>
        <p:nvSpPr>
          <p:cNvPr id="16" name="內容版面配置區 2">
            <a:extLst>
              <a:ext uri="{FF2B5EF4-FFF2-40B4-BE49-F238E27FC236}">
                <a16:creationId xmlns:a16="http://schemas.microsoft.com/office/drawing/2014/main" id="{97D93501-E773-03C5-984B-50260CC30C4F}"/>
              </a:ext>
            </a:extLst>
          </p:cNvPr>
          <p:cNvSpPr>
            <a:spLocks noGrp="1"/>
          </p:cNvSpPr>
          <p:nvPr>
            <p:ph idx="1"/>
          </p:nvPr>
        </p:nvSpPr>
        <p:spPr>
          <a:xfrm>
            <a:off x="499364" y="1496919"/>
            <a:ext cx="11379537" cy="2525256"/>
          </a:xfrm>
        </p:spPr>
        <p:txBody>
          <a:bodyPr>
            <a:normAutofit/>
          </a:bodyPr>
          <a:lstStyle/>
          <a:p>
            <a:r>
              <a:rPr kumimoji="1" lang="en-US" altLang="zh-TW" dirty="0">
                <a:latin typeface="Helvetica Neue" panose="02000503000000020004" pitchFamily="2" charset="0"/>
                <a:cs typeface="Helvetica Neue" panose="02000503000000020004" pitchFamily="2" charset="0"/>
              </a:rPr>
              <a:t>Test number of generations (1k~10k) under different implementation</a:t>
            </a:r>
          </a:p>
        </p:txBody>
      </p:sp>
    </p:spTree>
    <p:extLst>
      <p:ext uri="{BB962C8B-B14F-4D97-AF65-F5344CB8AC3E}">
        <p14:creationId xmlns:p14="http://schemas.microsoft.com/office/powerpoint/2010/main" val="10549069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8D6A5442-87F8-F8A9-78E4-0AEF3A067EAB}"/>
              </a:ext>
            </a:extLst>
          </p:cNvPr>
          <p:cNvSpPr>
            <a:spLocks noGrp="1"/>
          </p:cNvSpPr>
          <p:nvPr>
            <p:ph type="title"/>
          </p:nvPr>
        </p:nvSpPr>
        <p:spPr/>
        <p:txBody>
          <a:bodyPr/>
          <a:lstStyle/>
          <a:p>
            <a:pPr algn="ctr"/>
            <a:r>
              <a:rPr kumimoji="1" lang="en-US" altLang="zh-TW" b="1" dirty="0">
                <a:latin typeface="Helvetica Neue" panose="02000503000000020004" pitchFamily="2" charset="0"/>
                <a:ea typeface="Helvetica Neue" panose="02000503000000020004" pitchFamily="2" charset="0"/>
                <a:cs typeface="Helvetica Neue" panose="02000503000000020004" pitchFamily="2" charset="0"/>
              </a:rPr>
              <a:t>References</a:t>
            </a:r>
            <a:endParaRPr kumimoji="1" lang="zh-TW" altLang="en-US" dirty="0"/>
          </a:p>
        </p:txBody>
      </p:sp>
      <p:sp>
        <p:nvSpPr>
          <p:cNvPr id="4" name="內容版面配置區 2">
            <a:extLst>
              <a:ext uri="{FF2B5EF4-FFF2-40B4-BE49-F238E27FC236}">
                <a16:creationId xmlns:a16="http://schemas.microsoft.com/office/drawing/2014/main" id="{81A65794-63C5-EB18-CD33-CFB34030A156}"/>
              </a:ext>
            </a:extLst>
          </p:cNvPr>
          <p:cNvSpPr>
            <a:spLocks noGrp="1"/>
          </p:cNvSpPr>
          <p:nvPr>
            <p:ph idx="1"/>
          </p:nvPr>
        </p:nvSpPr>
        <p:spPr>
          <a:xfrm>
            <a:off x="574384" y="1443789"/>
            <a:ext cx="11043232" cy="5049086"/>
          </a:xfrm>
        </p:spPr>
        <p:txBody>
          <a:bodyPr>
            <a:normAutofit/>
          </a:bodyPr>
          <a:lstStyle/>
          <a:p>
            <a:r>
              <a:rPr kumimoji="1" lang="en" altLang="zh-TW" sz="2400" dirty="0">
                <a:latin typeface="Helvetica Neue" panose="02000503000000020004" pitchFamily="2" charset="0"/>
                <a:cs typeface="Helvetica Neue" panose="02000503000000020004" pitchFamily="2" charset="0"/>
              </a:rPr>
              <a:t>What is a Genetic Algorithm?</a:t>
            </a:r>
            <a:r>
              <a:rPr kumimoji="1" lang="en-US" altLang="zh-TW" sz="2400" dirty="0">
                <a:latin typeface="Helvetica Neue" panose="02000503000000020004" pitchFamily="2" charset="0"/>
                <a:cs typeface="Helvetica Neue" panose="02000503000000020004" pitchFamily="2" charset="0"/>
              </a:rPr>
              <a:t> </a:t>
            </a:r>
            <a:r>
              <a:rPr kumimoji="1" lang="en-US" altLang="zh-TW" sz="2400" dirty="0">
                <a:latin typeface="Helvetica Neue" panose="02000503000000020004" pitchFamily="2" charset="0"/>
                <a:cs typeface="Helvetica Neue" panose="02000503000000020004" pitchFamily="2" charset="0"/>
                <a:hlinkClick r:id="rId3"/>
              </a:rPr>
              <a:t>https://www.generativedesign.org/02-deeper-dive/02-04_genetic-algorithms/02-04-01_what-is-a-genetic-algorithm</a:t>
            </a:r>
            <a:endParaRPr kumimoji="1" lang="en-US" altLang="zh-TW" sz="2400" dirty="0">
              <a:latin typeface="Helvetica Neue" panose="02000503000000020004" pitchFamily="2" charset="0"/>
              <a:cs typeface="Helvetica Neue" panose="02000503000000020004" pitchFamily="2" charset="0"/>
            </a:endParaRPr>
          </a:p>
          <a:p>
            <a:r>
              <a:rPr kumimoji="1" lang="en-US" altLang="zh-TW" sz="2400" dirty="0">
                <a:latin typeface="Helvetica Neue" panose="02000503000000020004" pitchFamily="2" charset="0"/>
                <a:cs typeface="Helvetica Neue" panose="02000503000000020004" pitchFamily="2" charset="0"/>
              </a:rPr>
              <a:t>Genetic Algorithm Wikipedia </a:t>
            </a:r>
            <a:r>
              <a:rPr kumimoji="1" lang="en-US" altLang="zh-TW" sz="2400" dirty="0">
                <a:latin typeface="Helvetica Neue" panose="02000503000000020004" pitchFamily="2" charset="0"/>
                <a:cs typeface="Helvetica Neue" panose="02000503000000020004" pitchFamily="2" charset="0"/>
                <a:hlinkClick r:id="rId4"/>
              </a:rPr>
              <a:t>https://en.wikipedia.org/wiki/Genetic_algorithm</a:t>
            </a:r>
            <a:endParaRPr kumimoji="1" lang="en-US" altLang="zh-TW" sz="2400" dirty="0">
              <a:latin typeface="Helvetica Neue" panose="02000503000000020004" pitchFamily="2" charset="0"/>
              <a:cs typeface="Helvetica Neue" panose="02000503000000020004" pitchFamily="2" charset="0"/>
            </a:endParaRPr>
          </a:p>
          <a:p>
            <a:r>
              <a:rPr kumimoji="1" lang="en-US" altLang="zh-TW" sz="2400" dirty="0">
                <a:latin typeface="Helvetica Neue" panose="02000503000000020004" pitchFamily="2" charset="0"/>
                <a:cs typeface="Helvetica Neue" panose="02000503000000020004" pitchFamily="2" charset="0"/>
              </a:rPr>
              <a:t>Shubert Function </a:t>
            </a:r>
            <a:r>
              <a:rPr kumimoji="1" lang="en-US" altLang="zh-TW" sz="2400" dirty="0">
                <a:latin typeface="Helvetica Neue" panose="02000503000000020004" pitchFamily="2" charset="0"/>
                <a:cs typeface="Helvetica Neue" panose="02000503000000020004" pitchFamily="2" charset="0"/>
                <a:hlinkClick r:id="rId5"/>
              </a:rPr>
              <a:t>https://</a:t>
            </a:r>
            <a:r>
              <a:rPr kumimoji="1" lang="en-US" altLang="zh-TW" sz="2400" dirty="0" err="1">
                <a:latin typeface="Helvetica Neue" panose="02000503000000020004" pitchFamily="2" charset="0"/>
                <a:cs typeface="Helvetica Neue" panose="02000503000000020004" pitchFamily="2" charset="0"/>
                <a:hlinkClick r:id="rId5"/>
              </a:rPr>
              <a:t>www.sfu.ca</a:t>
            </a:r>
            <a:r>
              <a:rPr kumimoji="1" lang="en-US" altLang="zh-TW" sz="2400" dirty="0">
                <a:latin typeface="Helvetica Neue" panose="02000503000000020004" pitchFamily="2" charset="0"/>
                <a:cs typeface="Helvetica Neue" panose="02000503000000020004" pitchFamily="2" charset="0"/>
                <a:hlinkClick r:id="rId5"/>
              </a:rPr>
              <a:t>/~</a:t>
            </a:r>
            <a:r>
              <a:rPr kumimoji="1" lang="en-US" altLang="zh-TW" sz="2400" dirty="0" err="1">
                <a:latin typeface="Helvetica Neue" panose="02000503000000020004" pitchFamily="2" charset="0"/>
                <a:cs typeface="Helvetica Neue" panose="02000503000000020004" pitchFamily="2" charset="0"/>
                <a:hlinkClick r:id="rId5"/>
              </a:rPr>
              <a:t>ssurjano</a:t>
            </a:r>
            <a:r>
              <a:rPr kumimoji="1" lang="en-US" altLang="zh-TW" sz="2400" dirty="0">
                <a:latin typeface="Helvetica Neue" panose="02000503000000020004" pitchFamily="2" charset="0"/>
                <a:cs typeface="Helvetica Neue" panose="02000503000000020004" pitchFamily="2" charset="0"/>
                <a:hlinkClick r:id="rId5"/>
              </a:rPr>
              <a:t>/</a:t>
            </a:r>
            <a:r>
              <a:rPr kumimoji="1" lang="en-US" altLang="zh-TW" sz="2400" dirty="0" err="1">
                <a:latin typeface="Helvetica Neue" panose="02000503000000020004" pitchFamily="2" charset="0"/>
                <a:cs typeface="Helvetica Neue" panose="02000503000000020004" pitchFamily="2" charset="0"/>
                <a:hlinkClick r:id="rId5"/>
              </a:rPr>
              <a:t>shubert.html</a:t>
            </a:r>
            <a:endParaRPr kumimoji="1" lang="en-US" altLang="zh-TW" sz="2400" dirty="0">
              <a:latin typeface="Helvetica Neue" panose="02000503000000020004" pitchFamily="2" charset="0"/>
              <a:cs typeface="Helvetica Neue" panose="02000503000000020004" pitchFamily="2" charset="0"/>
            </a:endParaRPr>
          </a:p>
          <a:p>
            <a:r>
              <a:rPr kumimoji="1" lang="en-US" altLang="zh-TW" sz="2400" dirty="0" err="1">
                <a:latin typeface="Helvetica Neue" panose="02000503000000020004" pitchFamily="2" charset="0"/>
                <a:cs typeface="Helvetica Neue" panose="02000503000000020004" pitchFamily="2" charset="0"/>
              </a:rPr>
              <a:t>PyGAD</a:t>
            </a:r>
            <a:r>
              <a:rPr kumimoji="1" lang="en-US" altLang="zh-TW" sz="2400" dirty="0">
                <a:latin typeface="Helvetica Neue" panose="02000503000000020004" pitchFamily="2" charset="0"/>
                <a:cs typeface="Helvetica Neue" panose="02000503000000020004" pitchFamily="2" charset="0"/>
              </a:rPr>
              <a:t> </a:t>
            </a:r>
            <a:r>
              <a:rPr kumimoji="1" lang="en-US" altLang="zh-TW" sz="2400" dirty="0" err="1">
                <a:latin typeface="Helvetica Neue" panose="02000503000000020004" pitchFamily="2" charset="0"/>
                <a:cs typeface="Helvetica Neue" panose="02000503000000020004" pitchFamily="2" charset="0"/>
              </a:rPr>
              <a:t>Github</a:t>
            </a:r>
            <a:r>
              <a:rPr kumimoji="1" lang="en-US" altLang="zh-TW" sz="2400" dirty="0">
                <a:latin typeface="Helvetica Neue" panose="02000503000000020004" pitchFamily="2" charset="0"/>
                <a:cs typeface="Helvetica Neue" panose="02000503000000020004" pitchFamily="2" charset="0"/>
              </a:rPr>
              <a:t> </a:t>
            </a:r>
            <a:r>
              <a:rPr kumimoji="1" lang="en-US" altLang="zh-TW" sz="2400" dirty="0">
                <a:latin typeface="Helvetica Neue" panose="02000503000000020004" pitchFamily="2" charset="0"/>
                <a:cs typeface="Helvetica Neue" panose="02000503000000020004" pitchFamily="2" charset="0"/>
                <a:hlinkClick r:id="rId6"/>
              </a:rPr>
              <a:t>https://github.com/ahmedfgad/GeneticAlgorithmPython</a:t>
            </a:r>
            <a:endParaRPr kumimoji="1" lang="zh-TW" altLang="en-US" sz="2400" dirty="0">
              <a:latin typeface="Helvetica Neue" panose="02000503000000020004" pitchFamily="2" charset="0"/>
              <a:cs typeface="Helvetica Neue" panose="02000503000000020004" pitchFamily="2" charset="0"/>
            </a:endParaRPr>
          </a:p>
        </p:txBody>
      </p:sp>
      <p:sp>
        <p:nvSpPr>
          <p:cNvPr id="5" name="投影片編號版面配置區 4">
            <a:extLst>
              <a:ext uri="{FF2B5EF4-FFF2-40B4-BE49-F238E27FC236}">
                <a16:creationId xmlns:a16="http://schemas.microsoft.com/office/drawing/2014/main" id="{E509AB5A-6042-199F-CCA8-59D65A57BB5D}"/>
              </a:ext>
            </a:extLst>
          </p:cNvPr>
          <p:cNvSpPr>
            <a:spLocks noGrp="1"/>
          </p:cNvSpPr>
          <p:nvPr>
            <p:ph type="sldNum" sz="quarter" idx="12"/>
          </p:nvPr>
        </p:nvSpPr>
        <p:spPr/>
        <p:txBody>
          <a:bodyPr/>
          <a:lstStyle/>
          <a:p>
            <a:fld id="{CAFF4EFA-4C8F-9641-85B7-1744568BBCAB}" type="slidenum">
              <a:rPr kumimoji="1" lang="zh-TW" altLang="en-US" smtClean="0"/>
              <a:t>11</a:t>
            </a:fld>
            <a:endParaRPr kumimoji="1" lang="zh-TW" altLang="en-US"/>
          </a:p>
        </p:txBody>
      </p:sp>
    </p:spTree>
    <p:extLst>
      <p:ext uri="{BB962C8B-B14F-4D97-AF65-F5344CB8AC3E}">
        <p14:creationId xmlns:p14="http://schemas.microsoft.com/office/powerpoint/2010/main" val="2581578818"/>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3564</TotalTime>
  <Words>2136</Words>
  <Application>Microsoft Macintosh PowerPoint</Application>
  <PresentationFormat>寬螢幕</PresentationFormat>
  <Paragraphs>222</Paragraphs>
  <Slides>11</Slides>
  <Notes>11</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11</vt:i4>
      </vt:variant>
    </vt:vector>
  </HeadingPairs>
  <TitlesOfParts>
    <vt:vector size="19" baseType="lpstr">
      <vt:lpstr>-webkit-standard</vt:lpstr>
      <vt:lpstr>Aptos</vt:lpstr>
      <vt:lpstr>Aptos Display</vt:lpstr>
      <vt:lpstr>Arial</vt:lpstr>
      <vt:lpstr>Cambria Math</vt:lpstr>
      <vt:lpstr>Helvetica Neue</vt:lpstr>
      <vt:lpstr>Menlo</vt:lpstr>
      <vt:lpstr>Office 佈景主題</vt:lpstr>
      <vt:lpstr>FastGA</vt:lpstr>
      <vt:lpstr>Outline</vt:lpstr>
      <vt:lpstr>Genetic Algorithm (GA)</vt:lpstr>
      <vt:lpstr>FastGA</vt:lpstr>
      <vt:lpstr>Project Architecture</vt:lpstr>
      <vt:lpstr>set_fitness_func() &amp; evaluate()</vt:lpstr>
      <vt:lpstr>evaluate() vs. batch_evaluate()</vt:lpstr>
      <vt:lpstr>evaluate() vs. batch_evaluate()</vt:lpstr>
      <vt:lpstr>Use Case Example</vt:lpstr>
      <vt:lpstr>FastGA vs. PyGAD vs. pure Python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林晉宇</dc:creator>
  <cp:lastModifiedBy>林晉宇</cp:lastModifiedBy>
  <cp:revision>71</cp:revision>
  <cp:lastPrinted>2026-06-07T08:18:43Z</cp:lastPrinted>
  <dcterms:created xsi:type="dcterms:W3CDTF">2026-06-04T13:55:29Z</dcterms:created>
  <dcterms:modified xsi:type="dcterms:W3CDTF">2026-06-07T14:25:50Z</dcterms:modified>
</cp:coreProperties>
</file>