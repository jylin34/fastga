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58" r:id="rId5"/>
    <p:sldId id="267" r:id="rId6"/>
    <p:sldId id="264" r:id="rId7"/>
    <p:sldId id="263" r:id="rId8"/>
    <p:sldId id="265" r:id="rId9"/>
    <p:sldId id="266" r:id="rId10"/>
    <p:sldId id="262" r:id="rId11"/>
    <p:sldId id="259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5"/>
    <p:restoredTop sz="94652"/>
  </p:normalViewPr>
  <p:slideViewPr>
    <p:cSldViewPr snapToGrid="0" showGuides="1">
      <p:cViewPr>
        <p:scale>
          <a:sx n="110" d="100"/>
          <a:sy n="110" d="100"/>
        </p:scale>
        <p:origin x="2608" y="23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E0030-6949-EF40-9940-F368196AFDBB}" type="datetimeFigureOut">
              <a:rPr kumimoji="1" lang="zh-TW" altLang="en-US" smtClean="0"/>
              <a:t>2026/6/6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2C0EE-C242-5746-9FAB-0DCCE6A9DD1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88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39172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9995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4862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75BE-5B9A-D9BF-5047-157ECE10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CF278C-BC2E-116E-FB9E-B500E5C48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249979-073B-202D-43C0-6DC2864D3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429F19-53F2-1650-5CF9-C0AD35557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4052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9540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1008-88D2-FF2E-7E43-0ABED4CE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7F888B-C0E7-D276-4E8C-DF8FAAC56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A353F99-87EE-C21C-80BA-7D0F9E681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D806DA-94B1-7FC1-4186-BFD0B5ED6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67437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2C0EE-C242-5746-9FAB-0DCCE6A9DD1F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904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DAAC09-5C78-FD35-1672-2C1DC0963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1D0FCA-299C-E224-43F7-44C36A734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598604-055A-9D30-4FA6-97F2F1F9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AC4670-28F2-212D-717D-B9CF6E60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A6D097-0D08-98B1-43AB-A5DABFFB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514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6D137-9B21-32D9-CE23-9915D2F3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BD6CD8-58DD-916F-9782-D4FDAA57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A0DCDE-975A-B9B6-A369-33F5EB7D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A3F78F-5C3C-9680-2628-E82B8B74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6EBB41-DAE7-9ED2-DA84-58764F10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25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3C855-9615-D018-F863-4044E31F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EA3FCE4-5C2F-A708-745D-8C64114D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07C97F-9E4B-B505-B4F0-C89272F1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045927-CF9E-D9CB-42DE-DF79D7A8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A1F416-4A57-1B5D-821D-FBADD6C8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386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3D6FC-DFD1-54BB-0F30-79256077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7CDF87-B4D3-482B-A4CF-9FD8AE073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564C0E0-8400-20A1-7381-04BA3A344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F8EA9C-936F-57AE-1E67-994DCB33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73ACC4-91C0-04FE-BA85-D7AFDF81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D14F98-165B-46E9-1977-61A587D6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264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F4BF6-3B1D-47BF-417E-B6D3B080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76EB4B-2363-B524-7C83-8D3020A7A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14837A-CDB0-0F04-A6B5-F9F818C00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2484775-A37B-7557-FBF9-286418881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E6CA20F-79C7-6A29-6C5F-1B39BFF51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7E45A56-61CB-D6DE-D016-775CF5FC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FC6DF98-7CDA-FEB5-5E80-3DEC4349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7943B9D-7268-5686-37D1-BB0EB1D0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5388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88DA0E-FD7D-B0C4-4922-D99970CF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87AD248-A778-10FA-6C8C-8FFC299F9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DB3A1F8-BD29-0BC5-F273-E1656AB4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0C9ACA-3705-7371-3BB2-F03C9E1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235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53CF8A-7B5D-D748-F773-5E07C085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EA30ED-0897-E32D-18DF-D198D53D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783953-7CCF-2E47-5564-3159D9E3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72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09563F-AA64-192C-F18B-CCB4E128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477898-2144-A12A-6A5E-005C6A5A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C3C12F-471E-3C98-D8FE-C48405156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996717-8017-E198-9CDD-A7733C02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5B2FE8-C75C-F302-8C61-F9BAD73C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F82BF2-E924-17B4-F870-A9EB2544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950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20EC78-AFCA-A9F5-14B8-966A2C58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8ECF935-6F6C-ADAD-C0FC-F6AF1B7EE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3F7314-D5CC-2DE0-19C6-F1A970D0B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392E74-9BDE-58E2-D7D2-80039DFE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5BC019-0F9A-11EF-3BFB-71102E63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B6A834-1ED3-577F-88B1-05D3C3BC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704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589B25-6799-1F16-4A85-B9CFF1B9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300FC06-EABA-3793-3907-8DC61360A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057820-AB6C-0447-91B3-3C625B79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37BB98-1243-4F6C-BD5A-9AE65FD6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8651B4-B507-60E2-0799-611325E5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2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CD010F4-224C-73F5-07FF-FA74A6F35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98AD5A-23C1-FE35-26F1-84E913152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CFCD9F-1F76-4E11-4099-DC10A54E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20E525-7305-CB37-A046-098903B8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CC33A2-E28E-89C2-08AC-D6EC98F2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1564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D4FA156-B9BA-0ED8-33D5-C8ADAEC4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DEF46E-C3F6-3B39-162E-21C247A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A747D-AF34-D9AC-35B8-5C93447E2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259D5-7655-A241-AFFF-1E9FA848129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31631D-36B3-CD2C-EBBB-76F407905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0D246C-3F96-6205-B970-18A4C9A2A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F4EFA-4C8F-9641-85B7-1744568BBC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109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rativedesign.org/02-deeper-dive/02-04_genetic-algorithms/02-04-01_what-is-a-genetic-algorith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hmedfgad/GeneticAlgorithmPython" TargetMode="External"/><Relationship Id="rId5" Type="http://schemas.openxmlformats.org/officeDocument/2006/relationships/hyperlink" Target="https://www.sfu.ca/~ssurjano/shubert.html" TargetMode="External"/><Relationship Id="rId4" Type="http://schemas.openxmlformats.org/officeDocument/2006/relationships/hyperlink" Target="https://en.wikipedia.org/wiki/Genetic_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ABD4D-C635-1AC2-9A4A-0FA22F02D9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FastGA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900283C-3A82-0A1D-796D-8F5ADE12A7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Numerical Software Development Final Presentation</a:t>
            </a:r>
          </a:p>
          <a:p>
            <a:r>
              <a:rPr kumimoji="1" lang="en-US" altLang="zh-TW" dirty="0">
                <a:latin typeface="Helvetica Neue" panose="02000503000000020004" pitchFamily="2" charset="0"/>
                <a:cs typeface="Helvetica Neue" panose="02000503000000020004" pitchFamily="2" charset="0"/>
              </a:rPr>
              <a:t>Jim Lin (@jylin34)</a:t>
            </a:r>
          </a:p>
          <a:p>
            <a:r>
              <a:rPr kumimoji="1" lang="en-US" altLang="zh-TW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June 8, 2026 | 08:15 – 08:30</a:t>
            </a:r>
          </a:p>
        </p:txBody>
      </p:sp>
    </p:spTree>
    <p:extLst>
      <p:ext uri="{BB962C8B-B14F-4D97-AF65-F5344CB8AC3E}">
        <p14:creationId xmlns:p14="http://schemas.microsoft.com/office/powerpoint/2010/main" val="319629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D8877C-6D82-30BE-7DA1-EAEB17AC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Genetic Algorithm (GA)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4425DD-E115-96A3-EE7D-DDA800706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84" y="1443789"/>
            <a:ext cx="11043232" cy="5049086"/>
          </a:xfrm>
        </p:spPr>
        <p:txBody>
          <a:bodyPr>
            <a:normAutofit/>
          </a:bodyPr>
          <a:lstStyle/>
          <a:p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Genetic Algorithm is a heuristic algorithm inspired by </a:t>
            </a:r>
            <a:r>
              <a:rPr kumimoji="1" lang="en-US" altLang="zh-TW" sz="2400" dirty="0">
                <a:solidFill>
                  <a:srgbClr val="FF0000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Darwin natural selection</a:t>
            </a:r>
          </a:p>
          <a:p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Solve complex optimization problems by involving a population of solutions</a:t>
            </a:r>
          </a:p>
          <a:p>
            <a:endParaRPr kumimoji="1" lang="zh-TW" altLang="en-US" sz="24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FF59EA4-C0EC-6789-16A5-C834221C32FB}"/>
              </a:ext>
            </a:extLst>
          </p:cNvPr>
          <p:cNvGrpSpPr/>
          <p:nvPr/>
        </p:nvGrpSpPr>
        <p:grpSpPr>
          <a:xfrm>
            <a:off x="98230" y="2507819"/>
            <a:ext cx="8362864" cy="4350181"/>
            <a:chOff x="3254752" y="2417803"/>
            <a:chExt cx="8362864" cy="4350181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4E69654-E08A-DCFE-EFB9-6DD35544B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62"/>
            <a:stretch/>
          </p:blipFill>
          <p:spPr>
            <a:xfrm>
              <a:off x="3254752" y="2417803"/>
              <a:ext cx="5974596" cy="4350181"/>
            </a:xfrm>
            <a:prstGeom prst="rect">
              <a:avLst/>
            </a:prstGeom>
          </p:spPr>
        </p:pic>
        <p:cxnSp>
          <p:nvCxnSpPr>
            <p:cNvPr id="8" name="直線箭頭接點 7">
              <a:extLst>
                <a:ext uri="{FF2B5EF4-FFF2-40B4-BE49-F238E27FC236}">
                  <a16:creationId xmlns:a16="http://schemas.microsoft.com/office/drawing/2014/main" id="{DECF6236-8F2B-0832-4CE4-339CF38FA774}"/>
                </a:ext>
              </a:extLst>
            </p:cNvPr>
            <p:cNvCxnSpPr>
              <a:cxnSpLocks/>
            </p:cNvCxnSpPr>
            <p:nvPr/>
          </p:nvCxnSpPr>
          <p:spPr>
            <a:xfrm>
              <a:off x="8708858" y="4824663"/>
              <a:ext cx="29899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624ED42A-B388-B800-9451-C161F00F2BB3}"/>
                </a:ext>
              </a:extLst>
            </p:cNvPr>
            <p:cNvCxnSpPr>
              <a:cxnSpLocks/>
            </p:cNvCxnSpPr>
            <p:nvPr/>
          </p:nvCxnSpPr>
          <p:spPr>
            <a:xfrm>
              <a:off x="7476219" y="4944980"/>
              <a:ext cx="125128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38B204E-DCD0-F6DA-2353-0779BAEBC11F}"/>
                </a:ext>
              </a:extLst>
            </p:cNvPr>
            <p:cNvSpPr txBox="1"/>
            <p:nvPr/>
          </p:nvSpPr>
          <p:spPr>
            <a:xfrm>
              <a:off x="8955696" y="4639997"/>
              <a:ext cx="2654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 individual = 1 solution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A98FF2A8-88A8-9727-0DB6-112C72947150}"/>
                </a:ext>
              </a:extLst>
            </p:cNvPr>
            <p:cNvSpPr txBox="1"/>
            <p:nvPr/>
          </p:nvSpPr>
          <p:spPr>
            <a:xfrm>
              <a:off x="8955696" y="3653801"/>
              <a:ext cx="2654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Use </a:t>
              </a:r>
              <a:r>
                <a:rPr kumimoji="1" lang="en-US" altLang="zh-TW" dirty="0">
                  <a:solidFill>
                    <a:srgbClr val="FF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fitness function</a:t>
              </a:r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to score each individual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24" name="直線箭頭接點 23">
              <a:extLst>
                <a:ext uri="{FF2B5EF4-FFF2-40B4-BE49-F238E27FC236}">
                  <a16:creationId xmlns:a16="http://schemas.microsoft.com/office/drawing/2014/main" id="{4FD083C9-6411-1479-0801-43E0245F445E}"/>
                </a:ext>
              </a:extLst>
            </p:cNvPr>
            <p:cNvCxnSpPr>
              <a:cxnSpLocks/>
            </p:cNvCxnSpPr>
            <p:nvPr/>
          </p:nvCxnSpPr>
          <p:spPr>
            <a:xfrm>
              <a:off x="7747000" y="6159500"/>
              <a:ext cx="8382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68D51F19-F711-5046-7F11-AB0E592A8032}"/>
                </a:ext>
              </a:extLst>
            </p:cNvPr>
            <p:cNvSpPr txBox="1"/>
            <p:nvPr/>
          </p:nvSpPr>
          <p:spPr>
            <a:xfrm>
              <a:off x="8585200" y="5957932"/>
              <a:ext cx="303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Keeps the fittest individuals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F14BF9E-678E-CB8F-515D-AADA72828823}"/>
                </a:ext>
              </a:extLst>
            </p:cNvPr>
            <p:cNvSpPr txBox="1"/>
            <p:nvPr/>
          </p:nvSpPr>
          <p:spPr>
            <a:xfrm>
              <a:off x="6724650" y="2474404"/>
              <a:ext cx="3478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Helvetica Neue" panose="02000503000000020004" pitchFamily="2" charset="0"/>
                  <a:cs typeface="Helvetica Neue" panose="02000503000000020004" pitchFamily="2" charset="0"/>
                </a:rPr>
                <a:t>Includes dozens of individuals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575534CC-18B0-7718-9783-043A902FB4A7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00" y="3180900"/>
              <a:ext cx="13335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箭頭接點 35">
              <a:extLst>
                <a:ext uri="{FF2B5EF4-FFF2-40B4-BE49-F238E27FC236}">
                  <a16:creationId xmlns:a16="http://schemas.microsoft.com/office/drawing/2014/main" id="{C76A4BAB-A287-16B7-F175-ADA301C08A22}"/>
                </a:ext>
              </a:extLst>
            </p:cNvPr>
            <p:cNvCxnSpPr/>
            <p:nvPr/>
          </p:nvCxnSpPr>
          <p:spPr>
            <a:xfrm flipV="1">
              <a:off x="7048500" y="2818336"/>
              <a:ext cx="279400" cy="1915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E16BB9C-F3CA-D020-8EE7-87410DC3B0E6}"/>
              </a:ext>
            </a:extLst>
          </p:cNvPr>
          <p:cNvSpPr txBox="1"/>
          <p:nvPr/>
        </p:nvSpPr>
        <p:spPr>
          <a:xfrm>
            <a:off x="8560447" y="3270916"/>
            <a:ext cx="353027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TW" sz="1600" dirty="0">
                <a:latin typeface="Menlo" panose="020B0609030804020204" pitchFamily="49" charset="0"/>
              </a:rPr>
              <a:t>Input:</a:t>
            </a:r>
            <a:r>
              <a:rPr lang="en" altLang="zh-TW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</a:rPr>
              <a:t> </a:t>
            </a:r>
            <a:r>
              <a:rPr lang="en" altLang="zh-TW" sz="1600" dirty="0" err="1">
                <a:solidFill>
                  <a:srgbClr val="7030A0"/>
                </a:solidFill>
                <a:latin typeface="Menlo" panose="020B0609030804020204" pitchFamily="49" charset="0"/>
              </a:rPr>
              <a:t>fitness_function</a:t>
            </a:r>
            <a:r>
              <a:rPr lang="en" altLang="zh-TW" sz="1600" dirty="0">
                <a:solidFill>
                  <a:srgbClr val="7030A0"/>
                </a:solidFill>
                <a:latin typeface="Menlo" panose="020B0609030804020204" pitchFamily="49" charset="0"/>
              </a:rPr>
              <a:t>()</a:t>
            </a:r>
            <a:endParaRPr lang="en" altLang="zh-TW" sz="1600" b="0" dirty="0">
              <a:solidFill>
                <a:srgbClr val="7030A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6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TW" sz="1600" b="0" dirty="0">
                <a:solidFill>
                  <a:srgbClr val="BBBEB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effectLst/>
                <a:latin typeface="Menlo" panose="020B0609030804020204" pitchFamily="49" charset="0"/>
              </a:rPr>
              <a:t>each generation:</a:t>
            </a:r>
          </a:p>
          <a:p>
            <a:r>
              <a:rPr lang="en" altLang="zh-TW" sz="1600" dirty="0">
                <a:solidFill>
                  <a:srgbClr val="C586C0"/>
                </a:solidFill>
                <a:latin typeface="Menlo" panose="020B0609030804020204" pitchFamily="49" charset="0"/>
              </a:rPr>
              <a:t>    </a:t>
            </a:r>
            <a:r>
              <a:rPr lang="en" altLang="zh-TW" sz="16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TW" sz="1600" b="0" dirty="0">
                <a:solidFill>
                  <a:srgbClr val="BBBEB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effectLst/>
                <a:latin typeface="Menlo" panose="020B0609030804020204" pitchFamily="49" charset="0"/>
              </a:rPr>
              <a:t>each individual:</a:t>
            </a:r>
          </a:p>
          <a:p>
            <a:r>
              <a:rPr lang="en" altLang="zh-TW" sz="1600" b="0" dirty="0">
                <a:solidFill>
                  <a:srgbClr val="D2A8FF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evaluate</a:t>
            </a:r>
            <a:r>
              <a:rPr lang="en" altLang="zh-TW" sz="1600" b="0" dirty="0">
                <a:effectLst/>
                <a:latin typeface="Menlo" panose="020B0609030804020204" pitchFamily="49" charset="0"/>
              </a:rPr>
              <a:t>(individual)</a:t>
            </a:r>
          </a:p>
          <a:p>
            <a:r>
              <a:rPr lang="en" altLang="zh-TW" sz="1600" b="0" dirty="0">
                <a:solidFill>
                  <a:srgbClr val="D2A8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selection</a:t>
            </a:r>
            <a:r>
              <a:rPr lang="en" altLang="zh-TW" sz="1600" b="0" dirty="0"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" altLang="zh-TW" sz="1600" b="0" dirty="0">
                <a:solidFill>
                  <a:srgbClr val="D2A8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reproduction</a:t>
            </a:r>
            <a:r>
              <a:rPr lang="en" altLang="zh-TW" sz="1600" b="0" dirty="0"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" altLang="zh-TW" sz="1600" b="0" dirty="0">
                <a:solidFill>
                  <a:srgbClr val="D2A8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mutation</a:t>
            </a:r>
            <a:r>
              <a:rPr lang="en" altLang="zh-TW" sz="1600" b="0" dirty="0">
                <a:effectLst/>
                <a:latin typeface="Menlo" panose="020B0609030804020204" pitchFamily="49" charset="0"/>
              </a:rPr>
              <a:t>()</a:t>
            </a:r>
            <a:endParaRPr lang="en" altLang="zh-TW" sz="1600" dirty="0">
              <a:latin typeface="Menlo" panose="020B0609030804020204" pitchFamily="49" charset="0"/>
            </a:endParaRPr>
          </a:p>
          <a:p>
            <a:r>
              <a:rPr lang="en" altLang="zh-TW" sz="1600" b="0" dirty="0">
                <a:effectLst/>
                <a:latin typeface="Menlo" panose="020B0609030804020204" pitchFamily="49" charset="0"/>
              </a:rPr>
              <a:t>Output: Fittest individual</a:t>
            </a:r>
          </a:p>
        </p:txBody>
      </p:sp>
    </p:spTree>
    <p:extLst>
      <p:ext uri="{BB962C8B-B14F-4D97-AF65-F5344CB8AC3E}">
        <p14:creationId xmlns:p14="http://schemas.microsoft.com/office/powerpoint/2010/main" val="390675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834A-22C7-2E17-66AE-782BDD4F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56D79-4E09-ADB1-6929-956AF626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FastGA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61AF1C7A-6C47-FE4D-80D4-FA4C6A0C760E}"/>
              </a:ext>
            </a:extLst>
          </p:cNvPr>
          <p:cNvGrpSpPr/>
          <p:nvPr/>
        </p:nvGrpSpPr>
        <p:grpSpPr>
          <a:xfrm>
            <a:off x="458558" y="3938330"/>
            <a:ext cx="11274884" cy="2554545"/>
            <a:chOff x="631807" y="3992901"/>
            <a:chExt cx="11274884" cy="2554545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F45F9AA1-799B-2FAF-FCF7-130C22679A9E}"/>
                </a:ext>
              </a:extLst>
            </p:cNvPr>
            <p:cNvGrpSpPr/>
            <p:nvPr/>
          </p:nvGrpSpPr>
          <p:grpSpPr>
            <a:xfrm>
              <a:off x="7520159" y="3992901"/>
              <a:ext cx="4386532" cy="2554545"/>
              <a:chOff x="3517098" y="2397948"/>
              <a:chExt cx="4386532" cy="2554545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973417F-49E9-4456-1CC4-39678ABC9F5C}"/>
                  </a:ext>
                </a:extLst>
              </p:cNvPr>
              <p:cNvSpPr txBox="1"/>
              <p:nvPr/>
            </p:nvSpPr>
            <p:spPr>
              <a:xfrm>
                <a:off x="3517098" y="2397948"/>
                <a:ext cx="4386532" cy="255454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" altLang="zh-TW" sz="2000" dirty="0">
                    <a:latin typeface="Menlo" panose="020B0609030804020204" pitchFamily="49" charset="0"/>
                  </a:rPr>
                  <a:t>Input:</a:t>
                </a:r>
                <a:r>
                  <a:rPr lang="en" altLang="zh-TW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enlo" panose="020B0609030804020204" pitchFamily="49" charset="0"/>
                  </a:rPr>
                  <a:t> </a:t>
                </a:r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fitness_function</a:t>
                </a:r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()</a:t>
                </a:r>
                <a:endParaRPr lang="en" altLang="zh-TW" sz="2000" b="0" dirty="0">
                  <a:solidFill>
                    <a:srgbClr val="7030A0"/>
                  </a:solidFill>
                  <a:effectLst/>
                  <a:latin typeface="Menlo" panose="020B0609030804020204" pitchFamily="49" charset="0"/>
                </a:endParaRPr>
              </a:p>
              <a:p>
                <a:r>
                  <a:rPr lang="en" altLang="zh-TW" sz="2000" b="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effectLst/>
                    <a:latin typeface="Menlo" panose="020B0609030804020204" pitchFamily="49" charset="0"/>
                  </a:rPr>
                  <a:t>for</a:t>
                </a:r>
                <a:r>
                  <a:rPr lang="en" altLang="zh-TW" sz="2000" b="0" dirty="0">
                    <a:solidFill>
                      <a:srgbClr val="BBBEBF"/>
                    </a:solidFill>
                    <a:effectLst/>
                    <a:latin typeface="Menlo" panose="020B0609030804020204" pitchFamily="49" charset="0"/>
                  </a:rPr>
                  <a:t> </a:t>
                </a:r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each generation:</a:t>
                </a:r>
              </a:p>
              <a:p>
                <a:r>
                  <a:rPr lang="en" altLang="zh-TW" sz="2000" dirty="0">
                    <a:solidFill>
                      <a:srgbClr val="C586C0"/>
                    </a:solidFill>
                    <a:latin typeface="Menlo" panose="020B0609030804020204" pitchFamily="49" charset="0"/>
                  </a:rPr>
                  <a:t>    </a:t>
                </a:r>
                <a:r>
                  <a:rPr lang="en" altLang="zh-TW" sz="2000" b="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effectLst/>
                    <a:latin typeface="Menlo" panose="020B0609030804020204" pitchFamily="49" charset="0"/>
                  </a:rPr>
                  <a:t>for</a:t>
                </a:r>
                <a:r>
                  <a:rPr lang="en" altLang="zh-TW" sz="2000" b="0" dirty="0">
                    <a:solidFill>
                      <a:srgbClr val="BBBEBF"/>
                    </a:solidFill>
                    <a:effectLst/>
                    <a:latin typeface="Menlo" panose="020B0609030804020204" pitchFamily="49" charset="0"/>
                  </a:rPr>
                  <a:t> </a:t>
                </a:r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each individual:</a:t>
                </a:r>
              </a:p>
              <a:p>
                <a:r>
                  <a:rPr lang="en" altLang="zh-TW" sz="2000" b="0" dirty="0">
                    <a:solidFill>
                      <a:srgbClr val="D2A8FF"/>
                    </a:solidFill>
                    <a:effectLst/>
                    <a:latin typeface="Menlo" panose="020B0609030804020204" pitchFamily="49" charset="0"/>
                  </a:rPr>
                  <a:t>        </a:t>
                </a:r>
                <a:r>
                  <a:rPr lang="en" altLang="zh-TW" sz="2000" b="0" dirty="0">
                    <a:solidFill>
                      <a:srgbClr val="7030A0"/>
                    </a:solidFill>
                    <a:effectLst/>
                    <a:latin typeface="Menlo" panose="020B0609030804020204" pitchFamily="49" charset="0"/>
                  </a:rPr>
                  <a:t>evaluate</a:t>
                </a:r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(individual)</a:t>
                </a:r>
              </a:p>
              <a:p>
                <a:r>
                  <a:rPr lang="en" altLang="zh-TW" sz="2000" b="0" dirty="0">
                    <a:solidFill>
                      <a:srgbClr val="D2A8FF"/>
                    </a:solidFill>
                    <a:effectLst/>
                    <a:latin typeface="Menlo" panose="020B0609030804020204" pitchFamily="49" charset="0"/>
                  </a:rPr>
                  <a:t>    </a:t>
                </a:r>
                <a:r>
                  <a:rPr lang="en" altLang="zh-TW" sz="2000" b="0" dirty="0">
                    <a:solidFill>
                      <a:srgbClr val="7030A0"/>
                    </a:solidFill>
                    <a:effectLst/>
                    <a:latin typeface="Menlo" panose="020B0609030804020204" pitchFamily="49" charset="0"/>
                  </a:rPr>
                  <a:t>selection</a:t>
                </a:r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()</a:t>
                </a:r>
              </a:p>
              <a:p>
                <a:r>
                  <a:rPr lang="en" altLang="zh-TW" sz="2000" b="0" dirty="0">
                    <a:solidFill>
                      <a:srgbClr val="D2A8FF"/>
                    </a:solidFill>
                    <a:effectLst/>
                    <a:latin typeface="Menlo" panose="020B0609030804020204" pitchFamily="49" charset="0"/>
                  </a:rPr>
                  <a:t>    </a:t>
                </a:r>
                <a:r>
                  <a:rPr lang="en" altLang="zh-TW" sz="2000" b="0" dirty="0">
                    <a:solidFill>
                      <a:srgbClr val="7030A0"/>
                    </a:solidFill>
                    <a:effectLst/>
                    <a:latin typeface="Menlo" panose="020B0609030804020204" pitchFamily="49" charset="0"/>
                  </a:rPr>
                  <a:t>reproduction</a:t>
                </a:r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()</a:t>
                </a:r>
              </a:p>
              <a:p>
                <a:r>
                  <a:rPr lang="en" altLang="zh-TW" sz="2000" b="0" dirty="0">
                    <a:solidFill>
                      <a:srgbClr val="D2A8FF"/>
                    </a:solidFill>
                    <a:effectLst/>
                    <a:latin typeface="Menlo" panose="020B0609030804020204" pitchFamily="49" charset="0"/>
                  </a:rPr>
                  <a:t>    </a:t>
                </a:r>
                <a:r>
                  <a:rPr lang="en" altLang="zh-TW" sz="2000" b="0" dirty="0">
                    <a:solidFill>
                      <a:srgbClr val="7030A0"/>
                    </a:solidFill>
                    <a:effectLst/>
                    <a:latin typeface="Menlo" panose="020B0609030804020204" pitchFamily="49" charset="0"/>
                  </a:rPr>
                  <a:t>mutation</a:t>
                </a:r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()</a:t>
                </a:r>
                <a:endParaRPr lang="en" altLang="zh-TW" sz="2000" dirty="0">
                  <a:latin typeface="Menlo" panose="020B0609030804020204" pitchFamily="49" charset="0"/>
                </a:endParaRPr>
              </a:p>
              <a:p>
                <a:r>
                  <a:rPr lang="en" altLang="zh-TW" sz="2000" b="0" dirty="0">
                    <a:effectLst/>
                    <a:latin typeface="Menlo" panose="020B0609030804020204" pitchFamily="49" charset="0"/>
                  </a:rPr>
                  <a:t>Output: Fittest individual</a:t>
                </a:r>
              </a:p>
            </p:txBody>
          </p: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CFE95179-63AE-1398-6F0B-DC4879F04C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7098" y="2737709"/>
                <a:ext cx="0" cy="914362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直線箭頭接點 29">
              <a:extLst>
                <a:ext uri="{FF2B5EF4-FFF2-40B4-BE49-F238E27FC236}">
                  <a16:creationId xmlns:a16="http://schemas.microsoft.com/office/drawing/2014/main" id="{586B45D4-E3E3-68FA-E640-9D04D11AF6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0065" y="4641448"/>
              <a:ext cx="2055922" cy="29045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D8E57E69-2C48-6339-259D-85EFB43B9757}"/>
                </a:ext>
              </a:extLst>
            </p:cNvPr>
            <p:cNvSpPr txBox="1"/>
            <p:nvPr/>
          </p:nvSpPr>
          <p:spPr>
            <a:xfrm>
              <a:off x="631807" y="4166156"/>
              <a:ext cx="46761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Thousands of generations amplify the minor interpreter overhead into significand delays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8F304E46-F83D-3EAF-0B94-13618D7EE4E0}"/>
                </a:ext>
              </a:extLst>
            </p:cNvPr>
            <p:cNvSpPr txBox="1"/>
            <p:nvPr/>
          </p:nvSpPr>
          <p:spPr>
            <a:xfrm>
              <a:off x="631807" y="4895527"/>
              <a:ext cx="46761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Calling the Python fitness function for every single individual incurs massive overhead from </a:t>
              </a:r>
              <a:r>
                <a:rPr kumimoji="1" lang="en-US" altLang="zh-TW" dirty="0">
                  <a:solidFill>
                    <a:srgbClr val="FF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C++-to-Python context switching </a:t>
              </a:r>
              <a:r>
                <a:rPr kumimoji="1" lang="en-US" altLang="zh-TW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and </a:t>
              </a:r>
              <a:r>
                <a:rPr kumimoji="1" lang="en-US" altLang="zh-TW" dirty="0">
                  <a:solidFill>
                    <a:srgbClr val="FF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GIL contention during every evaluation</a:t>
              </a:r>
              <a:endParaRPr kumimoji="1" lang="zh-TW" altLang="en-US" dirty="0">
                <a:solidFill>
                  <a:srgbClr val="FF0000"/>
                </a:solidFill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內容版面配置區 2">
                <a:extLst>
                  <a:ext uri="{FF2B5EF4-FFF2-40B4-BE49-F238E27FC236}">
                    <a16:creationId xmlns:a16="http://schemas.microsoft.com/office/drawing/2014/main" id="{64A7C6B6-5E8D-13EF-D74B-7BA218867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384" y="1503289"/>
                <a:ext cx="11043232" cy="2525256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-US" altLang="zh-TW" sz="2400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FastGA is a C++ genetic algorithm library with Python bindings, specifically  for global optimization problems represented by </a:t>
                </a:r>
                <a:r>
                  <a:rPr kumimoji="1" lang="en-US" altLang="zh-TW" sz="2400" dirty="0">
                    <a:solidFill>
                      <a:srgbClr val="FF0000"/>
                    </a:solidFill>
                    <a:latin typeface="Helvetica Neue" panose="02000503000000020004" pitchFamily="2" charset="0"/>
                    <a:cs typeface="Helvetica Neue" panose="02000503000000020004" pitchFamily="2" charset="0"/>
                  </a:rPr>
                  <a:t>1D double-precision vectors</a:t>
                </a:r>
              </a:p>
              <a:p>
                <a:r>
                  <a:rPr kumimoji="1" lang="en-US" altLang="zh-TW" sz="2400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eg. </a:t>
                </a:r>
              </a:p>
              <a:p>
                <a:pPr lvl="1"/>
                <a:r>
                  <a:rPr kumimoji="1" lang="en-US" altLang="zh-TW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fitness function: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kumimoji="1" lang="en-US" altLang="zh-TW" b="0" i="0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min</m:t>
                        </m:r>
                      </m:e>
                      <m:li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𝑋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, 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𝑌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)</m:t>
                        </m:r>
                      </m:lim>
                    </m:limLow>
                    <m:r>
                      <a:rPr kumimoji="1" lang="en-US" altLang="zh-TW" b="0" i="0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 </m:t>
                    </m:r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𝑌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zh-TW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lvl="1"/>
                <a:r>
                  <a:rPr kumimoji="1" lang="en-US" altLang="zh-TW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Individual: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[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𝑋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,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𝑌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]</m:t>
                    </m:r>
                  </m:oMath>
                </a14:m>
                <a:endParaRPr kumimoji="1" lang="en-US" altLang="zh-TW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lvl="1"/>
                <a:r>
                  <a:rPr kumimoji="1" lang="en-US" altLang="zh-TW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Goal: fitness value = 0,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TW" b="0" i="0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X</m:t>
                        </m:r>
                        <m:r>
                          <a:rPr kumimoji="1" lang="en-US" altLang="zh-TW" b="0" i="0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Y</m:t>
                        </m:r>
                      </m:e>
                    </m:d>
                    <m:r>
                      <a:rPr kumimoji="1" lang="en-US" altLang="zh-TW" b="0" i="0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0, 0</m:t>
                        </m:r>
                      </m:e>
                    </m:d>
                  </m:oMath>
                </a14:m>
                <a:endParaRPr kumimoji="1" lang="en-US" altLang="zh-TW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46" name="內容版面配置區 2">
                <a:extLst>
                  <a:ext uri="{FF2B5EF4-FFF2-40B4-BE49-F238E27FC236}">
                    <a16:creationId xmlns:a16="http://schemas.microsoft.com/office/drawing/2014/main" id="{64A7C6B6-5E8D-13EF-D74B-7BA218867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384" y="1503289"/>
                <a:ext cx="11043232" cy="2525256"/>
              </a:xfrm>
              <a:blipFill>
                <a:blip r:embed="rId3"/>
                <a:stretch>
                  <a:fillRect l="-805" t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53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5769-2DDD-C832-5A26-DD627A3E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E08DD-633F-47E6-6EAC-64098CE2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Project Architecture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F88FC2E-D502-F2DC-A957-C7B2167BC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321" y="1283377"/>
            <a:ext cx="9411479" cy="55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57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04072-8203-2E9C-4361-31192D67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2A71B1-83FD-1160-6B7B-D7A6F2E3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Project Architecture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11BFFCC-95F3-6525-2ADA-3E0BC4E71A5F}"/>
              </a:ext>
            </a:extLst>
          </p:cNvPr>
          <p:cNvGrpSpPr/>
          <p:nvPr/>
        </p:nvGrpSpPr>
        <p:grpSpPr>
          <a:xfrm>
            <a:off x="433445" y="1902065"/>
            <a:ext cx="6848959" cy="4324418"/>
            <a:chOff x="1382570" y="1925214"/>
            <a:chExt cx="6848959" cy="4324418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530073F-CE3D-BE92-5D7B-282993E9C944}"/>
                </a:ext>
              </a:extLst>
            </p:cNvPr>
            <p:cNvGrpSpPr/>
            <p:nvPr/>
          </p:nvGrpSpPr>
          <p:grpSpPr>
            <a:xfrm>
              <a:off x="1382570" y="1925214"/>
              <a:ext cx="1709122" cy="1091731"/>
              <a:chOff x="838200" y="1897240"/>
              <a:chExt cx="1709122" cy="1091731"/>
            </a:xfrm>
          </p:grpSpPr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AAECE64-C71E-5DA1-57E3-7B108F21BB78}"/>
                  </a:ext>
                </a:extLst>
              </p:cNvPr>
              <p:cNvSpPr txBox="1"/>
              <p:nvPr/>
            </p:nvSpPr>
            <p:spPr>
              <a:xfrm>
                <a:off x="838200" y="2281085"/>
                <a:ext cx="1709122" cy="7078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m_genes</a:t>
                </a:r>
                <a:endPara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endParaRPr>
              </a:p>
              <a:p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m_fitness</a:t>
                </a:r>
                <a:endPara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endParaRPr>
              </a:p>
            </p:txBody>
          </p:sp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D5C37D7-C022-59D7-8D40-05A207181115}"/>
                  </a:ext>
                </a:extLst>
              </p:cNvPr>
              <p:cNvSpPr txBox="1"/>
              <p:nvPr/>
            </p:nvSpPr>
            <p:spPr>
              <a:xfrm>
                <a:off x="838200" y="1897240"/>
                <a:ext cx="17091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1" dirty="0" err="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individual.cpp</a:t>
                </a:r>
                <a:endParaRPr kumimoji="1" lang="zh-TW" altLang="en-US" b="1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3C1B448-B43C-8491-ABA2-C21FF876F7A2}"/>
                </a:ext>
              </a:extLst>
            </p:cNvPr>
            <p:cNvGrpSpPr/>
            <p:nvPr/>
          </p:nvGrpSpPr>
          <p:grpSpPr>
            <a:xfrm>
              <a:off x="1382570" y="3619018"/>
              <a:ext cx="2981087" cy="2630614"/>
              <a:chOff x="838199" y="1897240"/>
              <a:chExt cx="2981087" cy="2630614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42FFB1D-6282-E214-C1BF-F23EACEDCF66}"/>
                  </a:ext>
                </a:extLst>
              </p:cNvPr>
              <p:cNvSpPr txBox="1"/>
              <p:nvPr/>
            </p:nvSpPr>
            <p:spPr>
              <a:xfrm>
                <a:off x="838199" y="2281085"/>
                <a:ext cx="2981087" cy="22467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set_fitness_func</a:t>
                </a:r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()</a:t>
                </a:r>
              </a:p>
              <a:p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solve()</a:t>
                </a:r>
              </a:p>
              <a:p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evaluate()</a:t>
                </a:r>
              </a:p>
              <a:p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selection() </a:t>
                </a:r>
              </a:p>
              <a:p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reproduction()</a:t>
                </a:r>
              </a:p>
              <a:p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mutation()</a:t>
                </a:r>
              </a:p>
              <a:p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get_best</a:t>
                </a:r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()</a:t>
                </a: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04DF1B6-796B-F0A1-845E-C17B3924A91B}"/>
                  </a:ext>
                </a:extLst>
              </p:cNvPr>
              <p:cNvSpPr txBox="1"/>
              <p:nvPr/>
            </p:nvSpPr>
            <p:spPr>
              <a:xfrm>
                <a:off x="838200" y="1897240"/>
                <a:ext cx="169911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1" dirty="0" err="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ga_solver.cpp</a:t>
                </a:r>
                <a:endParaRPr kumimoji="1" lang="zh-TW" altLang="en-US" b="1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B78665A4-4A22-7951-9189-3C232A0FD8D4}"/>
                </a:ext>
              </a:extLst>
            </p:cNvPr>
            <p:cNvGrpSpPr/>
            <p:nvPr/>
          </p:nvGrpSpPr>
          <p:grpSpPr>
            <a:xfrm>
              <a:off x="5250443" y="2919264"/>
              <a:ext cx="2981086" cy="1399508"/>
              <a:chOff x="838200" y="1897240"/>
              <a:chExt cx="2981086" cy="1399508"/>
            </a:xfrm>
          </p:grpSpPr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F51E42C-43E7-F893-697A-61B5B291BBE8}"/>
                  </a:ext>
                </a:extLst>
              </p:cNvPr>
              <p:cNvSpPr txBox="1"/>
              <p:nvPr/>
            </p:nvSpPr>
            <p:spPr>
              <a:xfrm>
                <a:off x="838200" y="2281085"/>
                <a:ext cx="2981086" cy="10156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set_fitness_func</a:t>
                </a:r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()</a:t>
                </a:r>
              </a:p>
              <a:p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solve()</a:t>
                </a:r>
              </a:p>
              <a:p>
                <a:r>
                  <a:rPr lang="en" altLang="zh-TW" sz="2000" dirty="0" err="1">
                    <a:solidFill>
                      <a:srgbClr val="7030A0"/>
                    </a:solidFill>
                    <a:latin typeface="Menlo" panose="020B0609030804020204" pitchFamily="49" charset="0"/>
                  </a:rPr>
                  <a:t>get_best</a:t>
                </a:r>
                <a:r>
                  <a:rPr lang="en" altLang="zh-TW" sz="2000" dirty="0">
                    <a:solidFill>
                      <a:srgbClr val="7030A0"/>
                    </a:solidFill>
                    <a:latin typeface="Menlo" panose="020B0609030804020204" pitchFamily="49" charset="0"/>
                  </a:rPr>
                  <a:t>()</a:t>
                </a:r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1CCD95D-D9BE-6AEA-B688-5CF7CB8FFDC7}"/>
                  </a:ext>
                </a:extLst>
              </p:cNvPr>
              <p:cNvSpPr txBox="1"/>
              <p:nvPr/>
            </p:nvSpPr>
            <p:spPr>
              <a:xfrm>
                <a:off x="838200" y="1897240"/>
                <a:ext cx="147829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1" dirty="0" err="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binding.cpp</a:t>
                </a:r>
                <a:endParaRPr kumimoji="1" lang="zh-TW" altLang="en-US" b="1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14" name="肘形接點 13">
              <a:extLst>
                <a:ext uri="{FF2B5EF4-FFF2-40B4-BE49-F238E27FC236}">
                  <a16:creationId xmlns:a16="http://schemas.microsoft.com/office/drawing/2014/main" id="{085E92A6-0A84-6946-B420-DADB97DF8213}"/>
                </a:ext>
              </a:extLst>
            </p:cNvPr>
            <p:cNvCxnSpPr>
              <a:stCxn id="4" idx="3"/>
              <a:endCxn id="11" idx="1"/>
            </p:cNvCxnSpPr>
            <p:nvPr/>
          </p:nvCxnSpPr>
          <p:spPr>
            <a:xfrm>
              <a:off x="3091692" y="2663002"/>
              <a:ext cx="2158751" cy="1147939"/>
            </a:xfrm>
            <a:prstGeom prst="bentConnector3">
              <a:avLst>
                <a:gd name="adj1" fmla="val 7949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肘形接點 16">
              <a:extLst>
                <a:ext uri="{FF2B5EF4-FFF2-40B4-BE49-F238E27FC236}">
                  <a16:creationId xmlns:a16="http://schemas.microsoft.com/office/drawing/2014/main" id="{A32B004B-1EB6-FD85-5728-D3948D606C69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 flipV="1">
              <a:off x="4363657" y="3810941"/>
              <a:ext cx="886786" cy="131530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FEB9F4D-DB16-A4B3-DD49-E3F9A3874C8C}"/>
              </a:ext>
            </a:extLst>
          </p:cNvPr>
          <p:cNvGrpSpPr/>
          <p:nvPr/>
        </p:nvGrpSpPr>
        <p:grpSpPr>
          <a:xfrm>
            <a:off x="8063108" y="2896115"/>
            <a:ext cx="3972650" cy="2322837"/>
            <a:chOff x="838200" y="1897240"/>
            <a:chExt cx="3972650" cy="2322837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B195DF1-3A9D-0C08-05B1-1AF37E543F56}"/>
                </a:ext>
              </a:extLst>
            </p:cNvPr>
            <p:cNvSpPr txBox="1"/>
            <p:nvPr/>
          </p:nvSpPr>
          <p:spPr>
            <a:xfrm>
              <a:off x="838200" y="2281085"/>
              <a:ext cx="3972650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" altLang="zh-TW" sz="2000" dirty="0">
                  <a:latin typeface="Menlo" panose="020B0609030804020204" pitchFamily="49" charset="0"/>
                </a:rPr>
                <a:t>import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fastga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  <a:p>
              <a:endParaRPr lang="en" altLang="zh-TW" sz="2000" dirty="0"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latin typeface="Menlo" panose="020B0609030804020204" pitchFamily="49" charset="0"/>
                </a:rPr>
                <a:t>solver = 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fastga</a:t>
              </a:r>
              <a:r>
                <a:rPr lang="en" altLang="zh-TW" sz="2000" dirty="0" err="1">
                  <a:latin typeface="Menlo" panose="020B0609030804020204" pitchFamily="49" charset="0"/>
                </a:rPr>
                <a:t>.GASolver</a:t>
              </a:r>
              <a:endParaRPr lang="en" altLang="zh-TW" sz="2000" dirty="0">
                <a:latin typeface="Menlo" panose="020B0609030804020204" pitchFamily="49" charset="0"/>
              </a:endParaRPr>
            </a:p>
            <a:p>
              <a:r>
                <a:rPr lang="en" altLang="zh-TW" sz="2000" dirty="0" err="1">
                  <a:latin typeface="Menlo" panose="020B0609030804020204" pitchFamily="49" charset="0"/>
                </a:rPr>
                <a:t>solver.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set_fitness_func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()</a:t>
              </a:r>
            </a:p>
            <a:p>
              <a:r>
                <a:rPr lang="en" altLang="zh-TW" sz="2000" dirty="0" err="1">
                  <a:latin typeface="Menlo" panose="020B0609030804020204" pitchFamily="49" charset="0"/>
                </a:rPr>
                <a:t>solver.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solve</a:t>
              </a:r>
              <a:r>
                <a:rPr lang="en" altLang="zh-TW" sz="2000" dirty="0">
                  <a:latin typeface="Menlo" panose="020B0609030804020204" pitchFamily="49" charset="0"/>
                </a:rPr>
                <a:t>(generations)</a:t>
              </a:r>
            </a:p>
            <a:p>
              <a:r>
                <a:rPr lang="en" altLang="zh-TW" sz="2000" dirty="0" err="1">
                  <a:latin typeface="Menlo" panose="020B0609030804020204" pitchFamily="49" charset="0"/>
                </a:rPr>
                <a:t>solver.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get_best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()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2B84667E-A8F5-29F7-C415-32EA1931C137}"/>
                </a:ext>
              </a:extLst>
            </p:cNvPr>
            <p:cNvSpPr txBox="1"/>
            <p:nvPr/>
          </p:nvSpPr>
          <p:spPr>
            <a:xfrm>
              <a:off x="838200" y="1897240"/>
              <a:ext cx="104708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main.py</a:t>
              </a:r>
              <a:endParaRPr kumimoji="1" lang="zh-TW" altLang="en-US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972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C79E-5671-37B1-535A-7512B503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7AAC5-FFD3-A3AC-6697-E0F557A1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set_fitness_func</a:t>
            </a:r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() &amp; evaluate()</a:t>
            </a:r>
            <a:endParaRPr kumimoji="1"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44FDE4D-47D4-5236-E342-46FEE981F77F}"/>
              </a:ext>
            </a:extLst>
          </p:cNvPr>
          <p:cNvGrpSpPr/>
          <p:nvPr/>
        </p:nvGrpSpPr>
        <p:grpSpPr>
          <a:xfrm>
            <a:off x="537618" y="1718841"/>
            <a:ext cx="4123602" cy="783955"/>
            <a:chOff x="838200" y="1897240"/>
            <a:chExt cx="4123602" cy="783955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008D97E5-1A94-F8EE-44FB-DC2E9194D61D}"/>
                </a:ext>
              </a:extLst>
            </p:cNvPr>
            <p:cNvSpPr txBox="1"/>
            <p:nvPr/>
          </p:nvSpPr>
          <p:spPr>
            <a:xfrm>
              <a:off x="838200" y="2281085"/>
              <a:ext cx="4123602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" altLang="zh-TW" sz="2000" dirty="0" err="1">
                  <a:latin typeface="Menlo" panose="020B0609030804020204" pitchFamily="49" charset="0"/>
                </a:rPr>
                <a:t>s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olver.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set_fitness_func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(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x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)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AF2E9D9-D6F2-BC82-1502-F8510E9D75A9}"/>
                </a:ext>
              </a:extLst>
            </p:cNvPr>
            <p:cNvSpPr txBox="1"/>
            <p:nvPr/>
          </p:nvSpPr>
          <p:spPr>
            <a:xfrm>
              <a:off x="838200" y="1897240"/>
              <a:ext cx="1047082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main.py</a:t>
              </a:r>
              <a:endParaRPr kumimoji="1" lang="zh-TW" altLang="en-US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9D8495BE-DBB8-446D-7256-9BA8FA14B5F5}"/>
              </a:ext>
            </a:extLst>
          </p:cNvPr>
          <p:cNvGrpSpPr/>
          <p:nvPr/>
        </p:nvGrpSpPr>
        <p:grpSpPr>
          <a:xfrm>
            <a:off x="537618" y="4356477"/>
            <a:ext cx="6499791" cy="1413148"/>
            <a:chOff x="838199" y="4242396"/>
            <a:chExt cx="6499791" cy="1413148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8F6B2E9-CA98-63CC-39F3-D4CECB2647E3}"/>
                </a:ext>
              </a:extLst>
            </p:cNvPr>
            <p:cNvSpPr txBox="1"/>
            <p:nvPr/>
          </p:nvSpPr>
          <p:spPr>
            <a:xfrm>
              <a:off x="838199" y="4242396"/>
              <a:ext cx="1699119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ga_solver.cpp</a:t>
              </a:r>
              <a:endParaRPr kumimoji="1" lang="zh-TW" altLang="en-US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29627736-CA02-F46A-ADD4-C40341541A10}"/>
                </a:ext>
              </a:extLst>
            </p:cNvPr>
            <p:cNvSpPr txBox="1"/>
            <p:nvPr/>
          </p:nvSpPr>
          <p:spPr>
            <a:xfrm>
              <a:off x="838200" y="4639881"/>
              <a:ext cx="6499790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" altLang="zh-TW" sz="2000" dirty="0">
                  <a:latin typeface="Menlo" panose="020B0609030804020204" pitchFamily="49" charset="0"/>
                </a:rPr>
                <a:t>void 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set_fitness_func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(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py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::function 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func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){</a:t>
              </a: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   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m_fitness_func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 = 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func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;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}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523817A-FFD7-4286-4F7D-34351FD0E6C4}"/>
              </a:ext>
            </a:extLst>
          </p:cNvPr>
          <p:cNvGrpSpPr/>
          <p:nvPr/>
        </p:nvGrpSpPr>
        <p:grpSpPr>
          <a:xfrm>
            <a:off x="5764192" y="1686847"/>
            <a:ext cx="6119149" cy="2004165"/>
            <a:chOff x="-287797" y="1908136"/>
            <a:chExt cx="6119149" cy="2004165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ED24E330-EF6F-9C65-0456-CF7D867DDA75}"/>
                </a:ext>
              </a:extLst>
            </p:cNvPr>
            <p:cNvSpPr txBox="1"/>
            <p:nvPr/>
          </p:nvSpPr>
          <p:spPr>
            <a:xfrm>
              <a:off x="-287797" y="2281085"/>
              <a:ext cx="6119149" cy="1631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" altLang="zh-TW" sz="2000" dirty="0">
                  <a:latin typeface="Menlo" panose="020B0609030804020204" pitchFamily="49" charset="0"/>
                </a:rPr>
                <a:t>void </a:t>
              </a:r>
              <a:r>
                <a:rPr lang="en" altLang="zh-TW" sz="2000" dirty="0" err="1">
                  <a:latin typeface="Menlo" panose="020B0609030804020204" pitchFamily="49" charset="0"/>
                </a:rPr>
                <a:t>GASolver</a:t>
              </a:r>
              <a:r>
                <a:rPr lang="en" altLang="zh-TW" sz="2000" dirty="0">
                  <a:latin typeface="Menlo" panose="020B0609030804020204" pitchFamily="49" charset="0"/>
                </a:rPr>
                <a:t>::</a:t>
              </a:r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evaluate(){</a:t>
              </a: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   </a:t>
              </a:r>
              <a:r>
                <a:rPr lang="en" altLang="zh-TW" sz="2000" b="0" dirty="0"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latin typeface="Menlo" panose="020B0609030804020204" pitchFamily="49" charset="0"/>
                </a:rPr>
                <a:t>for</a:t>
              </a:r>
              <a:r>
                <a:rPr lang="en" altLang="zh-TW" sz="2000" b="0" dirty="0">
                  <a:solidFill>
                    <a:srgbClr val="BBBEBF"/>
                  </a:solidFill>
                  <a:effectLst/>
                  <a:latin typeface="Menlo" panose="020B0609030804020204" pitchFamily="49" charset="0"/>
                </a:rPr>
                <a:t> 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each individual: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       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py</a:t>
              </a:r>
              <a:r>
                <a:rPr lang="en" altLang="zh-TW" sz="2000" dirty="0">
                  <a:latin typeface="Menlo" panose="020B0609030804020204" pitchFamily="49" charset="0"/>
                </a:rPr>
                <a:t>::</a:t>
              </a:r>
              <a:r>
                <a:rPr lang="en" altLang="zh-TW" sz="2000" dirty="0" err="1">
                  <a:latin typeface="Menlo" panose="020B0609030804020204" pitchFamily="49" charset="0"/>
                </a:rPr>
                <a:t>array_t</a:t>
              </a:r>
              <a:r>
                <a:rPr lang="en" altLang="zh-TW" sz="2000" dirty="0">
                  <a:latin typeface="Menlo" panose="020B0609030804020204" pitchFamily="49" charset="0"/>
                </a:rPr>
                <a:t>&lt;double&gt; genes();</a:t>
              </a: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       </a:t>
              </a:r>
              <a:r>
                <a:rPr lang="en" altLang="zh-TW" sz="2000" dirty="0">
                  <a:latin typeface="Menlo" panose="020B0609030804020204" pitchFamily="49" charset="0"/>
                </a:rPr>
                <a:t>result = 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m_fitness_func</a:t>
              </a:r>
              <a:r>
                <a:rPr lang="en" altLang="zh-TW" sz="2000" dirty="0">
                  <a:latin typeface="Menlo" panose="020B0609030804020204" pitchFamily="49" charset="0"/>
                </a:rPr>
                <a:t>(genes);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}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A4138551-3E53-EFA1-C4C9-77D333D63FCD}"/>
                </a:ext>
              </a:extLst>
            </p:cNvPr>
            <p:cNvSpPr txBox="1"/>
            <p:nvPr/>
          </p:nvSpPr>
          <p:spPr>
            <a:xfrm>
              <a:off x="-287797" y="1908136"/>
              <a:ext cx="1699119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ga_solver.cpp</a:t>
              </a:r>
              <a:endParaRPr kumimoji="1" lang="zh-TW" altLang="en-US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0B752DC2-EECF-BCB6-1154-B469A4C88585}"/>
              </a:ext>
            </a:extLst>
          </p:cNvPr>
          <p:cNvCxnSpPr>
            <a:cxnSpLocks/>
          </p:cNvCxnSpPr>
          <p:nvPr/>
        </p:nvCxnSpPr>
        <p:spPr>
          <a:xfrm>
            <a:off x="4375230" y="2449378"/>
            <a:ext cx="949124" cy="2358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40B5EE1-359C-4A74-35F7-CE0485FE45DD}"/>
              </a:ext>
            </a:extLst>
          </p:cNvPr>
          <p:cNvSpPr txBox="1"/>
          <p:nvPr/>
        </p:nvSpPr>
        <p:spPr>
          <a:xfrm>
            <a:off x="2234381" y="3140005"/>
            <a:ext cx="2718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Helvetica Neue" panose="02000503000000020004" pitchFamily="2" charset="0"/>
                <a:cs typeface="Helvetica Neue" panose="02000503000000020004" pitchFamily="2" charset="0"/>
              </a:rPr>
              <a:t>Stores the python fitness function as a callable reference in C++</a:t>
            </a:r>
            <a:endParaRPr kumimoji="1" lang="zh-TW" altLang="en-US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3ADC0F1D-DFA8-E5C5-29CC-60FC3767837B}"/>
              </a:ext>
            </a:extLst>
          </p:cNvPr>
          <p:cNvCxnSpPr/>
          <p:nvPr/>
        </p:nvCxnSpPr>
        <p:spPr>
          <a:xfrm flipH="1">
            <a:off x="10394066" y="2974694"/>
            <a:ext cx="173620" cy="1192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2BBD22-A4DF-0979-4BE6-D77EC8647C66}"/>
              </a:ext>
            </a:extLst>
          </p:cNvPr>
          <p:cNvSpPr txBox="1"/>
          <p:nvPr/>
        </p:nvSpPr>
        <p:spPr>
          <a:xfrm>
            <a:off x="8166959" y="4181603"/>
            <a:ext cx="358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Helvetica Neue" panose="02000503000000020004" pitchFamily="2" charset="0"/>
                <a:cs typeface="Helvetica Neue" panose="02000503000000020004" pitchFamily="2" charset="0"/>
              </a:rPr>
              <a:t>Wrap C++ memory into a </a:t>
            </a:r>
            <a:r>
              <a:rPr kumimoji="1" lang="en-US" altLang="zh-TW" dirty="0" err="1">
                <a:latin typeface="Helvetica Neue" panose="02000503000000020004" pitchFamily="2" charset="0"/>
                <a:cs typeface="Helvetica Neue" panose="02000503000000020004" pitchFamily="2" charset="0"/>
              </a:rPr>
              <a:t>Numpy</a:t>
            </a:r>
            <a:r>
              <a:rPr kumimoji="1" lang="en-US" altLang="zh-TW" dirty="0">
                <a:latin typeface="Helvetica Neue" panose="02000503000000020004" pitchFamily="2" charset="0"/>
                <a:cs typeface="Helvetica Neue" panose="02000503000000020004" pitchFamily="2" charset="0"/>
              </a:rPr>
              <a:t> array, passing it to Python via zero-copy</a:t>
            </a:r>
            <a:endParaRPr kumimoji="1" lang="zh-TW" altLang="en-US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0E9D6E2-90AE-A1F2-90D0-DA05DB1E5DB8}"/>
              </a:ext>
            </a:extLst>
          </p:cNvPr>
          <p:cNvSpPr txBox="1"/>
          <p:nvPr/>
        </p:nvSpPr>
        <p:spPr>
          <a:xfrm>
            <a:off x="7544334" y="5612051"/>
            <a:ext cx="389048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latin typeface="Helvetica Neue" panose="02000503000000020004" pitchFamily="2" charset="0"/>
                <a:cs typeface="Helvetica Neue" panose="02000503000000020004" pitchFamily="2" charset="0"/>
              </a:rPr>
              <a:t>Can we make it faster?</a:t>
            </a:r>
            <a:endParaRPr kumimoji="1" lang="zh-TW" altLang="en-US" sz="28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3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D24F-E88E-8575-5E5E-3A8CBB71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8D095-23AE-0B4F-95B3-6E456121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evaluate() &amp; </a:t>
            </a:r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batch_evaluate</a:t>
            </a:r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()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EF8FA97-7B1D-2625-0939-761AD0AD7B22}"/>
              </a:ext>
            </a:extLst>
          </p:cNvPr>
          <p:cNvGrpSpPr/>
          <p:nvPr/>
        </p:nvGrpSpPr>
        <p:grpSpPr>
          <a:xfrm>
            <a:off x="729205" y="3521599"/>
            <a:ext cx="4689676" cy="1556219"/>
            <a:chOff x="729205" y="3521599"/>
            <a:chExt cx="4689676" cy="155621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4E795F5F-CE0B-BDFA-8140-56831CFD295E}"/>
                    </a:ext>
                  </a:extLst>
                </p:cNvPr>
                <p:cNvSpPr txBox="1"/>
                <p:nvPr/>
              </p:nvSpPr>
              <p:spPr>
                <a:xfrm>
                  <a:off x="729205" y="3521599"/>
                  <a:ext cx="25565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>
                      <a:cs typeface="Helvetica Neue" panose="02000503000000020004" pitchFamily="2" charset="0"/>
                    </a:rPr>
                    <a:t>g</a:t>
                  </a:r>
                  <a:r>
                    <a:rPr kumimoji="1" lang="en-US" altLang="zh-TW" b="0" dirty="0">
                      <a:cs typeface="Helvetica Neue" panose="02000503000000020004" pitchFamily="2" charset="0"/>
                    </a:rPr>
                    <a:t>enes </a:t>
                  </a:r>
                  <a:r>
                    <a:rPr kumimoji="1" lang="en-US" altLang="zh-TW" dirty="0">
                      <a:cs typeface="Helvetica Neue" panose="02000503000000020004" pitchFamily="2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……]</m:t>
                      </m:r>
                    </m:oMath>
                  </a14:m>
                  <a:endParaRPr kumimoji="1" lang="zh-TW" altLang="en-US" dirty="0">
                    <a:latin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mc:Choice>
          <mc:Fallback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4E795F5F-CE0B-BDFA-8140-56831CFD2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05" y="3521599"/>
                  <a:ext cx="2556558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980" t="-6667" b="-2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2AB93EE-5755-4A59-889A-CEB0C1A8A2AE}"/>
                </a:ext>
              </a:extLst>
            </p:cNvPr>
            <p:cNvSpPr txBox="1"/>
            <p:nvPr/>
          </p:nvSpPr>
          <p:spPr>
            <a:xfrm>
              <a:off x="3189789" y="4022709"/>
              <a:ext cx="2229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 err="1">
                  <a:cs typeface="Helvetica Neue" panose="02000503000000020004" pitchFamily="2" charset="0"/>
                </a:rPr>
                <a:t>fitness_func</a:t>
              </a:r>
              <a:r>
                <a:rPr kumimoji="1" lang="en-US" altLang="zh-TW" dirty="0">
                  <a:cs typeface="Helvetica Neue" panose="02000503000000020004" pitchFamily="2" charset="0"/>
                </a:rPr>
                <a:t>()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弧線 7">
              <a:extLst>
                <a:ext uri="{FF2B5EF4-FFF2-40B4-BE49-F238E27FC236}">
                  <a16:creationId xmlns:a16="http://schemas.microsoft.com/office/drawing/2014/main" id="{8412504B-1554-B21C-1223-102FBA221705}"/>
                </a:ext>
              </a:extLst>
            </p:cNvPr>
            <p:cNvSpPr/>
            <p:nvPr/>
          </p:nvSpPr>
          <p:spPr>
            <a:xfrm>
              <a:off x="2487110" y="3706265"/>
              <a:ext cx="1597306" cy="1371553"/>
            </a:xfrm>
            <a:prstGeom prst="arc">
              <a:avLst>
                <a:gd name="adj1" fmla="val 16200000"/>
                <a:gd name="adj2" fmla="val 19985008"/>
              </a:avLst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2487474-CC89-46F1-4FAE-04084B40C564}"/>
              </a:ext>
            </a:extLst>
          </p:cNvPr>
          <p:cNvGrpSpPr/>
          <p:nvPr/>
        </p:nvGrpSpPr>
        <p:grpSpPr>
          <a:xfrm>
            <a:off x="358817" y="1940086"/>
            <a:ext cx="5486400" cy="1396316"/>
            <a:chOff x="358817" y="1940086"/>
            <a:chExt cx="5486400" cy="1396316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7B9DCEFD-C02A-7773-3A24-9D0F9D250BA4}"/>
                </a:ext>
              </a:extLst>
            </p:cNvPr>
            <p:cNvSpPr txBox="1"/>
            <p:nvPr/>
          </p:nvSpPr>
          <p:spPr>
            <a:xfrm>
              <a:off x="358817" y="2320739"/>
              <a:ext cx="5486400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" altLang="zh-TW" sz="2000" b="0" dirty="0"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latin typeface="Menlo" panose="020B0609030804020204" pitchFamily="49" charset="0"/>
                </a:rPr>
                <a:t>for</a:t>
              </a:r>
              <a:r>
                <a:rPr lang="en" altLang="zh-TW" sz="2000" b="0" dirty="0">
                  <a:solidFill>
                    <a:srgbClr val="BBBEBF"/>
                  </a:solidFill>
                  <a:effectLst/>
                  <a:latin typeface="Menlo" panose="020B0609030804020204" pitchFamily="49" charset="0"/>
                </a:rPr>
                <a:t> 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each individual: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   </a:t>
              </a:r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py</a:t>
              </a:r>
              <a:r>
                <a:rPr lang="en" altLang="zh-TW" sz="2000" dirty="0">
                  <a:latin typeface="Menlo" panose="020B0609030804020204" pitchFamily="49" charset="0"/>
                </a:rPr>
                <a:t>::</a:t>
              </a:r>
              <a:r>
                <a:rPr lang="en" altLang="zh-TW" sz="2000" dirty="0" err="1">
                  <a:latin typeface="Menlo" panose="020B0609030804020204" pitchFamily="49" charset="0"/>
                </a:rPr>
                <a:t>array_t</a:t>
              </a:r>
              <a:r>
                <a:rPr lang="en" altLang="zh-TW" sz="2000" dirty="0">
                  <a:latin typeface="Menlo" panose="020B0609030804020204" pitchFamily="49" charset="0"/>
                </a:rPr>
                <a:t>&lt;double&gt; genes();</a:t>
              </a:r>
            </a:p>
            <a:p>
              <a:r>
                <a:rPr lang="en" altLang="zh-TW" sz="2000" dirty="0">
                  <a:solidFill>
                    <a:srgbClr val="7030A0"/>
                  </a:solidFill>
                  <a:latin typeface="Menlo" panose="020B0609030804020204" pitchFamily="49" charset="0"/>
                </a:rPr>
                <a:t>    </a:t>
              </a:r>
              <a:r>
                <a:rPr lang="en" altLang="zh-TW" sz="2000" dirty="0">
                  <a:latin typeface="Menlo" panose="020B0609030804020204" pitchFamily="49" charset="0"/>
                </a:rPr>
                <a:t>result = 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m_fitness_func</a:t>
              </a:r>
              <a:r>
                <a:rPr lang="en" altLang="zh-TW" sz="2000" dirty="0">
                  <a:latin typeface="Menlo" panose="020B0609030804020204" pitchFamily="49" charset="0"/>
                </a:rPr>
                <a:t>(genes);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9DAA48ED-04E2-E489-F7F7-58989B41E6CD}"/>
                </a:ext>
              </a:extLst>
            </p:cNvPr>
            <p:cNvSpPr txBox="1"/>
            <p:nvPr/>
          </p:nvSpPr>
          <p:spPr>
            <a:xfrm>
              <a:off x="358817" y="1940086"/>
              <a:ext cx="1252266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evaluate()</a:t>
              </a:r>
              <a:endParaRPr kumimoji="1" lang="zh-TW" altLang="en-US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48A8171-77DF-83D3-71A0-A68388C4CD76}"/>
              </a:ext>
            </a:extLst>
          </p:cNvPr>
          <p:cNvGrpSpPr/>
          <p:nvPr/>
        </p:nvGrpSpPr>
        <p:grpSpPr>
          <a:xfrm>
            <a:off x="6346782" y="1940086"/>
            <a:ext cx="5602147" cy="2319645"/>
            <a:chOff x="358816" y="1940086"/>
            <a:chExt cx="5602147" cy="2319645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B3467B0-917C-1039-D156-8946C67922DE}"/>
                </a:ext>
              </a:extLst>
            </p:cNvPr>
            <p:cNvSpPr txBox="1"/>
            <p:nvPr/>
          </p:nvSpPr>
          <p:spPr>
            <a:xfrm>
              <a:off x="358816" y="2320739"/>
              <a:ext cx="5602147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" altLang="zh-TW" sz="2000" dirty="0" err="1">
                  <a:solidFill>
                    <a:srgbClr val="7030A0"/>
                  </a:solidFill>
                  <a:latin typeface="Menlo" panose="020B0609030804020204" pitchFamily="49" charset="0"/>
                </a:rPr>
                <a:t>py</a:t>
              </a:r>
              <a:r>
                <a:rPr lang="en" altLang="zh-TW" sz="2000" dirty="0">
                  <a:latin typeface="Menlo" panose="020B0609030804020204" pitchFamily="49" charset="0"/>
                </a:rPr>
                <a:t>::</a:t>
              </a:r>
              <a:r>
                <a:rPr lang="en" altLang="zh-TW" sz="2000" dirty="0" err="1">
                  <a:latin typeface="Menlo" panose="020B0609030804020204" pitchFamily="49" charset="0"/>
                </a:rPr>
                <a:t>array_t</a:t>
              </a:r>
              <a:r>
                <a:rPr lang="en" altLang="zh-TW" sz="2000" dirty="0">
                  <a:latin typeface="Menlo" panose="020B0609030804020204" pitchFamily="49" charset="0"/>
                </a:rPr>
                <a:t>&lt;double&gt; </a:t>
              </a:r>
              <a:r>
                <a:rPr lang="en" altLang="zh-TW" sz="2000" dirty="0" err="1">
                  <a:latin typeface="Menlo" panose="020B0609030804020204" pitchFamily="49" charset="0"/>
                </a:rPr>
                <a:t>pop_matrix</a:t>
              </a:r>
              <a:r>
                <a:rPr lang="en" altLang="zh-TW" sz="2000" dirty="0">
                  <a:latin typeface="Menlo" panose="020B0609030804020204" pitchFamily="49" charset="0"/>
                </a:rPr>
                <a:t>({</a:t>
              </a:r>
            </a:p>
            <a:p>
              <a:r>
                <a:rPr lang="en" altLang="zh-TW" sz="2000" dirty="0">
                  <a:latin typeface="Menlo" panose="020B0609030804020204" pitchFamily="49" charset="0"/>
                </a:rPr>
                <a:t>    </a:t>
              </a:r>
              <a:r>
                <a:rPr lang="en" altLang="zh-TW" sz="2000" dirty="0" err="1">
                  <a:latin typeface="Menlo" panose="020B0609030804020204" pitchFamily="49" charset="0"/>
                </a:rPr>
                <a:t>pop_size</a:t>
              </a:r>
              <a:r>
                <a:rPr lang="en" altLang="zh-TW" sz="2000" dirty="0">
                  <a:latin typeface="Menlo" panose="020B0609030804020204" pitchFamily="49" charset="0"/>
                </a:rPr>
                <a:t>, </a:t>
              </a:r>
              <a:r>
                <a:rPr lang="en" altLang="zh-TW" sz="2000" dirty="0" err="1">
                  <a:latin typeface="Menlo" panose="020B0609030804020204" pitchFamily="49" charset="0"/>
                </a:rPr>
                <a:t>genome_size</a:t>
              </a:r>
              <a:endParaRPr lang="en" altLang="zh-TW" sz="2000" dirty="0"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latin typeface="Menlo" panose="020B0609030804020204" pitchFamily="49" charset="0"/>
                </a:rPr>
                <a:t>});</a:t>
              </a:r>
            </a:p>
            <a:p>
              <a:r>
                <a:rPr lang="en" altLang="zh-TW" sz="2000" b="0" dirty="0">
                  <a:solidFill>
                    <a:schemeClr val="accent5">
                      <a:lumMod val="60000"/>
                      <a:lumOff val="40000"/>
                    </a:schemeClr>
                  </a:solidFill>
                  <a:effectLst/>
                  <a:latin typeface="Menlo" panose="020B0609030804020204" pitchFamily="49" charset="0"/>
                </a:rPr>
                <a:t>for</a:t>
              </a:r>
              <a:r>
                <a:rPr lang="en" altLang="zh-TW" sz="2000" b="0" dirty="0">
                  <a:solidFill>
                    <a:srgbClr val="BBBEBF"/>
                  </a:solidFill>
                  <a:effectLst/>
                  <a:latin typeface="Menlo" panose="020B0609030804020204" pitchFamily="49" charset="0"/>
                </a:rPr>
                <a:t> </a:t>
              </a:r>
              <a:r>
                <a:rPr lang="en" altLang="zh-TW" sz="2000" b="0" dirty="0">
                  <a:effectLst/>
                  <a:latin typeface="Menlo" panose="020B0609030804020204" pitchFamily="49" charset="0"/>
                </a:rPr>
                <a:t>each individual: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  <a:p>
              <a:r>
                <a:rPr lang="en" altLang="zh-TW" sz="2000" dirty="0">
                  <a:latin typeface="Menlo" panose="020B0609030804020204" pitchFamily="49" charset="0"/>
                </a:rPr>
                <a:t>    </a:t>
              </a:r>
              <a:r>
                <a:rPr lang="en" altLang="zh-TW" sz="2000" dirty="0" err="1">
                  <a:latin typeface="Menlo" panose="020B0609030804020204" pitchFamily="49" charset="0"/>
                </a:rPr>
                <a:t>pop_matrix</a:t>
              </a:r>
              <a:r>
                <a:rPr lang="en" altLang="zh-TW" sz="2000" dirty="0">
                  <a:latin typeface="Menlo" panose="020B0609030804020204" pitchFamily="49" charset="0"/>
                </a:rPr>
                <a:t>[</a:t>
              </a:r>
              <a:r>
                <a:rPr lang="en" altLang="zh-TW" sz="2000" dirty="0" err="1">
                  <a:latin typeface="Menlo" panose="020B0609030804020204" pitchFamily="49" charset="0"/>
                </a:rPr>
                <a:t>i</a:t>
              </a:r>
              <a:r>
                <a:rPr lang="en" altLang="zh-TW" sz="2000" dirty="0">
                  <a:latin typeface="Menlo" panose="020B0609030804020204" pitchFamily="49" charset="0"/>
                </a:rPr>
                <a:t>] = </a:t>
              </a:r>
              <a:r>
                <a:rPr lang="en" altLang="zh-TW" sz="2000" dirty="0" err="1">
                  <a:latin typeface="Menlo" panose="020B0609030804020204" pitchFamily="49" charset="0"/>
                </a:rPr>
                <a:t>ind</a:t>
              </a:r>
              <a:r>
                <a:rPr lang="en" altLang="zh-TW" sz="2000" dirty="0">
                  <a:latin typeface="Menlo" panose="020B0609030804020204" pitchFamily="49" charset="0"/>
                </a:rPr>
                <a:t>[</a:t>
              </a:r>
              <a:r>
                <a:rPr lang="en" altLang="zh-TW" sz="2000" dirty="0" err="1">
                  <a:latin typeface="Menlo" panose="020B0609030804020204" pitchFamily="49" charset="0"/>
                </a:rPr>
                <a:t>i</a:t>
              </a:r>
              <a:r>
                <a:rPr lang="en" altLang="zh-TW" sz="2000" dirty="0">
                  <a:latin typeface="Menlo" panose="020B0609030804020204" pitchFamily="49" charset="0"/>
                </a:rPr>
                <a:t>].genes();</a:t>
              </a:r>
            </a:p>
            <a:p>
              <a:r>
                <a:rPr lang="en" altLang="zh-TW" sz="2000" dirty="0">
                  <a:latin typeface="Menlo" panose="020B0609030804020204" pitchFamily="49" charset="0"/>
                </a:rPr>
                <a:t>result = </a:t>
              </a:r>
              <a:r>
                <a:rPr lang="en" altLang="zh-TW" sz="2000" b="0" dirty="0" err="1">
                  <a:effectLst/>
                  <a:latin typeface="Menlo" panose="020B0609030804020204" pitchFamily="49" charset="0"/>
                </a:rPr>
                <a:t>m_fitness_func</a:t>
              </a:r>
              <a:r>
                <a:rPr lang="en" altLang="zh-TW" sz="2000" dirty="0">
                  <a:latin typeface="Menlo" panose="020B0609030804020204" pitchFamily="49" charset="0"/>
                </a:rPr>
                <a:t>(</a:t>
              </a:r>
              <a:r>
                <a:rPr lang="en" altLang="zh-TW" sz="2000" dirty="0" err="1">
                  <a:latin typeface="Menlo" panose="020B0609030804020204" pitchFamily="49" charset="0"/>
                </a:rPr>
                <a:t>pop_matrix</a:t>
              </a:r>
              <a:r>
                <a:rPr lang="en" altLang="zh-TW" sz="2000" dirty="0">
                  <a:latin typeface="Menlo" panose="020B0609030804020204" pitchFamily="49" charset="0"/>
                </a:rPr>
                <a:t>);</a:t>
              </a:r>
              <a:endParaRPr lang="en" altLang="zh-TW" sz="2000" dirty="0">
                <a:solidFill>
                  <a:srgbClr val="7030A0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D646B0D-4AEE-1B9B-D605-6D6ACBE33621}"/>
                </a:ext>
              </a:extLst>
            </p:cNvPr>
            <p:cNvSpPr txBox="1"/>
            <p:nvPr/>
          </p:nvSpPr>
          <p:spPr>
            <a:xfrm>
              <a:off x="358817" y="1940086"/>
              <a:ext cx="1992853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batch_evaluate</a:t>
              </a:r>
              <a:r>
                <a:rPr kumimoji="1" lang="en-US" altLang="zh-TW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()</a:t>
              </a:r>
              <a:endParaRPr kumimoji="1" lang="zh-TW" altLang="en-US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5FFEF0C-944C-23C5-DC4D-D3B7DD89D894}"/>
              </a:ext>
            </a:extLst>
          </p:cNvPr>
          <p:cNvGrpSpPr/>
          <p:nvPr/>
        </p:nvGrpSpPr>
        <p:grpSpPr>
          <a:xfrm>
            <a:off x="6346782" y="4409315"/>
            <a:ext cx="5602147" cy="1581207"/>
            <a:chOff x="514588" y="3521599"/>
            <a:chExt cx="5602147" cy="15812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B14A04D1-CCAE-62A6-C16E-FB170173FC6E}"/>
                    </a:ext>
                  </a:extLst>
                </p:cNvPr>
                <p:cNvSpPr txBox="1"/>
                <p:nvPr/>
              </p:nvSpPr>
              <p:spPr>
                <a:xfrm>
                  <a:off x="514588" y="3521599"/>
                  <a:ext cx="321390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 err="1">
                      <a:cs typeface="Helvetica Neue" panose="02000503000000020004" pitchFamily="2" charset="0"/>
                    </a:rPr>
                    <a:t>pop_matrix</a:t>
                  </a:r>
                  <a:r>
                    <a:rPr kumimoji="1" lang="en-US" altLang="zh-TW" b="0" dirty="0">
                      <a:cs typeface="Helvetica Neue" panose="02000503000000020004" pitchFamily="2" charset="0"/>
                    </a:rPr>
                    <a:t>[] </a:t>
                  </a:r>
                  <a:r>
                    <a:rPr kumimoji="1" lang="en-US" altLang="zh-TW" dirty="0">
                      <a:cs typeface="Helvetica Neue" panose="02000503000000020004" pitchFamily="2" charset="0"/>
                    </a:rPr>
                    <a:t>=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zh-TW" b="0" i="1" dirty="0" smtClean="0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……</m:t>
                          </m:r>
                        </m:e>
                      </m:d>
                    </m:oMath>
                  </a14:m>
                  <a:endParaRPr kumimoji="1" lang="en-US" altLang="zh-TW" b="0" dirty="0">
                    <a:cs typeface="Helvetica Neue" panose="02000503000000020004" pitchFamily="2" charset="0"/>
                  </a:endParaRPr>
                </a:p>
                <a:p>
                  <a:r>
                    <a:rPr kumimoji="1" lang="en-US" altLang="zh-TW" dirty="0">
                      <a:latin typeface="Helvetica Neue" panose="02000503000000020004" pitchFamily="2" charset="0"/>
                      <a:cs typeface="Helvetica Neue" panose="02000503000000020004" pitchFamily="2" charset="0"/>
                    </a:rPr>
                    <a:t>                       </a:t>
                  </a:r>
                  <a14:m>
                    <m:oMath xmlns:m="http://schemas.openxmlformats.org/officeDocument/2006/math"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……]</m:t>
                      </m:r>
                    </m:oMath>
                  </a14:m>
                  <a:endParaRPr kumimoji="1" lang="en-US" altLang="zh-TW" dirty="0">
                    <a:latin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r>
                    <a:rPr kumimoji="1" lang="en-US" altLang="zh-TW" dirty="0">
                      <a:latin typeface="Helvetica Neue" panose="02000503000000020004" pitchFamily="2" charset="0"/>
                      <a:cs typeface="Helvetica Neue" panose="02000503000000020004" pitchFamily="2" charset="0"/>
                    </a:rPr>
                    <a:t>                       </a:t>
                  </a:r>
                  <a14:m>
                    <m:oMath xmlns:m="http://schemas.openxmlformats.org/officeDocument/2006/math"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……]</m:t>
                      </m:r>
                    </m:oMath>
                  </a14:m>
                  <a:endParaRPr kumimoji="1" lang="zh-TW" altLang="en-US" dirty="0">
                    <a:latin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mc:Choice>
          <mc:Fallback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B14A04D1-CCAE-62A6-C16E-FB170173F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88" y="3521599"/>
                  <a:ext cx="3213906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1575" t="-2703" b="-540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8851A26A-11BE-84A3-29B6-659794883519}"/>
                </a:ext>
              </a:extLst>
            </p:cNvPr>
            <p:cNvSpPr txBox="1"/>
            <p:nvPr/>
          </p:nvSpPr>
          <p:spPr>
            <a:xfrm>
              <a:off x="3887643" y="4232364"/>
              <a:ext cx="2229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 err="1">
                  <a:cs typeface="Helvetica Neue" panose="02000503000000020004" pitchFamily="2" charset="0"/>
                </a:rPr>
                <a:t>fitness_func</a:t>
              </a:r>
              <a:r>
                <a:rPr kumimoji="1" lang="en-US" altLang="zh-TW" dirty="0">
                  <a:cs typeface="Helvetica Neue" panose="02000503000000020004" pitchFamily="2" charset="0"/>
                </a:rPr>
                <a:t>()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弧線 17">
              <a:extLst>
                <a:ext uri="{FF2B5EF4-FFF2-40B4-BE49-F238E27FC236}">
                  <a16:creationId xmlns:a16="http://schemas.microsoft.com/office/drawing/2014/main" id="{731BEC88-8184-DE6A-2BE2-890EA2363385}"/>
                </a:ext>
              </a:extLst>
            </p:cNvPr>
            <p:cNvSpPr/>
            <p:nvPr/>
          </p:nvSpPr>
          <p:spPr>
            <a:xfrm>
              <a:off x="3088990" y="3731253"/>
              <a:ext cx="1597306" cy="1371553"/>
            </a:xfrm>
            <a:prstGeom prst="arc">
              <a:avLst>
                <a:gd name="adj1" fmla="val 16200000"/>
                <a:gd name="adj2" fmla="val 20805439"/>
              </a:avLst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8FCDAA9-F6BA-F9AA-0F19-693588046AD5}"/>
              </a:ext>
            </a:extLst>
          </p:cNvPr>
          <p:cNvGrpSpPr/>
          <p:nvPr/>
        </p:nvGrpSpPr>
        <p:grpSpPr>
          <a:xfrm>
            <a:off x="729205" y="4365598"/>
            <a:ext cx="4689676" cy="1556219"/>
            <a:chOff x="729205" y="3521599"/>
            <a:chExt cx="4689676" cy="155621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2E634DF-13C2-8368-4409-4457C7FFD024}"/>
                    </a:ext>
                  </a:extLst>
                </p:cNvPr>
                <p:cNvSpPr txBox="1"/>
                <p:nvPr/>
              </p:nvSpPr>
              <p:spPr>
                <a:xfrm>
                  <a:off x="729205" y="3521599"/>
                  <a:ext cx="25565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>
                      <a:cs typeface="Helvetica Neue" panose="02000503000000020004" pitchFamily="2" charset="0"/>
                    </a:rPr>
                    <a:t>g</a:t>
                  </a:r>
                  <a:r>
                    <a:rPr kumimoji="1" lang="en-US" altLang="zh-TW" b="0" dirty="0">
                      <a:cs typeface="Helvetica Neue" panose="02000503000000020004" pitchFamily="2" charset="0"/>
                    </a:rPr>
                    <a:t>enes </a:t>
                  </a:r>
                  <a:r>
                    <a:rPr kumimoji="1" lang="en-US" altLang="zh-TW" dirty="0">
                      <a:cs typeface="Helvetica Neue" panose="02000503000000020004" pitchFamily="2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……]</m:t>
                      </m:r>
                    </m:oMath>
                  </a14:m>
                  <a:endParaRPr kumimoji="1" lang="zh-TW" altLang="en-US" dirty="0">
                    <a:latin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2E634DF-13C2-8368-4409-4457C7FFD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05" y="3521599"/>
                  <a:ext cx="255655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980" t="-6667" b="-2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09E51AA9-6A78-0EAF-6908-DBF5483FBDD0}"/>
                </a:ext>
              </a:extLst>
            </p:cNvPr>
            <p:cNvSpPr txBox="1"/>
            <p:nvPr/>
          </p:nvSpPr>
          <p:spPr>
            <a:xfrm>
              <a:off x="3189789" y="4022709"/>
              <a:ext cx="2229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 err="1">
                  <a:cs typeface="Helvetica Neue" panose="02000503000000020004" pitchFamily="2" charset="0"/>
                </a:rPr>
                <a:t>fitness_func</a:t>
              </a:r>
              <a:r>
                <a:rPr kumimoji="1" lang="en-US" altLang="zh-TW" dirty="0">
                  <a:cs typeface="Helvetica Neue" panose="02000503000000020004" pitchFamily="2" charset="0"/>
                </a:rPr>
                <a:t>()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弧線 29">
              <a:extLst>
                <a:ext uri="{FF2B5EF4-FFF2-40B4-BE49-F238E27FC236}">
                  <a16:creationId xmlns:a16="http://schemas.microsoft.com/office/drawing/2014/main" id="{4CA16171-399C-BD0E-2AF7-4D791A4A5A0D}"/>
                </a:ext>
              </a:extLst>
            </p:cNvPr>
            <p:cNvSpPr/>
            <p:nvPr/>
          </p:nvSpPr>
          <p:spPr>
            <a:xfrm>
              <a:off x="2487110" y="3706265"/>
              <a:ext cx="1597306" cy="1371553"/>
            </a:xfrm>
            <a:prstGeom prst="arc">
              <a:avLst>
                <a:gd name="adj1" fmla="val 16200000"/>
                <a:gd name="adj2" fmla="val 19985008"/>
              </a:avLst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E6540CE-6455-646F-D18F-C996C66C8DBB}"/>
              </a:ext>
            </a:extLst>
          </p:cNvPr>
          <p:cNvGrpSpPr/>
          <p:nvPr/>
        </p:nvGrpSpPr>
        <p:grpSpPr>
          <a:xfrm>
            <a:off x="729205" y="5229542"/>
            <a:ext cx="4689676" cy="1556219"/>
            <a:chOff x="729205" y="3521599"/>
            <a:chExt cx="4689676" cy="155621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7B682C49-2E9B-B2EB-091C-EFA930F907E6}"/>
                    </a:ext>
                  </a:extLst>
                </p:cNvPr>
                <p:cNvSpPr txBox="1"/>
                <p:nvPr/>
              </p:nvSpPr>
              <p:spPr>
                <a:xfrm>
                  <a:off x="729205" y="3521599"/>
                  <a:ext cx="25565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>
                      <a:cs typeface="Helvetica Neue" panose="02000503000000020004" pitchFamily="2" charset="0"/>
                    </a:rPr>
                    <a:t>g</a:t>
                  </a:r>
                  <a:r>
                    <a:rPr kumimoji="1" lang="en-US" altLang="zh-TW" b="0" dirty="0">
                      <a:cs typeface="Helvetica Neue" panose="02000503000000020004" pitchFamily="2" charset="0"/>
                    </a:rPr>
                    <a:t>enes </a:t>
                  </a:r>
                  <a:r>
                    <a:rPr kumimoji="1" lang="en-US" altLang="zh-TW" dirty="0">
                      <a:cs typeface="Helvetica Neue" panose="02000503000000020004" pitchFamily="2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sSubPr>
                        <m:e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TW" b="0" i="1" dirty="0" smtClean="0"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……]</m:t>
                      </m:r>
                    </m:oMath>
                  </a14:m>
                  <a:endParaRPr kumimoji="1" lang="zh-TW" altLang="en-US" dirty="0">
                    <a:latin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mc:Choice>
          <mc:Fallback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7B682C49-2E9B-B2EB-091C-EFA930F90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05" y="3521599"/>
                  <a:ext cx="2556558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980" t="-6667" b="-2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2FAFDF5E-F50A-6A2C-C485-FE725708FD13}"/>
                </a:ext>
              </a:extLst>
            </p:cNvPr>
            <p:cNvSpPr txBox="1"/>
            <p:nvPr/>
          </p:nvSpPr>
          <p:spPr>
            <a:xfrm>
              <a:off x="3189789" y="4022709"/>
              <a:ext cx="2229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 err="1">
                  <a:cs typeface="Helvetica Neue" panose="02000503000000020004" pitchFamily="2" charset="0"/>
                </a:rPr>
                <a:t>fitness_func</a:t>
              </a:r>
              <a:r>
                <a:rPr kumimoji="1" lang="en-US" altLang="zh-TW" dirty="0">
                  <a:cs typeface="Helvetica Neue" panose="02000503000000020004" pitchFamily="2" charset="0"/>
                </a:rPr>
                <a:t>()</a:t>
              </a:r>
              <a:endParaRPr kumimoji="1" lang="zh-TW" altLang="en-US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弧線 33">
              <a:extLst>
                <a:ext uri="{FF2B5EF4-FFF2-40B4-BE49-F238E27FC236}">
                  <a16:creationId xmlns:a16="http://schemas.microsoft.com/office/drawing/2014/main" id="{1624D26A-B598-6A76-F59E-3FC9A2E65016}"/>
                </a:ext>
              </a:extLst>
            </p:cNvPr>
            <p:cNvSpPr/>
            <p:nvPr/>
          </p:nvSpPr>
          <p:spPr>
            <a:xfrm>
              <a:off x="2487110" y="3706265"/>
              <a:ext cx="1597306" cy="1371553"/>
            </a:xfrm>
            <a:prstGeom prst="arc">
              <a:avLst>
                <a:gd name="adj1" fmla="val 16200000"/>
                <a:gd name="adj2" fmla="val 19985008"/>
              </a:avLst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616A01A-B09E-FAB4-54A0-F3C5B28BB67C}"/>
              </a:ext>
            </a:extLst>
          </p:cNvPr>
          <p:cNvSpPr txBox="1"/>
          <p:nvPr/>
        </p:nvSpPr>
        <p:spPr>
          <a:xfrm>
            <a:off x="2936349" y="5867895"/>
            <a:ext cx="15394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r>
              <a:rPr kumimoji="1" lang="en-US" altLang="zh-TW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r>
              <a:rPr kumimoji="1" lang="en-US" altLang="zh-TW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kumimoji="1" lang="zh-TW" altLang="en-US" sz="20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34E60028-64A5-5650-71A0-D1045E1FA6DC}"/>
              </a:ext>
            </a:extLst>
          </p:cNvPr>
          <p:cNvGrpSpPr/>
          <p:nvPr/>
        </p:nvGrpSpPr>
        <p:grpSpPr>
          <a:xfrm>
            <a:off x="6346782" y="5482229"/>
            <a:ext cx="4566427" cy="1198119"/>
            <a:chOff x="6985107" y="5667840"/>
            <a:chExt cx="4566427" cy="1198119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2F55FC69-D7E7-0E35-72B4-1340F8464046}"/>
                </a:ext>
              </a:extLst>
            </p:cNvPr>
            <p:cNvSpPr txBox="1"/>
            <p:nvPr/>
          </p:nvSpPr>
          <p:spPr>
            <a:xfrm>
              <a:off x="6985108" y="5667840"/>
              <a:ext cx="1462223" cy="40011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TW" sz="2000" b="1" dirty="0">
                  <a:latin typeface="Helvetica Neue" panose="02000503000000020004" pitchFamily="2" charset="0"/>
                  <a:cs typeface="Helvetica Neue" panose="02000503000000020004" pitchFamily="2" charset="0"/>
                </a:rPr>
                <a:t>Pros: fast</a:t>
              </a:r>
              <a:endParaRPr kumimoji="1" lang="zh-TW" altLang="en-US" sz="2000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A2217636-1B0C-51E1-09AE-C74BB5F47922}"/>
                </a:ext>
              </a:extLst>
            </p:cNvPr>
            <p:cNvSpPr txBox="1"/>
            <p:nvPr/>
          </p:nvSpPr>
          <p:spPr>
            <a:xfrm>
              <a:off x="6985107" y="6158073"/>
              <a:ext cx="4566427" cy="70788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TW" sz="2000" b="1" dirty="0">
                  <a:latin typeface="Helvetica Neue" panose="02000503000000020004" pitchFamily="2" charset="0"/>
                  <a:cs typeface="Helvetica Neue" panose="02000503000000020004" pitchFamily="2" charset="0"/>
                </a:rPr>
                <a:t>Cons: requires users write batch-compatible fitness function</a:t>
              </a:r>
              <a:endParaRPr kumimoji="1" lang="zh-TW" altLang="en-US" sz="2000" b="1" dirty="0">
                <a:latin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84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D74C-C98E-1DA2-38DA-D9E4DC6F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99998A-505F-AF23-5D00-C88BA61C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evaluate() vs. </a:t>
            </a:r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batch_evaluate</a:t>
            </a:r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()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8C91F9F-EE9C-F6C7-37B4-525401997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66"/>
          <a:stretch/>
        </p:blipFill>
        <p:spPr>
          <a:xfrm>
            <a:off x="481160" y="1875098"/>
            <a:ext cx="11229680" cy="427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11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5DF1-41A7-C5DE-08D6-BDC104F2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5762BC-25D4-87C5-28B1-A7B9477D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Case Example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E33F05-237F-DFDC-890C-161E7D373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7" r="5815"/>
          <a:stretch/>
        </p:blipFill>
        <p:spPr bwMode="auto">
          <a:xfrm>
            <a:off x="232588" y="3147661"/>
            <a:ext cx="4375230" cy="35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976D6E3-68BB-DCF9-E8D8-C7181206E29A}"/>
                  </a:ext>
                </a:extLst>
              </p:cNvPr>
              <p:cNvSpPr txBox="1"/>
              <p:nvPr/>
            </p:nvSpPr>
            <p:spPr>
              <a:xfrm>
                <a:off x="3495553" y="3275111"/>
                <a:ext cx="224381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=−186.7309</m:t>
                      </m:r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976D6E3-68BB-DCF9-E8D8-C7181206E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53" y="3275111"/>
                <a:ext cx="2243819" cy="307777"/>
              </a:xfrm>
              <a:prstGeom prst="rect">
                <a:avLst/>
              </a:prstGeom>
              <a:blipFill>
                <a:blip r:embed="rId3"/>
                <a:stretch>
                  <a:fillRect l="-3955" r="-2260" b="-26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BEC6C47-2374-4011-E25B-1CA7BE65D7FF}"/>
                  </a:ext>
                </a:extLst>
              </p:cNvPr>
              <p:cNvSpPr txBox="1"/>
              <p:nvPr/>
            </p:nvSpPr>
            <p:spPr>
              <a:xfrm>
                <a:off x="1361954" y="1579333"/>
                <a:ext cx="27933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Shubert Function</a:t>
                </a:r>
              </a:p>
              <a:p>
                <a:r>
                  <a:rPr kumimoji="1" lang="en-US" altLang="zh-TW" sz="2400" dirty="0">
                    <a:latin typeface="Helvetica Neue" panose="02000503000000020004" pitchFamily="2" charset="0"/>
                    <a:cs typeface="Helvetica Neue" panose="02000503000000020004" pitchFamily="2" charset="0"/>
                  </a:rPr>
                  <a:t>genes =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[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, 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𝑦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]</m:t>
                    </m:r>
                  </m:oMath>
                </a14:m>
                <a:endParaRPr kumimoji="1" lang="en-US" altLang="zh-TW" sz="2400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−2≤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𝑥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, 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𝑦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≤2</m:t>
                      </m:r>
                    </m:oMath>
                  </m:oMathPara>
                </a14:m>
                <a:endParaRPr kumimoji="1" lang="zh-TW" altLang="en-US" sz="2400" dirty="0">
                  <a:latin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BEC6C47-2374-4011-E25B-1CA7BE65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954" y="1579333"/>
                <a:ext cx="2793357" cy="1200329"/>
              </a:xfrm>
              <a:prstGeom prst="rect">
                <a:avLst/>
              </a:prstGeom>
              <a:blipFill>
                <a:blip r:embed="rId4"/>
                <a:stretch>
                  <a:fillRect l="-3620" t="-4211" b="-4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61B87E7F-018C-C1EF-8CF3-5D24B5125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083" y="1456926"/>
            <a:ext cx="6643960" cy="513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2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7A55-690A-2115-A408-6CCE6615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D6474-CA46-EF13-38E1-9B19E6C5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FastGA</a:t>
            </a:r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vs. </a:t>
            </a:r>
            <a:r>
              <a:rPr kumimoji="1" lang="en-US" altLang="zh-TW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PyGAD</a:t>
            </a:r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vs. pure Python</a:t>
            </a:r>
            <a:endParaRPr kumimoji="1" lang="zh-TW" altLang="en-US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7262822-4370-EABA-8A93-41EF85D2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62"/>
          <a:stretch/>
        </p:blipFill>
        <p:spPr>
          <a:xfrm>
            <a:off x="75532" y="1817226"/>
            <a:ext cx="12040936" cy="412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0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A5442-87F8-F8A9-78E4-0AEF3A06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References</a:t>
            </a:r>
            <a:endParaRPr kumimoji="1"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1A65794-63C5-EB18-CD33-CFB34030A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84" y="1443789"/>
            <a:ext cx="11043232" cy="5049086"/>
          </a:xfrm>
        </p:spPr>
        <p:txBody>
          <a:bodyPr>
            <a:normAutofit/>
          </a:bodyPr>
          <a:lstStyle/>
          <a:p>
            <a:r>
              <a:rPr kumimoji="1" lang="en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What is a Genetic Algorithm?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https://www.generativedesign.org/02-deeper-dive/02-04_genetic-algorithms/02-04-01_what-is-a-genetic-algorithm</a:t>
            </a:r>
            <a:endParaRPr kumimoji="1" lang="en-US" altLang="zh-TW" sz="24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Genetic Algorithm Wikipedia 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  <a:hlinkClick r:id="rId4"/>
              </a:rPr>
              <a:t>https://en.wikipedia.org/wiki/Genetic_algorithm</a:t>
            </a:r>
            <a:endParaRPr kumimoji="1" lang="en-US" altLang="zh-TW" sz="24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Shubert Function 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https://</a:t>
            </a:r>
            <a:r>
              <a:rPr kumimoji="1" lang="en-US" altLang="zh-TW" sz="2400" dirty="0" err="1">
                <a:latin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www.sfu.ca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/~</a:t>
            </a:r>
            <a:r>
              <a:rPr kumimoji="1" lang="en-US" altLang="zh-TW" sz="2400" dirty="0" err="1">
                <a:latin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ssurjano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/</a:t>
            </a:r>
            <a:r>
              <a:rPr kumimoji="1" lang="en-US" altLang="zh-TW" sz="2400" dirty="0" err="1">
                <a:latin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shubert.html</a:t>
            </a:r>
            <a:endParaRPr kumimoji="1" lang="en-US" altLang="zh-TW" sz="24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kumimoji="1" lang="en-US" altLang="zh-TW" sz="2400" dirty="0" err="1">
                <a:latin typeface="Helvetica Neue" panose="02000503000000020004" pitchFamily="2" charset="0"/>
                <a:cs typeface="Helvetica Neue" panose="02000503000000020004" pitchFamily="2" charset="0"/>
              </a:rPr>
              <a:t>PyGAD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zh-TW" sz="2400" dirty="0" err="1">
                <a:latin typeface="Helvetica Neue" panose="02000503000000020004" pitchFamily="2" charset="0"/>
                <a:cs typeface="Helvetica Neue" panose="02000503000000020004" pitchFamily="2" charset="0"/>
              </a:rPr>
              <a:t>Github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zh-TW" sz="2400" dirty="0">
                <a:latin typeface="Helvetica Neue" panose="02000503000000020004" pitchFamily="2" charset="0"/>
                <a:cs typeface="Helvetica Neue" panose="02000503000000020004" pitchFamily="2" charset="0"/>
                <a:hlinkClick r:id="rId6"/>
              </a:rPr>
              <a:t>https://github.com/ahmedfgad/GeneticAlgorithmPython</a:t>
            </a:r>
            <a:endParaRPr kumimoji="1" lang="zh-TW" altLang="en-US" sz="2400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7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701</Words>
  <Application>Microsoft Macintosh PowerPoint</Application>
  <PresentationFormat>寬螢幕</PresentationFormat>
  <Paragraphs>121</Paragraphs>
  <Slides>11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Helvetica Neue</vt:lpstr>
      <vt:lpstr>Menlo</vt:lpstr>
      <vt:lpstr>Office 佈景主題</vt:lpstr>
      <vt:lpstr>FastGA</vt:lpstr>
      <vt:lpstr>Genetic Algorithm (GA)</vt:lpstr>
      <vt:lpstr>FastGA</vt:lpstr>
      <vt:lpstr>Project Architecture</vt:lpstr>
      <vt:lpstr>Project Architecture</vt:lpstr>
      <vt:lpstr>set_fitness_func() &amp; evaluate()</vt:lpstr>
      <vt:lpstr>evaluate() &amp; batch_evaluate()</vt:lpstr>
      <vt:lpstr>evaluate() vs. batch_evaluate()</vt:lpstr>
      <vt:lpstr>Use Case Example</vt:lpstr>
      <vt:lpstr>FastGA vs. PyGAD vs. pure Python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林晉宇</dc:creator>
  <cp:lastModifiedBy>林晉宇</cp:lastModifiedBy>
  <cp:revision>64</cp:revision>
  <dcterms:created xsi:type="dcterms:W3CDTF">2026-06-04T13:55:29Z</dcterms:created>
  <dcterms:modified xsi:type="dcterms:W3CDTF">2026-06-07T01:46:34Z</dcterms:modified>
</cp:coreProperties>
</file>